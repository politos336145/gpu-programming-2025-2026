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60" r:id="rId5"/>
    <p:sldId id="261" r:id="rId6"/>
    <p:sldId id="285" r:id="rId7"/>
    <p:sldId id="286" r:id="rId8"/>
    <p:sldId id="262" r:id="rId9"/>
    <p:sldId id="270" r:id="rId10"/>
    <p:sldId id="281" r:id="rId11"/>
    <p:sldId id="265" r:id="rId12"/>
    <p:sldId id="269" r:id="rId13"/>
    <p:sldId id="266" r:id="rId14"/>
    <p:sldId id="268" r:id="rId15"/>
    <p:sldId id="263" r:id="rId16"/>
    <p:sldId id="280" r:id="rId17"/>
    <p:sldId id="264" r:id="rId18"/>
    <p:sldId id="271" r:id="rId19"/>
    <p:sldId id="272" r:id="rId20"/>
    <p:sldId id="275" r:id="rId21"/>
    <p:sldId id="273" r:id="rId22"/>
    <p:sldId id="274" r:id="rId23"/>
    <p:sldId id="283" r:id="rId24"/>
    <p:sldId id="282" r:id="rId25"/>
    <p:sldId id="276" r:id="rId26"/>
    <p:sldId id="277" r:id="rId27"/>
    <p:sldId id="278" r:id="rId28"/>
    <p:sldId id="284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76B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951" autoAdjust="0"/>
    <p:restoredTop sz="80000" autoAdjust="0"/>
  </p:normalViewPr>
  <p:slideViewPr>
    <p:cSldViewPr snapToGrid="0" snapToObjects="1">
      <p:cViewPr varScale="1">
        <p:scale>
          <a:sx n="83" d="100"/>
          <a:sy n="83" d="100"/>
        </p:scale>
        <p:origin x="1205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128B5E-BECB-4940-84BF-68CFE153DCE7}" type="datetimeFigureOut">
              <a:rPr lang="it-IT" smtClean="0"/>
              <a:t>20/06/2026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B220E7-3247-4930-AB79-E58655C1471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9783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objective</a:t>
            </a:r>
            <a:r>
              <a:rPr lang="it-IT" dirty="0"/>
              <a:t> of </a:t>
            </a:r>
            <a:r>
              <a:rPr lang="it-IT" dirty="0" err="1"/>
              <a:t>this</a:t>
            </a:r>
            <a:r>
              <a:rPr lang="it-IT" dirty="0"/>
              <a:t> project </a:t>
            </a:r>
            <a:r>
              <a:rPr lang="it-IT" dirty="0" err="1"/>
              <a:t>is</a:t>
            </a:r>
            <a:r>
              <a:rPr lang="it-IT" dirty="0"/>
              <a:t> to </a:t>
            </a:r>
            <a:r>
              <a:rPr lang="it-IT" dirty="0" err="1"/>
              <a:t>explore</a:t>
            </a:r>
            <a:r>
              <a:rPr lang="it-IT" dirty="0"/>
              <a:t> the concepts </a:t>
            </a:r>
            <a:r>
              <a:rPr lang="it-IT" dirty="0" err="1"/>
              <a:t>presented</a:t>
            </a:r>
            <a:r>
              <a:rPr lang="it-IT" dirty="0"/>
              <a:t> in the GPU Programming </a:t>
            </a:r>
            <a:r>
              <a:rPr lang="it-IT" dirty="0" err="1"/>
              <a:t>course</a:t>
            </a:r>
            <a:r>
              <a:rPr lang="it-IT" dirty="0"/>
              <a:t>, </a:t>
            </a:r>
            <a:r>
              <a:rPr lang="it-IT" dirty="0" err="1"/>
              <a:t>including</a:t>
            </a:r>
            <a:r>
              <a:rPr lang="it-IT" dirty="0"/>
              <a:t> </a:t>
            </a:r>
            <a:r>
              <a:rPr lang="it-IT" dirty="0" err="1"/>
              <a:t>parallel</a:t>
            </a:r>
            <a:r>
              <a:rPr lang="it-IT" dirty="0"/>
              <a:t> programming, </a:t>
            </a:r>
            <a:r>
              <a:rPr lang="it-IT" dirty="0" err="1"/>
              <a:t>Flynn's</a:t>
            </a:r>
            <a:r>
              <a:rPr lang="it-IT" dirty="0"/>
              <a:t> </a:t>
            </a:r>
            <a:r>
              <a:rPr lang="it-IT" dirty="0" err="1"/>
              <a:t>taxonomy</a:t>
            </a:r>
            <a:r>
              <a:rPr lang="it-IT" dirty="0"/>
              <a:t>, the Maxwell GPU </a:t>
            </a:r>
            <a:r>
              <a:rPr lang="it-IT" dirty="0" err="1"/>
              <a:t>architecture</a:t>
            </a:r>
            <a:r>
              <a:rPr lang="it-IT" dirty="0"/>
              <a:t>, </a:t>
            </a:r>
            <a:r>
              <a:rPr lang="it-IT" dirty="0" err="1"/>
              <a:t>advanced</a:t>
            </a:r>
            <a:r>
              <a:rPr lang="it-IT" dirty="0"/>
              <a:t> CUDA programming techniques, GPU </a:t>
            </a:r>
            <a:r>
              <a:rPr lang="it-IT" dirty="0" err="1"/>
              <a:t>optimizations</a:t>
            </a:r>
            <a:r>
              <a:rPr lang="it-IT" dirty="0"/>
              <a:t>, the </a:t>
            </a:r>
            <a:r>
              <a:rPr lang="it-IT" dirty="0" err="1"/>
              <a:t>advantages</a:t>
            </a:r>
            <a:r>
              <a:rPr lang="it-IT" dirty="0"/>
              <a:t> and </a:t>
            </a:r>
            <a:r>
              <a:rPr lang="it-IT" dirty="0" err="1"/>
              <a:t>disadvantages</a:t>
            </a:r>
            <a:r>
              <a:rPr lang="it-IT" dirty="0"/>
              <a:t> of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operations</a:t>
            </a:r>
            <a:r>
              <a:rPr lang="it-IT" dirty="0"/>
              <a:t>, profiling, and the use of </a:t>
            </a:r>
            <a:r>
              <a:rPr lang="it-IT" dirty="0" err="1"/>
              <a:t>several</a:t>
            </a:r>
            <a:r>
              <a:rPr lang="it-IT" dirty="0"/>
              <a:t> GPU-</a:t>
            </a:r>
            <a:r>
              <a:rPr lang="it-IT" dirty="0" err="1"/>
              <a:t>related</a:t>
            </a:r>
            <a:r>
              <a:rPr lang="it-IT" dirty="0"/>
              <a:t> libraries.</a:t>
            </a:r>
          </a:p>
          <a:p>
            <a:r>
              <a:rPr lang="it-IT" dirty="0"/>
              <a:t>To practice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many</a:t>
            </a:r>
            <a:r>
              <a:rPr lang="it-IT" dirty="0"/>
              <a:t> of </a:t>
            </a:r>
            <a:r>
              <a:rPr lang="it-IT" dirty="0" err="1"/>
              <a:t>these</a:t>
            </a:r>
            <a:r>
              <a:rPr lang="it-IT" dirty="0"/>
              <a:t> concepts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, a </a:t>
            </a:r>
            <a:r>
              <a:rPr lang="it-IT" dirty="0" err="1"/>
              <a:t>simulation</a:t>
            </a:r>
            <a:r>
              <a:rPr lang="it-IT" dirty="0"/>
              <a:t> of a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process</a:t>
            </a:r>
            <a:r>
              <a:rPr lang="it-IT" dirty="0"/>
              <a:t>—a </a:t>
            </a:r>
            <a:r>
              <a:rPr lang="it-IT" dirty="0" err="1"/>
              <a:t>snowball</a:t>
            </a:r>
            <a:r>
              <a:rPr lang="it-IT" dirty="0"/>
              <a:t> </a:t>
            </a:r>
            <a:r>
              <a:rPr lang="it-IT" dirty="0" err="1"/>
              <a:t>rolling</a:t>
            </a:r>
            <a:r>
              <a:rPr lang="it-IT" dirty="0"/>
              <a:t> down an </a:t>
            </a:r>
            <a:r>
              <a:rPr lang="it-IT" dirty="0" err="1"/>
              <a:t>inclined</a:t>
            </a:r>
            <a:r>
              <a:rPr lang="it-IT" dirty="0"/>
              <a:t> </a:t>
            </a:r>
            <a:r>
              <a:rPr lang="it-IT" dirty="0" err="1"/>
              <a:t>plane</a:t>
            </a:r>
            <a:r>
              <a:rPr lang="it-IT" dirty="0"/>
              <a:t>—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were</a:t>
            </a:r>
            <a:r>
              <a:rPr lang="it-IT" dirty="0"/>
              <a:t> a component of a real-time graphics </a:t>
            </a:r>
            <a:r>
              <a:rPr lang="it-IT" dirty="0" err="1"/>
              <a:t>engine</a:t>
            </a:r>
            <a:r>
              <a:rPr lang="it-IT" dirty="0"/>
              <a:t> for video games. </a:t>
            </a:r>
            <a:r>
              <a:rPr lang="it-IT" dirty="0" err="1"/>
              <a:t>Since</a:t>
            </a:r>
            <a:r>
              <a:rPr lang="it-IT" dirty="0"/>
              <a:t> the </a:t>
            </a:r>
            <a:r>
              <a:rPr lang="it-IT" dirty="0" err="1"/>
              <a:t>course</a:t>
            </a:r>
            <a:r>
              <a:rPr lang="it-IT" dirty="0"/>
              <a:t> </a:t>
            </a:r>
            <a:r>
              <a:rPr lang="it-IT" dirty="0" err="1"/>
              <a:t>took</a:t>
            </a:r>
            <a:r>
              <a:rPr lang="it-IT" dirty="0"/>
              <a:t> place </a:t>
            </a:r>
            <a:r>
              <a:rPr lang="it-IT" dirty="0" err="1"/>
              <a:t>during</a:t>
            </a:r>
            <a:r>
              <a:rPr lang="it-IT" dirty="0"/>
              <a:t> the winter season, a </a:t>
            </a:r>
            <a:r>
              <a:rPr lang="it-IT" dirty="0" err="1"/>
              <a:t>humorous</a:t>
            </a:r>
            <a:r>
              <a:rPr lang="it-IT" dirty="0"/>
              <a:t> scenario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devised</a:t>
            </a:r>
            <a:r>
              <a:rPr lang="it-IT" dirty="0"/>
              <a:t> in </a:t>
            </a:r>
            <a:r>
              <a:rPr lang="it-IT" dirty="0" err="1"/>
              <a:t>which</a:t>
            </a:r>
            <a:r>
              <a:rPr lang="it-IT" dirty="0"/>
              <a:t> Santa Claus, </a:t>
            </a:r>
            <a:r>
              <a:rPr lang="it-IT" dirty="0" err="1"/>
              <a:t>tired</a:t>
            </a:r>
            <a:r>
              <a:rPr lang="it-IT" dirty="0"/>
              <a:t> and </a:t>
            </a:r>
            <a:r>
              <a:rPr lang="it-IT" dirty="0" err="1"/>
              <a:t>frustrated</a:t>
            </a:r>
            <a:r>
              <a:rPr lang="it-IT" dirty="0"/>
              <a:t> by </a:t>
            </a:r>
            <a:r>
              <a:rPr lang="it-IT" dirty="0" err="1"/>
              <a:t>his</a:t>
            </a:r>
            <a:r>
              <a:rPr lang="it-IT" dirty="0"/>
              <a:t> </a:t>
            </a:r>
            <a:r>
              <a:rPr lang="it-IT" dirty="0" err="1"/>
              <a:t>excessive</a:t>
            </a:r>
            <a:r>
              <a:rPr lang="it-IT" dirty="0"/>
              <a:t> </a:t>
            </a:r>
            <a:r>
              <a:rPr lang="it-IT" dirty="0" err="1"/>
              <a:t>workload</a:t>
            </a:r>
            <a:r>
              <a:rPr lang="it-IT" dirty="0"/>
              <a:t>, rolls a </a:t>
            </a:r>
            <a:r>
              <a:rPr lang="it-IT" dirty="0" err="1"/>
              <a:t>giant</a:t>
            </a:r>
            <a:r>
              <a:rPr lang="it-IT" dirty="0"/>
              <a:t> </a:t>
            </a:r>
            <a:r>
              <a:rPr lang="it-IT" dirty="0" err="1"/>
              <a:t>snowball</a:t>
            </a:r>
            <a:r>
              <a:rPr lang="it-IT" dirty="0"/>
              <a:t> down a </a:t>
            </a:r>
            <a:r>
              <a:rPr lang="it-IT" dirty="0" err="1"/>
              <a:t>slope</a:t>
            </a:r>
            <a:r>
              <a:rPr lang="it-IT" dirty="0"/>
              <a:t>, </a:t>
            </a:r>
            <a:r>
              <a:rPr lang="it-IT" dirty="0" err="1"/>
              <a:t>destroying</a:t>
            </a:r>
            <a:r>
              <a:rPr lang="it-IT" dirty="0"/>
              <a:t> the </a:t>
            </a:r>
            <a:r>
              <a:rPr lang="it-IT" dirty="0" err="1"/>
              <a:t>elves</a:t>
            </a:r>
            <a:r>
              <a:rPr lang="it-IT" dirty="0"/>
              <a:t>' </a:t>
            </a:r>
            <a:r>
              <a:rPr lang="it-IT" dirty="0" err="1"/>
              <a:t>village</a:t>
            </a:r>
            <a:r>
              <a:rPr lang="it-IT" dirty="0"/>
              <a:t>.</a:t>
            </a:r>
          </a:p>
          <a:p>
            <a:r>
              <a:rPr lang="it-IT" dirty="0"/>
              <a:t>The project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covered</a:t>
            </a:r>
            <a:r>
              <a:rPr lang="it-IT" dirty="0"/>
              <a:t> rendering techniques </a:t>
            </a:r>
            <a:r>
              <a:rPr lang="it-IT" dirty="0" err="1"/>
              <a:t>using</a:t>
            </a:r>
            <a:r>
              <a:rPr lang="it-IT" dirty="0"/>
              <a:t> the </a:t>
            </a:r>
            <a:r>
              <a:rPr lang="it-IT" dirty="0" err="1"/>
              <a:t>Vulkan</a:t>
            </a:r>
            <a:r>
              <a:rPr lang="it-IT" dirty="0"/>
              <a:t> framework, </a:t>
            </a:r>
            <a:r>
              <a:rPr lang="it-IT" dirty="0" err="1"/>
              <a:t>resulting</a:t>
            </a:r>
            <a:r>
              <a:rPr lang="it-IT" dirty="0"/>
              <a:t> in a </a:t>
            </a:r>
            <a:r>
              <a:rPr lang="it-IT" dirty="0" err="1"/>
              <a:t>basic</a:t>
            </a:r>
            <a:r>
              <a:rPr lang="it-IT" dirty="0"/>
              <a:t> scene </a:t>
            </a:r>
            <a:r>
              <a:rPr lang="it-IT" dirty="0" err="1"/>
              <a:t>composed</a:t>
            </a:r>
            <a:r>
              <a:rPr lang="it-IT" dirty="0"/>
              <a:t> of a camera,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shapes</a:t>
            </a:r>
            <a:r>
              <a:rPr lang="it-IT" dirty="0"/>
              <a:t>, images, and textures.</a:t>
            </a:r>
          </a:p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B220E7-3247-4930-AB79-E58655C14711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7298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B220E7-3247-4930-AB79-E58655C14711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3341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4000" dirty="0"/>
              <a:t>Green </a:t>
            </a:r>
            <a:r>
              <a:rPr lang="it-IT" sz="4000" dirty="0" err="1"/>
              <a:t>proposes</a:t>
            </a:r>
            <a:r>
              <a:rPr lang="it-IT" sz="4000" dirty="0"/>
              <a:t> </a:t>
            </a:r>
            <a:r>
              <a:rPr lang="it-IT" sz="4000" dirty="0" err="1"/>
              <a:t>dividing</a:t>
            </a:r>
            <a:r>
              <a:rPr lang="it-IT" sz="4000" dirty="0"/>
              <a:t> the </a:t>
            </a:r>
            <a:r>
              <a:rPr lang="it-IT" sz="4000" dirty="0" err="1"/>
              <a:t>three-dimensional</a:t>
            </a:r>
            <a:r>
              <a:rPr lang="it-IT" sz="4000" dirty="0"/>
              <a:t> </a:t>
            </a:r>
            <a:r>
              <a:rPr lang="it-IT" sz="4000" dirty="0" err="1"/>
              <a:t>simulation</a:t>
            </a:r>
            <a:r>
              <a:rPr lang="it-IT" sz="4000" dirty="0"/>
              <a:t> </a:t>
            </a:r>
            <a:r>
              <a:rPr lang="it-IT" sz="4000" dirty="0" err="1"/>
              <a:t>space</a:t>
            </a:r>
            <a:r>
              <a:rPr lang="it-IT" sz="4000" dirty="0"/>
              <a:t> </a:t>
            </a:r>
            <a:r>
              <a:rPr lang="it-IT" sz="4000" dirty="0" err="1"/>
              <a:t>into</a:t>
            </a:r>
            <a:r>
              <a:rPr lang="it-IT" sz="4000" dirty="0"/>
              <a:t> a regular </a:t>
            </a:r>
            <a:r>
              <a:rPr lang="it-IT" sz="4000" dirty="0" err="1"/>
              <a:t>grid</a:t>
            </a:r>
            <a:r>
              <a:rPr lang="it-IT" sz="4000" dirty="0"/>
              <a:t> of </a:t>
            </a:r>
            <a:r>
              <a:rPr lang="it-IT" sz="4000" dirty="0" err="1"/>
              <a:t>cubic</a:t>
            </a:r>
            <a:r>
              <a:rPr lang="it-IT" sz="4000" dirty="0"/>
              <a:t> </a:t>
            </a:r>
            <a:r>
              <a:rPr lang="it-IT" sz="4000" dirty="0" err="1"/>
              <a:t>cells</a:t>
            </a:r>
            <a:r>
              <a:rPr lang="it-IT" sz="4000" dirty="0"/>
              <a:t> (</a:t>
            </a:r>
            <a:r>
              <a:rPr lang="it-IT" sz="4000" dirty="0" err="1"/>
              <a:t>Uniform</a:t>
            </a:r>
            <a:r>
              <a:rPr lang="it-IT" sz="4000" dirty="0"/>
              <a:t> </a:t>
            </a:r>
            <a:r>
              <a:rPr lang="it-IT" sz="4000" dirty="0" err="1"/>
              <a:t>Grid</a:t>
            </a:r>
            <a:r>
              <a:rPr lang="it-IT" sz="4000" dirty="0"/>
              <a:t>), </a:t>
            </a:r>
            <a:r>
              <a:rPr lang="it-IT" sz="4000" dirty="0" err="1"/>
              <a:t>where</a:t>
            </a:r>
            <a:r>
              <a:rPr lang="it-IT" sz="4000" dirty="0"/>
              <a:t> the side </a:t>
            </a:r>
            <a:r>
              <a:rPr lang="it-IT" sz="4000" dirty="0" err="1"/>
              <a:t>length</a:t>
            </a:r>
            <a:r>
              <a:rPr lang="it-IT" sz="4000" dirty="0"/>
              <a:t> of </a:t>
            </a:r>
            <a:r>
              <a:rPr lang="it-IT" sz="4000" dirty="0" err="1"/>
              <a:t>each</a:t>
            </a:r>
            <a:r>
              <a:rPr lang="it-IT" sz="4000" dirty="0"/>
              <a:t> </a:t>
            </a:r>
            <a:r>
              <a:rPr lang="it-IT" sz="4000" dirty="0" err="1"/>
              <a:t>cell</a:t>
            </a:r>
            <a:r>
              <a:rPr lang="it-IT" sz="4000" dirty="0"/>
              <a:t> </a:t>
            </a:r>
            <a:r>
              <a:rPr lang="it-IT" sz="4000" dirty="0" err="1"/>
              <a:t>equals</a:t>
            </a:r>
            <a:r>
              <a:rPr lang="it-IT" sz="4000" dirty="0"/>
              <a:t> the maximum </a:t>
            </a:r>
            <a:r>
              <a:rPr lang="it-IT" sz="4000" dirty="0" err="1"/>
              <a:t>particle</a:t>
            </a:r>
            <a:r>
              <a:rPr lang="it-IT" sz="4000" dirty="0"/>
              <a:t> interaction </a:t>
            </a:r>
            <a:r>
              <a:rPr lang="it-IT" sz="4000" dirty="0" err="1"/>
              <a:t>diameter</a:t>
            </a:r>
            <a:r>
              <a:rPr lang="it-IT" sz="4000" dirty="0"/>
              <a:t>. </a:t>
            </a:r>
            <a:r>
              <a:rPr lang="it-IT" sz="4000" dirty="0" err="1"/>
              <a:t>This</a:t>
            </a:r>
            <a:r>
              <a:rPr lang="it-IT" sz="4000" dirty="0"/>
              <a:t> </a:t>
            </a:r>
            <a:r>
              <a:rPr lang="it-IT" sz="4000" dirty="0" err="1"/>
              <a:t>ensures</a:t>
            </a:r>
            <a:r>
              <a:rPr lang="it-IT" sz="4000" dirty="0"/>
              <a:t> a </a:t>
            </a:r>
            <a:r>
              <a:rPr lang="it-IT" sz="4000" dirty="0" err="1"/>
              <a:t>particle</a:t>
            </a:r>
            <a:r>
              <a:rPr lang="it-IT" sz="4000" dirty="0"/>
              <a:t> can </a:t>
            </a:r>
            <a:r>
              <a:rPr lang="it-IT" sz="4000" dirty="0" err="1"/>
              <a:t>only</a:t>
            </a:r>
            <a:r>
              <a:rPr lang="it-IT" sz="4000" dirty="0"/>
              <a:t> </a:t>
            </a:r>
            <a:r>
              <a:rPr lang="it-IT" sz="4000" dirty="0" err="1"/>
              <a:t>interact</a:t>
            </a:r>
            <a:r>
              <a:rPr lang="it-IT" sz="4000" dirty="0"/>
              <a:t> with </a:t>
            </a:r>
            <a:r>
              <a:rPr lang="it-IT" sz="4000" dirty="0" err="1"/>
              <a:t>elements</a:t>
            </a:r>
            <a:r>
              <a:rPr lang="it-IT" sz="4000" dirty="0"/>
              <a:t> inside </a:t>
            </a:r>
            <a:r>
              <a:rPr lang="it-IT" sz="4000" dirty="0" err="1"/>
              <a:t>its</a:t>
            </a:r>
            <a:r>
              <a:rPr lang="it-IT" sz="4000" dirty="0"/>
              <a:t> </a:t>
            </a:r>
            <a:r>
              <a:rPr lang="it-IT" sz="4000" dirty="0" err="1"/>
              <a:t>own</a:t>
            </a:r>
            <a:r>
              <a:rPr lang="it-IT" sz="4000" dirty="0"/>
              <a:t> </a:t>
            </a:r>
            <a:r>
              <a:rPr lang="it-IT" sz="4000" dirty="0" err="1"/>
              <a:t>cell</a:t>
            </a:r>
            <a:r>
              <a:rPr lang="it-IT" sz="4000" dirty="0"/>
              <a:t> or </a:t>
            </a:r>
            <a:r>
              <a:rPr lang="it-IT" sz="4000" dirty="0" err="1"/>
              <a:t>within</a:t>
            </a:r>
            <a:r>
              <a:rPr lang="it-IT" sz="4000" dirty="0"/>
              <a:t> the 26 </a:t>
            </a:r>
            <a:r>
              <a:rPr lang="it-IT" sz="4000" dirty="0" err="1"/>
              <a:t>adjacent</a:t>
            </a:r>
            <a:r>
              <a:rPr lang="it-IT" sz="4000" dirty="0"/>
              <a:t> </a:t>
            </a:r>
            <a:r>
              <a:rPr lang="it-IT" sz="4000" dirty="0" err="1"/>
              <a:t>cells</a:t>
            </a:r>
            <a:r>
              <a:rPr lang="it-IT" sz="4000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B220E7-3247-4930-AB79-E58655C14711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2175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0075" y="521852"/>
            <a:ext cx="80105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rPr lang="en-US" sz="4800" noProof="0" dirty="0"/>
              <a:t>GPU-Accelerated DEM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rPr lang="en-US" sz="4800" noProof="0" dirty="0"/>
              <a:t>Simulation of a Snowball</a:t>
            </a:r>
          </a:p>
          <a:p>
            <a:pPr algn="ctr">
              <a:defRPr sz="3000" b="1">
                <a:solidFill>
                  <a:srgbClr val="FFFFFF"/>
                </a:solidFill>
              </a:defRPr>
            </a:pPr>
            <a:r>
              <a:rPr lang="en-US" sz="4800" noProof="0" dirty="0"/>
              <a:t>Avalanche Dynamics</a:t>
            </a:r>
          </a:p>
          <a:p>
            <a:pPr algn="ctr">
              <a:defRPr sz="2400" b="0">
                <a:solidFill>
                  <a:srgbClr val="76B900"/>
                </a:solidFill>
              </a:defRPr>
            </a:pPr>
            <a:r>
              <a:rPr lang="en-US" noProof="0" dirty="0"/>
              <a:t>on NVIDIA Maxwell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700034"/>
            <a:ext cx="82296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CCCCCC"/>
                </a:solidFill>
              </a:defRPr>
            </a:pPr>
            <a:r>
              <a:rPr lang="en-US" noProof="0" dirty="0"/>
              <a:t>Maurizio Grisotto</a:t>
            </a:r>
          </a:p>
          <a:p>
            <a:pPr algn="ctr">
              <a:defRPr sz="1600">
                <a:solidFill>
                  <a:srgbClr val="CCCCCC"/>
                </a:solidFill>
              </a:defRPr>
            </a:pPr>
            <a:r>
              <a:rPr lang="en-US" noProof="0" dirty="0" err="1"/>
              <a:t>Politecnico</a:t>
            </a:r>
            <a:r>
              <a:rPr lang="en-US" noProof="0" dirty="0"/>
              <a:t> di Torino - GPU Programming 2025/2026</a:t>
            </a:r>
          </a:p>
          <a:p>
            <a:pPr algn="ctr">
              <a:defRPr sz="1400">
                <a:solidFill>
                  <a:srgbClr val="009BD5"/>
                </a:solidFill>
              </a:defRPr>
            </a:pPr>
            <a:r>
              <a:rPr lang="en-US" noProof="0" dirty="0"/>
              <a:t>s336145@studenti.polito.it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81394" y="5994185"/>
            <a:ext cx="278121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76B900"/>
                </a:solidFill>
              </a:defRPr>
            </a:pPr>
            <a:r>
              <a:rPr lang="en-US" sz="2400" noProof="0" dirty="0"/>
              <a:t>Project: Angry Santa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9CEDDE-078D-BA7E-56F1-727C17E5A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984" y="5212081"/>
            <a:ext cx="2425105" cy="16167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26076"/>
            <a:ext cx="8046720" cy="3585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Project Overview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Physics Model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System Architecture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CPU Implementations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GPU Optimizations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Experimental Setup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Results and Benchmarks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2400" noProof="0" dirty="0"/>
              <a:t>Conclusion and 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CD233-043D-A8CF-3DC4-996A98A42431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57DA0DE-87EF-8B67-EE0E-79004CD5BEA6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70" y="1736565"/>
            <a:ext cx="8603674" cy="22006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Explore the concepts of the course.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Simulation of a physical process - a snowball rolling down an inclined plane - as if it were a component of a real-time graphics engine for video games.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Humorous scenario:  Santa Claus rolls a giant snowball down a slope, destroying the elves' village. 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Rendering techniques using the Vulkan framework.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Working code for Intel (Windows OS) and ARM (Linux OS) platforms.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Experimenting with AI capabilities in a foreign domain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5EFFE-15FC-F4FF-AA7D-2CF81F80D9FF}"/>
              </a:ext>
            </a:extLst>
          </p:cNvPr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Introduction and Motivations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141763-B256-BB1F-AB4D-92316DE217D2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F75DAF4-4FBE-C0DB-222E-CD545395B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2877" y="4119419"/>
            <a:ext cx="4003584" cy="227059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89F0E03-A146-6684-2781-463F2398D8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1" y="4127942"/>
            <a:ext cx="4003584" cy="2262072"/>
          </a:xfrm>
          <a:prstGeom prst="rect">
            <a:avLst/>
          </a:prstGeom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CEBB196A-904F-366D-8953-1D6F74B8B093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2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Physics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The (simplified) Discrete Element Method (DEM) with penalty-based contact and Coulomb friction without persistent contact history</a:t>
            </a:r>
          </a:p>
          <a:p>
            <a:pPr>
              <a:defRPr sz="1800" b="0">
                <a:solidFill>
                  <a:srgbClr val="76B900"/>
                </a:solidFill>
              </a:defRPr>
            </a:pPr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16133" y="2042155"/>
            <a:ext cx="804672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Snowpack: N particles on a rectangular band with jitter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Infinite inclined plane: sin(θ)·x + cos(θ)·y = H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Curvilinear parameterization (s, n) mapping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Per-particle wetness w ∈ [</a:t>
            </a:r>
            <a:r>
              <a:rPr lang="en-US" sz="1600" noProof="0" dirty="0" err="1"/>
              <a:t>w_min</a:t>
            </a:r>
            <a:r>
              <a:rPr lang="en-US" sz="1600" noProof="0" dirty="0"/>
              <a:t>, </a:t>
            </a:r>
            <a:r>
              <a:rPr lang="en-US" sz="1600" noProof="0" dirty="0" err="1"/>
              <a:t>w_max</a:t>
            </a:r>
            <a:r>
              <a:rPr lang="en-US" sz="1600" noProof="0" dirty="0"/>
              <a:t>] via </a:t>
            </a:r>
            <a:r>
              <a:rPr lang="en-US" sz="1600" noProof="0" dirty="0" err="1"/>
              <a:t>curand</a:t>
            </a:r>
            <a:endParaRPr lang="en-US" sz="1600" noProof="0" dirty="0"/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Sorted once by </a:t>
            </a:r>
            <a:r>
              <a:rPr lang="en-US" sz="1600" noProof="0" dirty="0" err="1"/>
              <a:t>posX</a:t>
            </a:r>
            <a:r>
              <a:rPr lang="en-US" sz="1600" noProof="0" dirty="0"/>
              <a:t> → enables binary-search range limiting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Dynamic shell: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          Growing particle system where actual interactions happen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Snowball core: rigid-body dynamics on slope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Rolling drag (linear) + aerodynamic drag (quadratic, ∝ R²)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Rolling-without-slip: ω = (1/R)·(</a:t>
            </a:r>
            <a:r>
              <a:rPr lang="en-US" sz="1600" noProof="0" dirty="0" err="1"/>
              <a:t>N_slope</a:t>
            </a:r>
            <a:r>
              <a:rPr lang="en-US" sz="1600" noProof="0" dirty="0"/>
              <a:t> × v)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Quaternion integration for orientation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6DD9D3-DD19-5CB5-D7E0-615535280B53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ACFEB6-23F0-01A1-2602-5EB268F7A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9" y="1860306"/>
            <a:ext cx="3242790" cy="2342239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95D2278A-57F5-E7FA-5E9E-5B0886F0C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499" y="4249834"/>
            <a:ext cx="3242790" cy="44053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ACE2B357-015F-AD39-7D01-162640A53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499" y="4717831"/>
            <a:ext cx="3242790" cy="1785616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386C8BBE-9190-D998-5B99-493107D1A220}"/>
              </a:ext>
            </a:extLst>
          </p:cNvPr>
          <p:cNvSpPr txBox="1"/>
          <p:nvPr/>
        </p:nvSpPr>
        <p:spPr>
          <a:xfrm>
            <a:off x="3251198" y="80454"/>
            <a:ext cx="5703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noProof="0" dirty="0">
                <a:solidFill>
                  <a:schemeClr val="bg1"/>
                </a:solidFill>
              </a:rPr>
              <a:t>Cundall &amp; Strack (1979): A discrete numerical model for granular assemblies</a:t>
            </a:r>
          </a:p>
          <a:p>
            <a:pPr algn="r"/>
            <a:r>
              <a:rPr lang="en-US" sz="1400" i="1" noProof="0" dirty="0" err="1">
                <a:solidFill>
                  <a:schemeClr val="bg1"/>
                </a:solidFill>
              </a:rPr>
              <a:t>Pöschel</a:t>
            </a:r>
            <a:r>
              <a:rPr lang="en-US" sz="1400" i="1" noProof="0" dirty="0">
                <a:solidFill>
                  <a:schemeClr val="bg1"/>
                </a:solidFill>
              </a:rPr>
              <a:t> &amp; Schwager (2005): Computational Granular Dynamics 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2C22116F-AEA7-F2A2-B46C-281C2EEBA036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3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Physics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Probabilistic Capture Algorithm and Shell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6133" y="1737360"/>
            <a:ext cx="804672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Capture converts snowpack → shell particles each frame: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Logit: ℓ = k₀ + k₁·w - k₂·|</a:t>
            </a:r>
            <a:r>
              <a:rPr lang="en-US" sz="1600" noProof="0" dirty="0" err="1"/>
              <a:t>v_rel</a:t>
            </a:r>
            <a:r>
              <a:rPr lang="en-US" sz="1600" noProof="0" dirty="0"/>
              <a:t>| + </a:t>
            </a:r>
            <a:r>
              <a:rPr lang="en-US" sz="1600" noProof="0" dirty="0" err="1"/>
              <a:t>k_R·R</a:t>
            </a:r>
            <a:r>
              <a:rPr lang="en-US" sz="1600" noProof="0" dirty="0"/>
              <a:t>  (avalanche feedback)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Sigmoid probability: </a:t>
            </a:r>
            <a:r>
              <a:rPr lang="en-US" sz="1600" noProof="0" dirty="0" err="1"/>
              <a:t>P_stick</a:t>
            </a:r>
            <a:r>
              <a:rPr lang="en-US" sz="1600" noProof="0" dirty="0"/>
              <a:t> = σ(ℓ) = 1/(1+e^{-ℓ})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Deterministic </a:t>
            </a:r>
            <a:r>
              <a:rPr lang="en-US" sz="1600" noProof="0" dirty="0" err="1"/>
              <a:t>murmurhash</a:t>
            </a:r>
            <a:r>
              <a:rPr lang="en-US" sz="1600" noProof="0" dirty="0"/>
              <a:t> PRNG (no </a:t>
            </a:r>
            <a:r>
              <a:rPr lang="en-US" sz="1600" noProof="0" dirty="0" err="1"/>
              <a:t>curand</a:t>
            </a:r>
            <a:r>
              <a:rPr lang="en-US" sz="1600" noProof="0" dirty="0"/>
              <a:t> state overhead)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Lock-free </a:t>
            </a:r>
            <a:r>
              <a:rPr lang="en-US" sz="1600" noProof="0" dirty="0" err="1"/>
              <a:t>atomicAdd</a:t>
            </a:r>
            <a:r>
              <a:rPr lang="en-US" sz="1600" noProof="0" dirty="0"/>
              <a:t> for slot reservation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Shell particle forces: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Gravity + Mass-proportional damping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Tether spring-damper to ball surface anchor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DEM inter-particle contact with Coulomb friction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Stability: logit clamping, per-frame cap, proportional mass scaling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DC671-AD21-90FF-0350-B5684EEAD0B7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87C1EF0-EEF9-4D18-6A84-427721B13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82" y="1634833"/>
            <a:ext cx="3177310" cy="3629894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9A482D32-5816-B6BC-F0BD-979E5A8D9753}"/>
              </a:ext>
            </a:extLst>
          </p:cNvPr>
          <p:cNvSpPr txBox="1"/>
          <p:nvPr/>
        </p:nvSpPr>
        <p:spPr>
          <a:xfrm>
            <a:off x="3251198" y="80454"/>
            <a:ext cx="5703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noProof="0" dirty="0">
                <a:solidFill>
                  <a:schemeClr val="bg1"/>
                </a:solidFill>
              </a:rPr>
              <a:t>Cundall &amp; Strack (1979): A discrete numerical model for granular assemblies</a:t>
            </a:r>
          </a:p>
          <a:p>
            <a:pPr algn="r"/>
            <a:r>
              <a:rPr lang="en-US" sz="1400" i="1" noProof="0" dirty="0" err="1">
                <a:solidFill>
                  <a:schemeClr val="bg1"/>
                </a:solidFill>
              </a:rPr>
              <a:t>Pöschel</a:t>
            </a:r>
            <a:r>
              <a:rPr lang="en-US" sz="1400" i="1" noProof="0" dirty="0">
                <a:solidFill>
                  <a:schemeClr val="bg1"/>
                </a:solidFill>
              </a:rPr>
              <a:t> &amp; Schwager (2005): Computational Granular Dynamics </a:t>
            </a: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8712E8F7-FEA4-0FF0-A6F5-9344F733523C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DA9132-7BDF-CF3C-7BD2-2EB108C9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2F115A-F477-BB75-CD3F-527F0D6A0F70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Physics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BEC0E3-BAB7-148F-DAF6-4711D95FFB20}"/>
              </a:ext>
            </a:extLst>
          </p:cNvPr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Default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8A522D-A948-DFFC-CDB9-94CE47FBB2E9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FA0961B-24BE-39BD-96C1-02111A401D65}"/>
              </a:ext>
            </a:extLst>
          </p:cNvPr>
          <p:cNvSpPr txBox="1"/>
          <p:nvPr/>
        </p:nvSpPr>
        <p:spPr>
          <a:xfrm>
            <a:off x="613533" y="1549426"/>
            <a:ext cx="8229599" cy="12942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Physics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gravity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  = 9.81f;     // m/s²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       = 0.0033f;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timestep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(s)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damping           = 0.05f;     // mass-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proportional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velocity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damping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k_d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stiffness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= 30000.0f;  // soft-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sphere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penalty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stiffness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k_pen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collisionDamping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= 50.0f;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collision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damping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k_damp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cohesion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 = 72450.0f;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cohesion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strength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k_coh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cohesionRadius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= 0.06f;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cohesion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cutoff (m)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particleRadius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= 0.02f;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uniform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particleMass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0.1f;      // per-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mass (kg)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restitution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0.15f;     // ground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bounce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factor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(e)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friction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 = 0.14f;     // ground Coulomb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friction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μ_ground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particleFriction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= 0.04f;     // inter-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friction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μ_p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snowDensity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200.0f;    // kg/m³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Slope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slopeAngleDeg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= 30.0f;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slopeHeight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30.0f;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plane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offset (m)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domainLength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150.0f;    // max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along-slope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travel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Capture /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Sticking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stickK0           = 1.0f;      // base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→ ~73%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v=0, w=1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stickK1           = 7.11f;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wetness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boost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in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logit</a:t>
            </a:r>
            <a:br>
              <a:rPr lang="it-IT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stickK2           = 1.1f; 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velocity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penalty (per m/s of |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v_rel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|)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stickRadiusBoost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= 7.5f; 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avalanche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feedback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boost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per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metre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of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logitClamp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= 15.0f;     // max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absolute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for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sigmoid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stability</a:t>
            </a:r>
            <a:br>
              <a:rPr lang="it-IT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maxCapturePerFrm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= 150;       // max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captured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per frame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growth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rate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limiter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wetnessMin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= 0.0f;      // min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initial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wetness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[0,1]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wetnessMax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= 1.0f;      // max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initial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wetness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[0,1]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8.1.4. Shell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shellTetherK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2717.0f;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tether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spring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stiffness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(N/m)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shellTetherDamp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= 50.0f;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tether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damping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coefficient</a:t>
            </a:r>
            <a:endParaRPr lang="it-IT" sz="1000" b="0" i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algn="l">
              <a:spcAft>
                <a:spcPts val="1200"/>
              </a:spcAft>
              <a:buNone/>
            </a:pP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Shell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capacity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starts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at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256 and 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grows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dynamically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 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doubles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)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as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particles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are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captured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.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8.1.5.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Snowpack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Geometry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numParticles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1000000;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snowpack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count</a:t>
            </a:r>
            <a:endParaRPr lang="it-IT" sz="1000" b="0" i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spawnLengthS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1000.0f;   // patch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along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slope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spawnWidthZ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10.0f;     // patch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lateral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spawnStartS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0.0f;      // start offset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along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slope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spawnThicknessN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= 0.0f;      // 0 = single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layer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on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surface</a:t>
            </a:r>
            <a:endParaRPr lang="it-IT" sz="1000" b="0" i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8.1.6.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Rigid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-Body Drag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rollingDrag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0.15f;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rolling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friction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(linear drag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coefficient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aeroCoeff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= 0.3f; 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aerodynamic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drag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coefficient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quadratic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scales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with R²)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8.1.7.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Spatial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Grid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cellSize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 = 4 *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particleRadius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 // = 0.08 m (default)</a:t>
            </a:r>
          </a:p>
          <a:p>
            <a:pPr algn="l">
              <a:spcAft>
                <a:spcPts val="1200"/>
              </a:spcAft>
              <a:buNone/>
            </a:pP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The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grid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uses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a compact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hash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table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: 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ui-monospace"/>
              </a:rPr>
              <a:t>hashTableSize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ui-monospace"/>
              </a:rPr>
              <a:t> = nextPowerOf2(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ui-monospace"/>
              </a:rPr>
              <a:t>shellCapacity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ui-monospace"/>
              </a:rPr>
              <a:t> × 8)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,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clamped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to 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ui-monospace"/>
              </a:rPr>
              <a:t>[4096,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ui-monospace"/>
              </a:rPr>
              <a:t>numCells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ui-monospace"/>
              </a:rPr>
              <a:t>]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.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This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avoids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allocating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the full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grid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(~9.8M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cells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→ ~75 MB) and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instead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uses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~32K entries (~256 KB) with prime-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number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spatial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hashing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(Teschner et al., 2003).</a:t>
            </a:r>
          </a:p>
          <a:p>
            <a:pPr algn="l">
              <a:spcAft>
                <a:spcPts val="1200"/>
              </a:spcAft>
              <a:buNone/>
            </a:pP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All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parameters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can be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overridden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via CLI flags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-apple-system"/>
              </a:rPr>
              <a:t>run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 with 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ui-monospace"/>
              </a:rPr>
              <a:t>--help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-apple-system"/>
              </a:rPr>
              <a:t> for the full list).</a:t>
            </a:r>
          </a:p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8.1.8. Performance / Profiling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traceInterval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= 0;         // frames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trace snapshots (0 to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disable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logInterval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0;         // frames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log outputs (0 = no log)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CB4C3B73-61AB-12FD-A22F-618F35CD6CDE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75319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75B8D1-435E-EFF3-6554-CD7DC5613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9C214D-F19A-0D2C-7824-D06CE27515DA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Physics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AB5564-B044-6569-F5E7-43D5F735DCD4}"/>
              </a:ext>
            </a:extLst>
          </p:cNvPr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Default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313584-AD97-AE57-B4FF-5D739FC72DC3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D900908-5D86-82F6-DD95-4D0F5963AF33}"/>
              </a:ext>
            </a:extLst>
          </p:cNvPr>
          <p:cNvSpPr txBox="1"/>
          <p:nvPr/>
        </p:nvSpPr>
        <p:spPr>
          <a:xfrm>
            <a:off x="613533" y="1549426"/>
            <a:ext cx="8229599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Shell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shellTetherK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2717.0f;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tether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spring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stiffness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(N/m)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shellTetherDamp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= 50.0f;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tether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damping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coefficient</a:t>
            </a:r>
            <a:endParaRPr lang="it-IT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Snowpack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Geometry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numParticles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1000000;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total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snowpack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count</a:t>
            </a:r>
            <a:br>
              <a:rPr lang="it-IT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spawnLengthS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= 1000.0f;   // patch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along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slope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spawnWidthZ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10.0f;     // patch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lateral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spawnStartS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0.0f;      // start offset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along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slope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(m)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spawnThicknessN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= 0.0f;      // 0 = single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layer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on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surface</a:t>
            </a:r>
            <a:endParaRPr lang="it-IT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Rigid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-Body Drag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rollingDrag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0.15f;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rolling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friction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(linear drag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coefficient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aeroCoeff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= 0.3f;      //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aerodynamic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drag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coefficient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quadratic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scales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with R²)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Spatial</a:t>
            </a: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 </a:t>
            </a:r>
            <a:r>
              <a:rPr lang="it-IT" sz="1000" b="1" i="0" dirty="0" err="1">
                <a:solidFill>
                  <a:srgbClr val="CCCCCC"/>
                </a:solidFill>
                <a:effectLst/>
                <a:latin typeface="-apple-system"/>
              </a:rPr>
              <a:t>Grid</a:t>
            </a:r>
            <a:endParaRPr lang="it-IT" sz="1000" b="1" i="0" dirty="0">
              <a:solidFill>
                <a:srgbClr val="CCCCCC"/>
              </a:solidFill>
              <a:effectLst/>
              <a:latin typeface="-apple-system"/>
            </a:endParaRP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cellSize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   = 4 *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particleRadius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 // = 0.08 m (default)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1" i="0" dirty="0">
                <a:solidFill>
                  <a:srgbClr val="CCCCCC"/>
                </a:solidFill>
                <a:effectLst/>
                <a:latin typeface="-apple-system"/>
              </a:rPr>
              <a:t>Performance / Profiling</a:t>
            </a:r>
          </a:p>
          <a:p>
            <a:pPr algn="l" latinLnBrk="0">
              <a:spcAft>
                <a:spcPts val="1200"/>
              </a:spcAft>
              <a:buNone/>
            </a:pP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traceInterval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= 0;         // frames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trace snapshots (0 to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disable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logInterval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   = 0;         // frames </a:t>
            </a:r>
            <a:r>
              <a:rPr lang="it-IT" sz="1000" b="0" i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between</a:t>
            </a:r>
            <a:r>
              <a:rPr lang="it-IT" sz="1000" b="0" i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log outputs (0 = no log)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CA24E8A-0837-EBB4-B07D-C77FD46C5E26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33208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Three-Tier Particle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9142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r>
              <a:rPr lang="en-US" noProof="0" dirty="0"/>
              <a:t>Deferred capture readback: 1-frame latency (pinned host memory)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06B2E-7BEA-1E71-B122-AE2C0D08707A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F266E63-3B14-B4FF-C3B7-4FFB646C9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07" b="5069"/>
          <a:stretch>
            <a:fillRect/>
          </a:stretch>
        </p:blipFill>
        <p:spPr>
          <a:xfrm>
            <a:off x="1471350" y="1645920"/>
            <a:ext cx="6287193" cy="402336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09122053-1ABD-97D1-02E5-A1C8E9B4A53A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CPU Implementations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5495"/>
            <a:ext cx="804672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SISD Baseline: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Compiled with -O0 / /Od - no inlining, no vectorization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Strict performance floor for speedup measurements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SIMD + OpenMP optimized: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SSE2 (x86-64) / NEON (ARM64) - 4 particles per SIMD lane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16-byte aligned </a:t>
            </a:r>
            <a:r>
              <a:rPr lang="en-US" sz="1600" noProof="0" dirty="0" err="1"/>
              <a:t>SoA</a:t>
            </a:r>
            <a:r>
              <a:rPr lang="en-US" sz="1600" noProof="0" dirty="0"/>
              <a:t> arrays (</a:t>
            </a:r>
            <a:r>
              <a:rPr lang="en-US" sz="1600" noProof="0" dirty="0" err="1"/>
              <a:t>aligned_malloc</a:t>
            </a:r>
            <a:r>
              <a:rPr lang="en-US" sz="1600" noProof="0" dirty="0"/>
              <a:t>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OpenMP: #pragma </a:t>
            </a:r>
            <a:r>
              <a:rPr lang="en-US" sz="1600" noProof="0" dirty="0" err="1"/>
              <a:t>omp</a:t>
            </a:r>
            <a:r>
              <a:rPr lang="en-US" sz="1600" noProof="0" dirty="0"/>
              <a:t> parallel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O(N²) brute-force collision (no spatial hashing)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BB3A0-0156-5847-598F-D4D4D553BF1E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761ED4-DD9F-AD7E-DBBF-156CAE0ADE15}"/>
              </a:ext>
            </a:extLst>
          </p:cNvPr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Flynn’s Taxonomy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00DC1001-2A68-B3F9-DEA4-ABBBBE7715C0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CCA51-41DD-78F0-9567-89E9F1469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A29CB5-00D4-C6A9-87F7-582DDDB2F709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CPU Implementations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C8D54-AA81-6930-3C67-0E99D77308B0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A457FB3-57DE-F240-81BE-BB30CDC4C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123" y="1134436"/>
            <a:ext cx="5273960" cy="195285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4B5546F-2E4B-7CC6-A138-B82F2ED91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124" y="3197306"/>
            <a:ext cx="5277218" cy="3095236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B6227602-20F0-6070-CB4F-3FBB5CBEAC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800" y="1134436"/>
            <a:ext cx="2387722" cy="5158106"/>
          </a:xfrm>
          <a:prstGeom prst="rect">
            <a:avLst/>
          </a:prstGeom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323DD7CF-78FF-F5BA-4BAB-C5D200FD11EF}"/>
              </a:ext>
            </a:extLst>
          </p:cNvPr>
          <p:cNvSpPr txBox="1"/>
          <p:nvPr/>
        </p:nvSpPr>
        <p:spPr>
          <a:xfrm>
            <a:off x="8724678" y="649887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04924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GPU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804672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 err="1"/>
              <a:t>SoA</a:t>
            </a:r>
            <a:r>
              <a:rPr lang="en-US" sz="1600" noProof="0" dirty="0"/>
              <a:t> Layout: 100% coalesced 128-byte transactions per warp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 err="1"/>
              <a:t>AoS</a:t>
            </a:r>
            <a:r>
              <a:rPr lang="en-US" sz="1600" noProof="0" dirty="0"/>
              <a:t> would waste up to 90% of bus bandwidth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Constant Memory: </a:t>
            </a:r>
            <a:r>
              <a:rPr lang="en-US" sz="1600" noProof="0" dirty="0" err="1"/>
              <a:t>SimParams</a:t>
            </a:r>
            <a:r>
              <a:rPr lang="en-US" sz="1600" noProof="0" dirty="0"/>
              <a:t> (~152 B) broadcast to all warps in ~5 cycles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__</a:t>
            </a:r>
            <a:r>
              <a:rPr lang="en-US" sz="1600" noProof="0" dirty="0" err="1"/>
              <a:t>ldg</a:t>
            </a:r>
            <a:r>
              <a:rPr lang="en-US" sz="1600" noProof="0" dirty="0"/>
              <a:t>() / __restrict__: routes loads through read-only texture cache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Doubles effective cache bandwidth without conflicts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Pinned Memory: eliminates 30–40 </a:t>
            </a:r>
            <a:r>
              <a:rPr lang="en-US" sz="1600" noProof="0" dirty="0" err="1"/>
              <a:t>ms</a:t>
            </a:r>
            <a:r>
              <a:rPr lang="en-US" sz="1600" noProof="0" dirty="0"/>
              <a:t> GPU stalls from pageable </a:t>
            </a:r>
            <a:r>
              <a:rPr lang="en-US" sz="1600" noProof="0" dirty="0" err="1"/>
              <a:t>memcpy</a:t>
            </a:r>
            <a:endParaRPr lang="en-US" sz="1600" noProof="0" dirty="0"/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Capture count + mass packed into single 8-byte buffer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Unity Build (coding): single translation unit shares __constant__ across kernels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0EB3E6-AB1F-E4F2-5384-3994F0CDBCB2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85AD52AB-D8A2-E49D-139C-8A3C0BA16901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10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Memory Hierarchy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Every level of the hierarchy is explicitly exploited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Every level of the hierarchy is explicitly exploited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738224"/>
              </p:ext>
            </p:extLst>
          </p:nvPr>
        </p:nvGraphicFramePr>
        <p:xfrm>
          <a:off x="365760" y="1828800"/>
          <a:ext cx="8412480" cy="2606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Level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Usage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Size/Capacity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Registers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Local vars, force accumulators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24–48 / thread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__constant__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SimParams</a:t>
                      </a:r>
                      <a:r>
                        <a:rPr lang="en-US" noProof="0" dirty="0"/>
                        <a:t> (broadcast)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~152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Shared Memory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Warp-cooperative tile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12.4 KB/block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Read-only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__</a:t>
                      </a:r>
                      <a:r>
                        <a:rPr lang="en-US" noProof="0" dirty="0" err="1"/>
                        <a:t>ldg</a:t>
                      </a:r>
                      <a:r>
                        <a:rPr lang="en-US" noProof="0" dirty="0"/>
                        <a:t>() loads (immutable </a:t>
                      </a:r>
                      <a:r>
                        <a:rPr lang="en-US" noProof="0" dirty="0" err="1"/>
                        <a:t>SoA</a:t>
                      </a:r>
                      <a:r>
                        <a:rPr lang="en-US" noProof="0" dirty="0"/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HW-managed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L2 Cache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Particle working set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 MB / 256 KB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3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Global (GDDR5)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SoA</a:t>
                      </a:r>
                      <a:r>
                        <a:rPr lang="en-US" noProof="0" dirty="0"/>
                        <a:t> arrays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16N × 4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BDE8A3-ECDD-21F1-2ED3-F4AF217A7F2A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C2468F68-56DD-00FA-22FB-18CD82778BC4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11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GPU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Compute and ALU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804672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Warp-Cooperative Shared-Memory Tiling: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Each warp loads 32-neighbor tile into shared memory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[MAX_WARPS][WARP_SIZE+1] padding avoids bank conflicts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__</a:t>
            </a:r>
            <a:r>
              <a:rPr lang="en-US" sz="1600" noProof="0" dirty="0" err="1"/>
              <a:t>syncwarp</a:t>
            </a:r>
            <a:r>
              <a:rPr lang="en-US" sz="1600" noProof="0" dirty="0"/>
              <a:t>() instead of __</a:t>
            </a:r>
            <a:r>
              <a:rPr lang="en-US" sz="1600" noProof="0" dirty="0" err="1"/>
              <a:t>syncthreads</a:t>
            </a:r>
            <a:r>
              <a:rPr lang="en-US" sz="1600" noProof="0" dirty="0"/>
              <a:t>() (avoids deadlock)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Non-symmetric collision: zero atomics, all forces in registers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Trades 2× FLOPs for zero contention (net win on Maxwell)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Single precision + --</a:t>
            </a:r>
            <a:r>
              <a:rPr lang="en-US" sz="1600" noProof="0" dirty="0" err="1"/>
              <a:t>use_fast_math</a:t>
            </a:r>
            <a:r>
              <a:rPr lang="en-US" sz="1600" noProof="0" dirty="0"/>
              <a:t> (FP64:FP32 = 1:32 on Maxwell)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ALU tricks: </a:t>
            </a:r>
            <a:r>
              <a:rPr lang="en-US" sz="1600" noProof="0" dirty="0" err="1"/>
              <a:t>rsqrtf</a:t>
            </a:r>
            <a:r>
              <a:rPr lang="en-US" sz="1600" noProof="0" dirty="0"/>
              <a:t> pattern, branchless clamping (FMNMX),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 err="1"/>
              <a:t>murmurhash</a:t>
            </a:r>
            <a:r>
              <a:rPr lang="en-US" sz="1600" noProof="0" dirty="0"/>
              <a:t> PRNG, quaternion Rodrigues (15 FMA vs 27 </a:t>
            </a:r>
            <a:r>
              <a:rPr lang="en-US" sz="1600" noProof="0" dirty="0" err="1"/>
              <a:t>matmul</a:t>
            </a:r>
            <a:r>
              <a:rPr lang="en-US" sz="1600" noProof="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19D8B-CFEE-A987-3724-FCA999822B9E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A4889CEB-59DD-7CD1-1954-869DD752B722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12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GPU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Spatial Hashing - Multi-Stream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8046720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Spatial Hashing and Uniform Grid: O(N²) → O(</a:t>
            </a:r>
            <a:r>
              <a:rPr lang="en-US" sz="1600" noProof="0" dirty="0" err="1"/>
              <a:t>N·k</a:t>
            </a:r>
            <a:r>
              <a:rPr lang="en-US" sz="1600" noProof="0" dirty="0"/>
              <a:t>) collision detection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Prime hash: (cx·73856093) ⊕ (cy·19349663) ⊕ (cz·83492791)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Compact table: nextPowerOf2(N×8) → ~256 KB vs ~75 MB full domain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CUB </a:t>
            </a:r>
            <a:r>
              <a:rPr lang="en-US" sz="1600" noProof="0" dirty="0" err="1"/>
              <a:t>DeviceRadixSort</a:t>
            </a:r>
            <a:r>
              <a:rPr lang="en-US" sz="1600" noProof="0" dirty="0"/>
              <a:t> with bit-count limiting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Cell Boundaries: Index pointers store the start and end of each cell to quickly locate neighboring particles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Interaction Kernel: One thread per particle evaluates physical contact forces within neighboring cells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Multi-Stream Pipeline: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 err="1"/>
              <a:t>simStream</a:t>
            </a:r>
            <a:r>
              <a:rPr lang="en-US" sz="1600" noProof="0" dirty="0"/>
              <a:t> + </a:t>
            </a:r>
            <a:r>
              <a:rPr lang="en-US" sz="1600" noProof="0" dirty="0" err="1"/>
              <a:t>gridStream</a:t>
            </a:r>
            <a:r>
              <a:rPr lang="en-US" sz="1600" noProof="0" dirty="0"/>
              <a:t> + </a:t>
            </a:r>
            <a:r>
              <a:rPr lang="en-US" sz="1600" noProof="0" dirty="0" err="1"/>
              <a:t>traceStream</a:t>
            </a:r>
            <a:r>
              <a:rPr lang="en-US" sz="1600" noProof="0" dirty="0"/>
              <a:t> (async D2H)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Gated Event Recording: only every 64 frames (saves ~110–165 </a:t>
            </a:r>
            <a:r>
              <a:rPr lang="en-US" sz="1600" noProof="0" dirty="0" err="1"/>
              <a:t>μs</a:t>
            </a:r>
            <a:r>
              <a:rPr lang="en-US" sz="1600" noProof="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A90EB9-96A3-4EC2-4978-749D5F65AE76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0E83DC1F-6937-B62C-0825-3F78C6A718CD}"/>
              </a:ext>
            </a:extLst>
          </p:cNvPr>
          <p:cNvSpPr txBox="1"/>
          <p:nvPr/>
        </p:nvSpPr>
        <p:spPr>
          <a:xfrm>
            <a:off x="4977055" y="251904"/>
            <a:ext cx="39776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i="1" noProof="0" dirty="0">
                <a:solidFill>
                  <a:schemeClr val="bg1"/>
                </a:solidFill>
              </a:rPr>
              <a:t>Simon Green (2010): Particle Simulation using CUDA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527CF2E0-140F-05C6-0A60-8E3395F1CB3E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13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GPU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Adaptive Dual-Path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804672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Small-N path (N ≤ 2048): single mega-fused kernel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Replaces stages 3–6 in one GPU launch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Reduces GPU commands from ~10 to 1 per frame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Forces never transit global memory — stay in registers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Large-N path (N &gt; 2048): 7-stage multi-stream pipeline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Capture → Core update → </a:t>
            </a:r>
            <a:r>
              <a:rPr lang="en-US" sz="1600" noProof="0" dirty="0" err="1"/>
              <a:t>Forces+Tether</a:t>
            </a:r>
            <a:r>
              <a:rPr lang="en-US" sz="1600" noProof="0" dirty="0"/>
              <a:t> → Grid build → Collision → Integrate → Core RB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 err="1"/>
              <a:t>Forces+Tether</a:t>
            </a:r>
            <a:r>
              <a:rPr lang="en-US" sz="1600" noProof="0" dirty="0"/>
              <a:t> ∥ Grid build (concurrent on </a:t>
            </a:r>
            <a:r>
              <a:rPr lang="en-US" sz="1600" noProof="0" dirty="0" err="1"/>
              <a:t>simStream</a:t>
            </a:r>
            <a:r>
              <a:rPr lang="en-US" sz="1600" noProof="0" dirty="0"/>
              <a:t> / </a:t>
            </a:r>
            <a:r>
              <a:rPr lang="en-US" sz="1600" noProof="0" dirty="0" err="1"/>
              <a:t>gridStream</a:t>
            </a:r>
            <a:r>
              <a:rPr lang="en-US" sz="1600" noProof="0" dirty="0"/>
              <a:t>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Fork/join via </a:t>
            </a:r>
            <a:r>
              <a:rPr lang="en-US" sz="1600" noProof="0" dirty="0" err="1"/>
              <a:t>cudaEventDisableTiming</a:t>
            </a:r>
            <a:r>
              <a:rPr lang="en-US" sz="1600" noProof="0" dirty="0"/>
              <a:t> events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Threshold N=2048 chosen empirically: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Below: launch overhead &gt; brute-force O(N²) cost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Above: grid-based O(</a:t>
            </a:r>
            <a:r>
              <a:rPr lang="en-US" sz="1600" noProof="0" dirty="0" err="1"/>
              <a:t>N·k</a:t>
            </a:r>
            <a:r>
              <a:rPr lang="en-US" sz="1600" noProof="0" dirty="0"/>
              <a:t>) justifies build overhead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43AA3E-AB53-6646-84B6-ADF58E573DF9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6379A2E7-B2C1-05A1-3027-C2D50719161F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14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499857-2AD7-617A-4619-3F88B0C76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DBB30E-052E-4B45-0A07-0931686FFFC6}"/>
              </a:ext>
            </a:extLst>
          </p:cNvPr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Multi-Stream Fork/Join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F6E17-2D9F-74CE-0E20-E24064721D47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GPU Pipeline Large-N Stages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DF30CE-4108-CF6D-AE93-CA67447EA82F}"/>
              </a:ext>
            </a:extLst>
          </p:cNvPr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Multi-Stream Fork/Join Architecture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81C1056-50F8-D18C-8C21-BEE90F6B6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691853"/>
              </p:ext>
            </p:extLst>
          </p:nvPr>
        </p:nvGraphicFramePr>
        <p:xfrm>
          <a:off x="365760" y="1828800"/>
          <a:ext cx="8412480" cy="2926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8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59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Stage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Kernel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Stream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Block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Particles Capture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captureFromSnowpack</a:t>
                      </a:r>
                      <a:endParaRPr lang="en-US" noProof="0" dirty="0"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sim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Core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host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Forces + Tether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forceTether</a:t>
                      </a:r>
                      <a:endParaRPr lang="en-US" noProof="0" dirty="0"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sim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Grid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hash→sort→ranges</a:t>
                      </a:r>
                      <a:endParaRPr lang="en-US" noProof="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Collision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neighborCollision</a:t>
                      </a:r>
                      <a:endParaRPr lang="en-US" noProof="0" dirty="0"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sim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512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Integrate + Ground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integrateGround</a:t>
                      </a:r>
                      <a:endParaRPr lang="en-US" noProof="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6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Core Rigid Body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host code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BA40697-8692-A772-E286-392C3D3DA13B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1517153D-F39B-4443-57E1-74866DE285CF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15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1562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76B900"/>
                </a:solidFill>
              </a:defRPr>
            </a:pPr>
            <a:r>
              <a:rPr lang="it-IT" dirty="0"/>
              <a:t>Kernel Fusion Architecture</a:t>
            </a:r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GPU Pipeline Small-N Stages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2DF38A-8702-BD04-3C34-08D0CD07A4F7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F680A3-16B5-7C2B-9B16-6DE249FAB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196056"/>
              </p:ext>
            </p:extLst>
          </p:nvPr>
        </p:nvGraphicFramePr>
        <p:xfrm>
          <a:off x="365760" y="1828800"/>
          <a:ext cx="8412480" cy="18288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8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59"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#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Stage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Kernel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Stream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Block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Particles Capture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captureFromSnowpack</a:t>
                      </a:r>
                      <a:endParaRPr lang="en-US" noProof="0" dirty="0"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sim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Core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host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3 – 4 – 5 - 6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Fusion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 err="1"/>
                        <a:t>shellPhysicsFused</a:t>
                      </a:r>
                      <a:endParaRPr lang="en-US" noProof="0" dirty="0"/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sim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6"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Core Rigid Body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host code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3">
            <a:extLst>
              <a:ext uri="{FF2B5EF4-FFF2-40B4-BE49-F238E27FC236}">
                <a16:creationId xmlns:a16="http://schemas.microsoft.com/office/drawing/2014/main" id="{22D50366-AE56-DEE9-0E3E-F9CDA172D1A3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16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Two Maxwell-class test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Two Maxwell-class test platforms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428793"/>
              </p:ext>
            </p:extLst>
          </p:nvPr>
        </p:nvGraphicFramePr>
        <p:xfrm>
          <a:off x="365760" y="1828800"/>
          <a:ext cx="841248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6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Spec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Laptop (GTX 960M)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Jetson Nano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CPU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Intel i7-6700HQ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ARM Cortex-A57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CPU Cores/Threads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4 /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4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GPU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GeForce GTX 960M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Tegra X1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Compute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SM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SM 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SMs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CUDA Cores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L2 Cache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 MB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256 KB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6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Memory BW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~30 GB/s (GDDR5)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~25.6 GB/s (LPDDR4)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FE8F875-7EA4-FA19-E9B5-FC726EECA32F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B129784C-DDFA-74B0-FB5E-718729E63CA7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17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Results - GTX 960M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Per-Kernel Timing at N = 100K (Fused Regime)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27835"/>
            <a:ext cx="8046720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At N=10⁵, GPU consistently yields lower FPS than CPU baselines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Shell never exceeds ~2,048 particles → single thread-block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Only 1 of 5 SMs utilized → 80% of GPU idle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Fixed costs (launch, sync, PCIe) = 35–50% of frame time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CPU advantage: deep </a:t>
            </a:r>
            <a:r>
              <a:rPr lang="en-US" sz="1600" noProof="0" dirty="0" err="1"/>
              <a:t>OoO</a:t>
            </a:r>
            <a:r>
              <a:rPr lang="en-US" sz="1600" noProof="0" dirty="0"/>
              <a:t> pipeline, large L3 cache keeps all data in cache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SIMD: 4-wide AVX vectorization → peak 11,174 FPS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Key insight: GPU parallelism only pays off once workload amortizes launch and transfer overheads and if is sufficient «big»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Crossover: between N=100K and N=500K on this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DAB2A1-2D23-96BD-D552-F049B00C56B7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3A526378-FAA9-72CC-FDC8-31CF79DC8E74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18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Results - GTX 960M Scenarios </a:t>
            </a:r>
            <a:r>
              <a:rPr lang="en-US" sz="3200" noProof="0" dirty="0"/>
              <a:t>N=10⁵</a:t>
            </a:r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C17F2-DF8E-C140-7F68-D3F61DF512F7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7489D17-F017-96F8-B15B-1B642A7413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2464" y="1960750"/>
            <a:ext cx="8117186" cy="403299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70F6A02-B353-79C0-DA88-17E0EC2EA6D7}"/>
              </a:ext>
            </a:extLst>
          </p:cNvPr>
          <p:cNvSpPr txBox="1"/>
          <p:nvPr/>
        </p:nvSpPr>
        <p:spPr>
          <a:xfrm>
            <a:off x="457200" y="1188720"/>
            <a:ext cx="82296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GPU parallelism only pays off once workload amortizes launch and transfer overheads and if is sufficient “big”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BA679A-D29E-B988-FE6A-38A1F0744810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19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Results - GTX 960M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GPU vs SIMD CPU - Speedup grows with particle count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340138"/>
              </p:ext>
            </p:extLst>
          </p:nvPr>
        </p:nvGraphicFramePr>
        <p:xfrm>
          <a:off x="365760" y="1614487"/>
          <a:ext cx="84124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SIMD (FPS)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GPU (FPS)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SIMD (</a:t>
                      </a:r>
                      <a:r>
                        <a:rPr lang="en-US" noProof="0" dirty="0" err="1"/>
                        <a:t>ms</a:t>
                      </a:r>
                      <a:r>
                        <a:rPr lang="en-US" noProof="0" dirty="0"/>
                        <a:t>/f)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GPU (</a:t>
                      </a:r>
                      <a:r>
                        <a:rPr lang="en-US" noProof="0" dirty="0" err="1"/>
                        <a:t>ms</a:t>
                      </a:r>
                      <a:r>
                        <a:rPr lang="en-US" noProof="0" dirty="0"/>
                        <a:t>/f)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Speedup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500K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1,706.6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3,097.8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0.586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0.323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1.8×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555.8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2,404.5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1.799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0.416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4.3×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62.1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664.7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16.10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1.505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10.7×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291.1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42.55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3.435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12.4×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53125"/>
            <a:ext cx="8229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76B900"/>
                </a:solidFill>
              </a:defRPr>
            </a:pPr>
            <a:r>
              <a:rPr lang="en-US" noProof="0" dirty="0"/>
              <a:t>→ 12.4× speedup at N=10M: GPU's O(</a:t>
            </a:r>
            <a:r>
              <a:rPr lang="en-US" noProof="0" dirty="0" err="1"/>
              <a:t>N·k</a:t>
            </a:r>
            <a:r>
              <a:rPr lang="en-US" noProof="0" dirty="0"/>
              <a:t>) grid-based collision scales far better than CPU's O(N²)</a:t>
            </a:r>
          </a:p>
          <a:p>
            <a:pPr algn="l">
              <a:defRPr sz="1400">
                <a:solidFill>
                  <a:srgbClr val="76B900"/>
                </a:solidFill>
              </a:defRPr>
            </a:pPr>
            <a:r>
              <a:rPr lang="en-US" noProof="0" dirty="0"/>
              <a:t>→ Overhead never exceeds 3% of frame time at large scale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151D5E-D4A0-94C9-61C4-365E01ADF89E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4C2081-B0AF-F18E-3FE4-DBF306F2A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65760" y="3660088"/>
            <a:ext cx="4101466" cy="22592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43706D-574D-C319-FFA7-18590462A3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76775" y="3657358"/>
            <a:ext cx="4101465" cy="2257765"/>
          </a:xfrm>
          <a:prstGeom prst="rect">
            <a:avLst/>
          </a:prstGeom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DF07614D-111E-5184-CEB8-CB771DCD6A7C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Results - Jetson Nano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Unified Memory: GPU Wins at Small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99285"/>
            <a:ext cx="8046720" cy="2600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At N=10⁵: GPU slightly outperforms CPU in all scenarios (vs GTX result)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Unified memory eliminates PCIe transfer overhead entirely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Kernel launch overhead: only 11–18% of frame time (vs 35–50% on GTX)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Scaling bottleneck at large N: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Single SM (128 cores, max 2048 threads) → serializes collision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N=5M: collision kernel 174.9 </a:t>
            </a:r>
            <a:r>
              <a:rPr lang="en-US" sz="1600" noProof="0" dirty="0" err="1"/>
              <a:t>ms</a:t>
            </a:r>
            <a:r>
              <a:rPr lang="en-US" sz="1600" noProof="0" dirty="0"/>
              <a:t> (GPU) vs 37.0 </a:t>
            </a:r>
            <a:r>
              <a:rPr lang="en-US" sz="1600" noProof="0" dirty="0" err="1"/>
              <a:t>ms</a:t>
            </a:r>
            <a:r>
              <a:rPr lang="en-US" sz="1600" noProof="0" dirty="0"/>
              <a:t> (4-core SIMD CPU)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GPU speedup inverts: 0.3× at N=5M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3EA575-5164-5BFD-78BF-6001D27D5174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4F3ABDBF-A37F-0A70-0EBC-2428A2019FC7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76B900"/>
                </a:solidFill>
              </a:rPr>
              <a:t>21</a:t>
            </a:r>
            <a:endParaRPr lang="en-US" sz="1200" noProof="0" dirty="0">
              <a:solidFill>
                <a:srgbClr val="76B9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F2272-05F9-0B9D-BCAD-36D1674AA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6DE4A4-BE0E-794C-3312-E66A7041BB50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Results - Jetson Nano Scenarios </a:t>
            </a:r>
            <a:r>
              <a:rPr lang="en-US" sz="3200" noProof="0" dirty="0"/>
              <a:t>N=10⁵</a:t>
            </a:r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BF3EF2-9287-8E86-525A-60C5173FB986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03D58DA-CD88-0FFE-4AA5-65C8CCAE0C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23849" y="1836583"/>
            <a:ext cx="8486775" cy="419763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674E68-90C1-8F32-525D-4C306EC37E0B}"/>
              </a:ext>
            </a:extLst>
          </p:cNvPr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Unified Memory: GPU Wins at Small 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BBFC9E-2FD7-98B4-CC55-9D37095E50EF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893689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43C28D-D954-56A6-AE80-0C70E45B0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C3089E-83E6-D7CD-AE16-AF66A940B467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Results - Jetson Nano Scaling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DD8A76-4428-BD6E-850D-17C446E8FDBC}"/>
              </a:ext>
            </a:extLst>
          </p:cNvPr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Single SM bottleneck at large 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F161D1-D825-D985-43E1-117724952732}"/>
              </a:ext>
            </a:extLst>
          </p:cNvPr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Single SM bottleneck at large 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713FD6-0C62-0A83-A3A3-D79700C510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657616"/>
              </p:ext>
            </p:extLst>
          </p:nvPr>
        </p:nvGraphicFramePr>
        <p:xfrm>
          <a:off x="365760" y="1659255"/>
          <a:ext cx="84124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N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SIMD (FPS)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GPU (FPS)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SIMD (</a:t>
                      </a:r>
                      <a:r>
                        <a:rPr lang="en-US" noProof="0" dirty="0" err="1"/>
                        <a:t>ms</a:t>
                      </a:r>
                      <a:r>
                        <a:rPr lang="en-US" noProof="0" dirty="0"/>
                        <a:t>/f)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GPU (</a:t>
                      </a:r>
                      <a:r>
                        <a:rPr lang="en-US" noProof="0" dirty="0" err="1"/>
                        <a:t>ms</a:t>
                      </a:r>
                      <a:r>
                        <a:rPr lang="en-US" noProof="0" dirty="0"/>
                        <a:t>/f)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rPr lang="en-US" noProof="0" dirty="0"/>
                        <a:t>Speedup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500K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382.0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635.4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2.618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1.574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1.7×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156.9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162.8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6.372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6.144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1.0×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5M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17.4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5.6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57.31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177.95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0.3×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444444"/>
                          </a:solidFill>
                        </a:defRPr>
                      </a:pPr>
                      <a:r>
                        <a:rPr lang="en-US" noProof="0" dirty="0"/>
                        <a:t>OOM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E8921EE-1FF5-9FC4-CB92-FCADB1CFEF91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57E509-75BB-C67F-5824-AC43781B7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831538"/>
            <a:ext cx="4147144" cy="22592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0459C5-B5BD-5443-08AC-35DB9280B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095" y="3828808"/>
            <a:ext cx="4147144" cy="2257765"/>
          </a:xfrm>
          <a:prstGeom prst="rect">
            <a:avLst/>
          </a:prstGeom>
        </p:spPr>
      </p:pic>
      <p:sp>
        <p:nvSpPr>
          <p:cNvPr id="7" name="TextBox 3">
            <a:extLst>
              <a:ext uri="{FF2B5EF4-FFF2-40B4-BE49-F238E27FC236}">
                <a16:creationId xmlns:a16="http://schemas.microsoft.com/office/drawing/2014/main" id="{5B8ADEAA-57E8-E788-E6DA-213CA429834A}"/>
              </a:ext>
            </a:extLst>
          </p:cNvPr>
          <p:cNvSpPr txBox="1"/>
          <p:nvPr/>
        </p:nvSpPr>
        <p:spPr>
          <a:xfrm>
            <a:off x="548640" y="6128385"/>
            <a:ext cx="8046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r>
              <a:rPr lang="en-US" sz="1600" noProof="0" dirty="0">
                <a:solidFill>
                  <a:srgbClr val="76B900"/>
                </a:solidFill>
              </a:rPr>
              <a:t>Key insight: multi-SM GPUs (GTX 960M with 5 SMs) mitigate single-SM saturation at large N</a:t>
            </a:r>
          </a:p>
        </p:txBody>
      </p:sp>
      <p:sp>
        <p:nvSpPr>
          <p:cNvPr id="9" name="TextBox 3">
            <a:extLst>
              <a:ext uri="{FF2B5EF4-FFF2-40B4-BE49-F238E27FC236}">
                <a16:creationId xmlns:a16="http://schemas.microsoft.com/office/drawing/2014/main" id="{93E78859-7990-4DEB-51A6-A34F5177AF23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64411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Final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Performance Analysis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4985"/>
            <a:ext cx="8046720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GTX 960M (5 SMs):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CPU wins at N ≤ 100K (launch overhead dominates)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GPU crossover at N ~ 500K → reaches 12.4× at N=10M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Grid-based O(</a:t>
            </a:r>
            <a:r>
              <a:rPr lang="en-US" sz="1600" noProof="0" dirty="0" err="1"/>
              <a:t>N·k</a:t>
            </a:r>
            <a:r>
              <a:rPr lang="en-US" sz="1600" noProof="0" dirty="0"/>
              <a:t>) collision is the key scalability enabler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Jetson Nano (1 SM):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GPU wins at small N (no PCIe overhead)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Single SM saturates at N ≥ 1M → CPU catches up and overtakes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Both platforms: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Overhead (launch, sync, transfers) &lt; 3% at scale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Mega-fused kernel essential for small-N performance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Architecture-aware tuning &gt;&gt; generic optimization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EBE190-072D-0224-C997-DA0616009A2E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3BC16755-8AD3-9A6D-DEC7-66353B92170D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80235"/>
            <a:ext cx="804672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Architecture-aware optimization matters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Every register, KB of shared memory, and kernel launch is measurable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Warp-cooperative tiling, zero-spill allocation, gated events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→ all responses to specific Maxwell bottlenecks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Adaptive fusion pays off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Mega-fused (N≤2048) → seamless transition to grid-based (N&gt;2048)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Eliminates launch overhead during initial growth phase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Zero spill &gt; 100% occupancy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62.5–75% occupancy acceptable to avoid DRAM spill (~300 cycles)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Better real-world performance than forcing higher occupancy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75B881-AF72-5873-6787-96170EB7BF31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F85360D8-691E-6213-9263-1767B3E17FB4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6B900"/>
                </a:solidFill>
              </a:defRPr>
            </a:pPr>
            <a:r>
              <a:rPr lang="en-US" noProof="0" dirty="0"/>
              <a:t>Extensions and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94485"/>
            <a:ext cx="8046720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Multi-GPU / Domain Decomposition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Partition spatial grid across GPUs via halo exchange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Theoretical analysis discussed in the paper attachment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Persistent-Contact DEM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Track tangential spring history across frames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More accurate friction modelling (additional per-pair state)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3D Terrain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Height-map or mesh-based terrain for realistic mountain geometry</a:t>
            </a:r>
          </a:p>
          <a:p>
            <a:pPr>
              <a:spcAft>
                <a:spcPts val="600"/>
              </a:spcAft>
              <a:defRPr sz="1600">
                <a:solidFill>
                  <a:srgbClr val="CCCCCC"/>
                </a:solidFill>
              </a:defRPr>
            </a:pPr>
            <a:endParaRPr lang="en-US" sz="1600" noProof="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CCCCCC"/>
                </a:solidFill>
              </a:defRPr>
            </a:pPr>
            <a:r>
              <a:rPr lang="en-US" sz="1600" noProof="0" dirty="0"/>
              <a:t>Volta+ Optimizations (SM 7.0+)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Hardware </a:t>
            </a:r>
            <a:r>
              <a:rPr lang="en-US" sz="1600" noProof="0" dirty="0" err="1"/>
              <a:t>atomicAdd</a:t>
            </a:r>
            <a:r>
              <a:rPr lang="en-US" sz="1600" noProof="0" dirty="0"/>
              <a:t>(float) → symmetric collision viable again</a:t>
            </a:r>
          </a:p>
          <a:p>
            <a:pPr lvl="1"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rPr lang="en-US" sz="1600" noProof="0" dirty="0"/>
              <a:t>Cooperative groups replace warp-level synchronization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EF2DEA-40C2-8E19-C22F-B93EFF5E7CC2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3A5931C7-8D0C-3D22-21DE-FED36CB472FF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7E08AD-05EE-8034-16DB-F04602B06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2171455-5BD0-9740-0989-BD986FE61769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  <p:pic>
        <p:nvPicPr>
          <p:cNvPr id="7" name="Angry Santa">
            <a:hlinkClick r:id="" action="ppaction://media"/>
            <a:extLst>
              <a:ext uri="{FF2B5EF4-FFF2-40B4-BE49-F238E27FC236}">
                <a16:creationId xmlns:a16="http://schemas.microsoft.com/office/drawing/2014/main" id="{7EBB8C23-EF6D-980B-74CF-10AC3787D21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942251"/>
            <a:ext cx="9144000" cy="5121275"/>
          </a:xfrm>
          <a:prstGeom prst="rect">
            <a:avLst/>
          </a:prstGeom>
        </p:spPr>
      </p:pic>
      <p:sp>
        <p:nvSpPr>
          <p:cNvPr id="9" name="TextBox 1">
            <a:extLst>
              <a:ext uri="{FF2B5EF4-FFF2-40B4-BE49-F238E27FC236}">
                <a16:creationId xmlns:a16="http://schemas.microsoft.com/office/drawing/2014/main" id="{08AE7861-D00B-467D-1050-01BE02D34E6D}"/>
              </a:ext>
            </a:extLst>
          </p:cNvPr>
          <p:cNvSpPr txBox="1"/>
          <p:nvPr/>
        </p:nvSpPr>
        <p:spPr>
          <a:xfrm>
            <a:off x="457200" y="365760"/>
            <a:ext cx="8229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 lang="en-US" noProof="0" dirty="0"/>
              <a:t>Video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1B646DB-AA29-EB38-D751-84613154F0CD}"/>
              </a:ext>
            </a:extLst>
          </p:cNvPr>
          <p:cNvSpPr txBox="1"/>
          <p:nvPr/>
        </p:nvSpPr>
        <p:spPr>
          <a:xfrm>
            <a:off x="8646132" y="6498870"/>
            <a:ext cx="3417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noProof="0" dirty="0">
                <a:solidFill>
                  <a:srgbClr val="76B900"/>
                </a:solidFill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192713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758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43185"/>
            <a:ext cx="7315200" cy="1518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rPr lang="en-US" noProof="0" dirty="0"/>
              <a:t>Thank You</a:t>
            </a:r>
          </a:p>
          <a:p>
            <a:pPr algn="ctr">
              <a:spcBef>
                <a:spcPts val="2000"/>
              </a:spcBef>
              <a:defRPr sz="3200">
                <a:solidFill>
                  <a:srgbClr val="76B900"/>
                </a:solidFill>
              </a:defRPr>
            </a:pPr>
            <a:r>
              <a:rPr lang="en-US" noProof="0" dirty="0"/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447493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009BD5"/>
                </a:solidFill>
              </a:defRPr>
            </a:pPr>
            <a:r>
              <a:rPr lang="en-US" noProof="0" dirty="0"/>
              <a:t>Code: github.com/politos336145/GPU-Programming-2025-2026</a:t>
            </a:r>
          </a:p>
          <a:p>
            <a:pPr algn="ctr">
              <a:defRPr sz="1400">
                <a:solidFill>
                  <a:srgbClr val="CCCCCC"/>
                </a:solidFill>
              </a:defRPr>
            </a:pPr>
            <a:r>
              <a:rPr lang="en-US" noProof="0" dirty="0"/>
              <a:t>Contact: s336145@studenti.polito.it</a:t>
            </a:r>
          </a:p>
        </p:txBody>
      </p:sp>
      <p:pic>
        <p:nvPicPr>
          <p:cNvPr id="6" name="Picture 5" descr="People raising hands">
            <a:extLst>
              <a:ext uri="{FF2B5EF4-FFF2-40B4-BE49-F238E27FC236}">
                <a16:creationId xmlns:a16="http://schemas.microsoft.com/office/drawing/2014/main" id="{74812754-6C6C-4F23-127F-40FEACC32A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605" y="1956070"/>
            <a:ext cx="4418790" cy="29458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92BD49-2560-A062-0105-BF5A3482C0AF}"/>
              </a:ext>
            </a:extLst>
          </p:cNvPr>
          <p:cNvSpPr txBox="1"/>
          <p:nvPr/>
        </p:nvSpPr>
        <p:spPr>
          <a:xfrm>
            <a:off x="2439333" y="6503488"/>
            <a:ext cx="42653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76B900"/>
                </a:solidFill>
              </a:rPr>
              <a:t>GPU Programming: Angry Santa - </a:t>
            </a:r>
            <a:r>
              <a:rPr lang="en-US" sz="1200" noProof="0" dirty="0" err="1">
                <a:solidFill>
                  <a:srgbClr val="76B900"/>
                </a:solidFill>
              </a:rPr>
              <a:t>Politecnico</a:t>
            </a:r>
            <a:r>
              <a:rPr lang="en-US" sz="1200" noProof="0" dirty="0">
                <a:solidFill>
                  <a:srgbClr val="76B900"/>
                </a:solidFill>
              </a:rPr>
              <a:t> di Torino 2025/2026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Words>3247</Words>
  <Application>Microsoft Office PowerPoint</Application>
  <PresentationFormat>Presentazione su schermo (4:3)</PresentationFormat>
  <Paragraphs>504</Paragraphs>
  <Slides>29</Slides>
  <Notes>3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6" baseType="lpstr">
      <vt:lpstr>-apple-system</vt:lpstr>
      <vt:lpstr>Aptos</vt:lpstr>
      <vt:lpstr>Arial</vt:lpstr>
      <vt:lpstr>Calibri</vt:lpstr>
      <vt:lpstr>Consolas</vt:lpstr>
      <vt:lpstr>ui-monospace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maurizio</cp:lastModifiedBy>
  <cp:revision>54</cp:revision>
  <dcterms:created xsi:type="dcterms:W3CDTF">2013-01-27T09:14:16Z</dcterms:created>
  <dcterms:modified xsi:type="dcterms:W3CDTF">2026-06-20T15:32:09Z</dcterms:modified>
  <cp:category/>
</cp:coreProperties>
</file>