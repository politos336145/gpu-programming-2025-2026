
<file path=[Content_Types].xml><?xml version="1.0" encoding="utf-8"?>
<Types xmlns="http://schemas.openxmlformats.org/package/2006/content-types"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1"/>
  </p:notesMasterIdLst>
  <p:sldIdLst>
    <p:sldId id="256" r:id="rId2"/>
    <p:sldId id="257" r:id="rId3"/>
    <p:sldId id="258" r:id="rId4"/>
    <p:sldId id="260" r:id="rId5"/>
    <p:sldId id="261" r:id="rId6"/>
    <p:sldId id="285" r:id="rId7"/>
    <p:sldId id="286" r:id="rId8"/>
    <p:sldId id="262" r:id="rId9"/>
    <p:sldId id="270" r:id="rId10"/>
    <p:sldId id="281" r:id="rId11"/>
    <p:sldId id="265" r:id="rId12"/>
    <p:sldId id="269" r:id="rId13"/>
    <p:sldId id="266" r:id="rId14"/>
    <p:sldId id="268" r:id="rId15"/>
    <p:sldId id="263" r:id="rId16"/>
    <p:sldId id="280" r:id="rId17"/>
    <p:sldId id="264" r:id="rId18"/>
    <p:sldId id="271" r:id="rId19"/>
    <p:sldId id="272" r:id="rId20"/>
    <p:sldId id="275" r:id="rId21"/>
    <p:sldId id="273" r:id="rId22"/>
    <p:sldId id="274" r:id="rId23"/>
    <p:sldId id="283" r:id="rId24"/>
    <p:sldId id="282" r:id="rId25"/>
    <p:sldId id="276" r:id="rId26"/>
    <p:sldId id="277" r:id="rId27"/>
    <p:sldId id="278" r:id="rId28"/>
    <p:sldId id="284" r:id="rId29"/>
    <p:sldId id="279" r:id="rId3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CCCC"/>
    <a:srgbClr val="76B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951" autoAdjust="0"/>
    <p:restoredTop sz="80000" autoAdjust="0"/>
  </p:normalViewPr>
  <p:slideViewPr>
    <p:cSldViewPr snapToGrid="0" snapToObjects="1">
      <p:cViewPr>
        <p:scale>
          <a:sx n="89" d="100"/>
          <a:sy n="89" d="100"/>
        </p:scale>
        <p:origin x="1037" y="-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9128B5E-BECB-4940-84BF-68CFE153DCE7}" type="datetimeFigureOut">
              <a:rPr lang="it-IT" smtClean="0"/>
              <a:t>18/06/2026</a:t>
            </a:fld>
            <a:endParaRPr lang="it-I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B220E7-3247-4930-AB79-E58655C1471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3097833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/>
              <a:t>The </a:t>
            </a:r>
            <a:r>
              <a:rPr lang="it-IT" dirty="0" err="1"/>
              <a:t>objective</a:t>
            </a:r>
            <a:r>
              <a:rPr lang="it-IT" dirty="0"/>
              <a:t> of </a:t>
            </a:r>
            <a:r>
              <a:rPr lang="it-IT" dirty="0" err="1"/>
              <a:t>this</a:t>
            </a:r>
            <a:r>
              <a:rPr lang="it-IT" dirty="0"/>
              <a:t> project </a:t>
            </a:r>
            <a:r>
              <a:rPr lang="it-IT" dirty="0" err="1"/>
              <a:t>is</a:t>
            </a:r>
            <a:r>
              <a:rPr lang="it-IT" dirty="0"/>
              <a:t> to </a:t>
            </a:r>
            <a:r>
              <a:rPr lang="it-IT" dirty="0" err="1"/>
              <a:t>explore</a:t>
            </a:r>
            <a:r>
              <a:rPr lang="it-IT" dirty="0"/>
              <a:t> the concepts </a:t>
            </a:r>
            <a:r>
              <a:rPr lang="it-IT" dirty="0" err="1"/>
              <a:t>presented</a:t>
            </a:r>
            <a:r>
              <a:rPr lang="it-IT" dirty="0"/>
              <a:t> in the GPU Programming </a:t>
            </a:r>
            <a:r>
              <a:rPr lang="it-IT" dirty="0" err="1"/>
              <a:t>course</a:t>
            </a:r>
            <a:r>
              <a:rPr lang="it-IT" dirty="0"/>
              <a:t>, </a:t>
            </a:r>
            <a:r>
              <a:rPr lang="it-IT" dirty="0" err="1"/>
              <a:t>including</a:t>
            </a:r>
            <a:r>
              <a:rPr lang="it-IT" dirty="0"/>
              <a:t> </a:t>
            </a:r>
            <a:r>
              <a:rPr lang="it-IT" dirty="0" err="1"/>
              <a:t>parallel</a:t>
            </a:r>
            <a:r>
              <a:rPr lang="it-IT" dirty="0"/>
              <a:t> programming, </a:t>
            </a:r>
            <a:r>
              <a:rPr lang="it-IT" dirty="0" err="1"/>
              <a:t>Flynn's</a:t>
            </a:r>
            <a:r>
              <a:rPr lang="it-IT" dirty="0"/>
              <a:t> </a:t>
            </a:r>
            <a:r>
              <a:rPr lang="it-IT" dirty="0" err="1"/>
              <a:t>taxonomy</a:t>
            </a:r>
            <a:r>
              <a:rPr lang="it-IT" dirty="0"/>
              <a:t>, the Maxwell GPU </a:t>
            </a:r>
            <a:r>
              <a:rPr lang="it-IT" dirty="0" err="1"/>
              <a:t>architecture</a:t>
            </a:r>
            <a:r>
              <a:rPr lang="it-IT" dirty="0"/>
              <a:t>, </a:t>
            </a:r>
            <a:r>
              <a:rPr lang="it-IT" dirty="0" err="1"/>
              <a:t>advanced</a:t>
            </a:r>
            <a:r>
              <a:rPr lang="it-IT" dirty="0"/>
              <a:t> CUDA programming techniques, GPU </a:t>
            </a:r>
            <a:r>
              <a:rPr lang="it-IT" dirty="0" err="1"/>
              <a:t>optimizations</a:t>
            </a:r>
            <a:r>
              <a:rPr lang="it-IT" dirty="0"/>
              <a:t>, the </a:t>
            </a:r>
            <a:r>
              <a:rPr lang="it-IT" dirty="0" err="1"/>
              <a:t>advantages</a:t>
            </a:r>
            <a:r>
              <a:rPr lang="it-IT" dirty="0"/>
              <a:t> and </a:t>
            </a:r>
            <a:r>
              <a:rPr lang="it-IT" dirty="0" err="1"/>
              <a:t>disadvantages</a:t>
            </a:r>
            <a:r>
              <a:rPr lang="it-IT" dirty="0"/>
              <a:t> of </a:t>
            </a:r>
            <a:r>
              <a:rPr lang="it-IT" dirty="0" err="1"/>
              <a:t>atomic</a:t>
            </a:r>
            <a:r>
              <a:rPr lang="it-IT" dirty="0"/>
              <a:t> </a:t>
            </a:r>
            <a:r>
              <a:rPr lang="it-IT" dirty="0" err="1"/>
              <a:t>operations</a:t>
            </a:r>
            <a:r>
              <a:rPr lang="it-IT" dirty="0"/>
              <a:t>, profiling, and the use of </a:t>
            </a:r>
            <a:r>
              <a:rPr lang="it-IT" dirty="0" err="1"/>
              <a:t>several</a:t>
            </a:r>
            <a:r>
              <a:rPr lang="it-IT" dirty="0"/>
              <a:t> GPU-</a:t>
            </a:r>
            <a:r>
              <a:rPr lang="it-IT" dirty="0" err="1"/>
              <a:t>related</a:t>
            </a:r>
            <a:r>
              <a:rPr lang="it-IT" dirty="0"/>
              <a:t> libraries.</a:t>
            </a:r>
          </a:p>
          <a:p>
            <a:r>
              <a:rPr lang="it-IT" dirty="0"/>
              <a:t>To practice </a:t>
            </a:r>
            <a:r>
              <a:rPr lang="it-IT" dirty="0" err="1"/>
              <a:t>as</a:t>
            </a:r>
            <a:r>
              <a:rPr lang="it-IT" dirty="0"/>
              <a:t> </a:t>
            </a:r>
            <a:r>
              <a:rPr lang="it-IT" dirty="0" err="1"/>
              <a:t>many</a:t>
            </a:r>
            <a:r>
              <a:rPr lang="it-IT" dirty="0"/>
              <a:t> of </a:t>
            </a:r>
            <a:r>
              <a:rPr lang="it-IT" dirty="0" err="1"/>
              <a:t>these</a:t>
            </a:r>
            <a:r>
              <a:rPr lang="it-IT" dirty="0"/>
              <a:t> concepts </a:t>
            </a:r>
            <a:r>
              <a:rPr lang="it-IT" dirty="0" err="1"/>
              <a:t>as</a:t>
            </a:r>
            <a:r>
              <a:rPr lang="it-IT" dirty="0"/>
              <a:t> </a:t>
            </a:r>
            <a:r>
              <a:rPr lang="it-IT" dirty="0" err="1"/>
              <a:t>possible</a:t>
            </a:r>
            <a:r>
              <a:rPr lang="it-IT" dirty="0"/>
              <a:t>, a </a:t>
            </a:r>
            <a:r>
              <a:rPr lang="it-IT" dirty="0" err="1"/>
              <a:t>simulation</a:t>
            </a:r>
            <a:r>
              <a:rPr lang="it-IT" dirty="0"/>
              <a:t> of a </a:t>
            </a:r>
            <a:r>
              <a:rPr lang="it-IT" dirty="0" err="1"/>
              <a:t>physical</a:t>
            </a:r>
            <a:r>
              <a:rPr lang="it-IT" dirty="0"/>
              <a:t> </a:t>
            </a:r>
            <a:r>
              <a:rPr lang="it-IT" dirty="0" err="1"/>
              <a:t>process</a:t>
            </a:r>
            <a:r>
              <a:rPr lang="it-IT" dirty="0"/>
              <a:t>—a </a:t>
            </a:r>
            <a:r>
              <a:rPr lang="it-IT" dirty="0" err="1"/>
              <a:t>snowball</a:t>
            </a:r>
            <a:r>
              <a:rPr lang="it-IT" dirty="0"/>
              <a:t> </a:t>
            </a:r>
            <a:r>
              <a:rPr lang="it-IT" dirty="0" err="1"/>
              <a:t>rolling</a:t>
            </a:r>
            <a:r>
              <a:rPr lang="it-IT" dirty="0"/>
              <a:t> down an </a:t>
            </a:r>
            <a:r>
              <a:rPr lang="it-IT" dirty="0" err="1"/>
              <a:t>inclined</a:t>
            </a:r>
            <a:r>
              <a:rPr lang="it-IT" dirty="0"/>
              <a:t> </a:t>
            </a:r>
            <a:r>
              <a:rPr lang="it-IT" dirty="0" err="1"/>
              <a:t>plane</a:t>
            </a:r>
            <a:r>
              <a:rPr lang="it-IT" dirty="0"/>
              <a:t>—</a:t>
            </a:r>
            <a:r>
              <a:rPr lang="it-IT" dirty="0" err="1"/>
              <a:t>was</a:t>
            </a:r>
            <a:r>
              <a:rPr lang="it-IT" dirty="0"/>
              <a:t> </a:t>
            </a:r>
            <a:r>
              <a:rPr lang="it-IT" dirty="0" err="1"/>
              <a:t>implemented</a:t>
            </a:r>
            <a:r>
              <a:rPr lang="it-IT" dirty="0"/>
              <a:t> </a:t>
            </a:r>
            <a:r>
              <a:rPr lang="it-IT" dirty="0" err="1"/>
              <a:t>as</a:t>
            </a:r>
            <a:r>
              <a:rPr lang="it-IT" dirty="0"/>
              <a:t> </a:t>
            </a:r>
            <a:r>
              <a:rPr lang="it-IT" dirty="0" err="1"/>
              <a:t>if</a:t>
            </a:r>
            <a:r>
              <a:rPr lang="it-IT" dirty="0"/>
              <a:t> </a:t>
            </a:r>
            <a:r>
              <a:rPr lang="it-IT" dirty="0" err="1"/>
              <a:t>it</a:t>
            </a:r>
            <a:r>
              <a:rPr lang="it-IT" dirty="0"/>
              <a:t> </a:t>
            </a:r>
            <a:r>
              <a:rPr lang="it-IT" dirty="0" err="1"/>
              <a:t>were</a:t>
            </a:r>
            <a:r>
              <a:rPr lang="it-IT" dirty="0"/>
              <a:t> a component of a real-time graphics </a:t>
            </a:r>
            <a:r>
              <a:rPr lang="it-IT" dirty="0" err="1"/>
              <a:t>engine</a:t>
            </a:r>
            <a:r>
              <a:rPr lang="it-IT" dirty="0"/>
              <a:t> for video games. </a:t>
            </a:r>
            <a:r>
              <a:rPr lang="it-IT" dirty="0" err="1"/>
              <a:t>Since</a:t>
            </a:r>
            <a:r>
              <a:rPr lang="it-IT" dirty="0"/>
              <a:t> the </a:t>
            </a:r>
            <a:r>
              <a:rPr lang="it-IT" dirty="0" err="1"/>
              <a:t>course</a:t>
            </a:r>
            <a:r>
              <a:rPr lang="it-IT" dirty="0"/>
              <a:t> </a:t>
            </a:r>
            <a:r>
              <a:rPr lang="it-IT" dirty="0" err="1"/>
              <a:t>took</a:t>
            </a:r>
            <a:r>
              <a:rPr lang="it-IT" dirty="0"/>
              <a:t> place </a:t>
            </a:r>
            <a:r>
              <a:rPr lang="it-IT" dirty="0" err="1"/>
              <a:t>during</a:t>
            </a:r>
            <a:r>
              <a:rPr lang="it-IT" dirty="0"/>
              <a:t> the winter season, a </a:t>
            </a:r>
            <a:r>
              <a:rPr lang="it-IT" dirty="0" err="1"/>
              <a:t>humorous</a:t>
            </a:r>
            <a:r>
              <a:rPr lang="it-IT" dirty="0"/>
              <a:t> scenario </a:t>
            </a:r>
            <a:r>
              <a:rPr lang="it-IT" dirty="0" err="1"/>
              <a:t>was</a:t>
            </a:r>
            <a:r>
              <a:rPr lang="it-IT" dirty="0"/>
              <a:t> </a:t>
            </a:r>
            <a:r>
              <a:rPr lang="it-IT" dirty="0" err="1"/>
              <a:t>devised</a:t>
            </a:r>
            <a:r>
              <a:rPr lang="it-IT" dirty="0"/>
              <a:t> in </a:t>
            </a:r>
            <a:r>
              <a:rPr lang="it-IT" dirty="0" err="1"/>
              <a:t>which</a:t>
            </a:r>
            <a:r>
              <a:rPr lang="it-IT" dirty="0"/>
              <a:t> Santa Claus, </a:t>
            </a:r>
            <a:r>
              <a:rPr lang="it-IT" dirty="0" err="1"/>
              <a:t>tired</a:t>
            </a:r>
            <a:r>
              <a:rPr lang="it-IT" dirty="0"/>
              <a:t> and </a:t>
            </a:r>
            <a:r>
              <a:rPr lang="it-IT" dirty="0" err="1"/>
              <a:t>frustrated</a:t>
            </a:r>
            <a:r>
              <a:rPr lang="it-IT" dirty="0"/>
              <a:t> by </a:t>
            </a:r>
            <a:r>
              <a:rPr lang="it-IT" dirty="0" err="1"/>
              <a:t>his</a:t>
            </a:r>
            <a:r>
              <a:rPr lang="it-IT" dirty="0"/>
              <a:t> </a:t>
            </a:r>
            <a:r>
              <a:rPr lang="it-IT" dirty="0" err="1"/>
              <a:t>excessive</a:t>
            </a:r>
            <a:r>
              <a:rPr lang="it-IT" dirty="0"/>
              <a:t> </a:t>
            </a:r>
            <a:r>
              <a:rPr lang="it-IT" dirty="0" err="1"/>
              <a:t>workload</a:t>
            </a:r>
            <a:r>
              <a:rPr lang="it-IT" dirty="0"/>
              <a:t>, rolls a </a:t>
            </a:r>
            <a:r>
              <a:rPr lang="it-IT" dirty="0" err="1"/>
              <a:t>giant</a:t>
            </a:r>
            <a:r>
              <a:rPr lang="it-IT" dirty="0"/>
              <a:t> </a:t>
            </a:r>
            <a:r>
              <a:rPr lang="it-IT" dirty="0" err="1"/>
              <a:t>snowball</a:t>
            </a:r>
            <a:r>
              <a:rPr lang="it-IT" dirty="0"/>
              <a:t> down a </a:t>
            </a:r>
            <a:r>
              <a:rPr lang="it-IT" dirty="0" err="1"/>
              <a:t>slope</a:t>
            </a:r>
            <a:r>
              <a:rPr lang="it-IT" dirty="0"/>
              <a:t>, </a:t>
            </a:r>
            <a:r>
              <a:rPr lang="it-IT" dirty="0" err="1"/>
              <a:t>destroying</a:t>
            </a:r>
            <a:r>
              <a:rPr lang="it-IT" dirty="0"/>
              <a:t> the </a:t>
            </a:r>
            <a:r>
              <a:rPr lang="it-IT" dirty="0" err="1"/>
              <a:t>elves</a:t>
            </a:r>
            <a:r>
              <a:rPr lang="it-IT" dirty="0"/>
              <a:t>' </a:t>
            </a:r>
            <a:r>
              <a:rPr lang="it-IT" dirty="0" err="1"/>
              <a:t>village</a:t>
            </a:r>
            <a:r>
              <a:rPr lang="it-IT" dirty="0"/>
              <a:t>.</a:t>
            </a:r>
          </a:p>
          <a:p>
            <a:r>
              <a:rPr lang="it-IT" dirty="0"/>
              <a:t>The project </a:t>
            </a:r>
            <a:r>
              <a:rPr lang="it-IT" dirty="0" err="1"/>
              <a:t>also</a:t>
            </a:r>
            <a:r>
              <a:rPr lang="it-IT" dirty="0"/>
              <a:t> </a:t>
            </a:r>
            <a:r>
              <a:rPr lang="it-IT" dirty="0" err="1"/>
              <a:t>covered</a:t>
            </a:r>
            <a:r>
              <a:rPr lang="it-IT" dirty="0"/>
              <a:t> rendering techniques </a:t>
            </a:r>
            <a:r>
              <a:rPr lang="it-IT" dirty="0" err="1"/>
              <a:t>using</a:t>
            </a:r>
            <a:r>
              <a:rPr lang="it-IT" dirty="0"/>
              <a:t> the </a:t>
            </a:r>
            <a:r>
              <a:rPr lang="it-IT" dirty="0" err="1"/>
              <a:t>Vulkan</a:t>
            </a:r>
            <a:r>
              <a:rPr lang="it-IT" dirty="0"/>
              <a:t> framework, </a:t>
            </a:r>
            <a:r>
              <a:rPr lang="it-IT" dirty="0" err="1"/>
              <a:t>resulting</a:t>
            </a:r>
            <a:r>
              <a:rPr lang="it-IT" dirty="0"/>
              <a:t> in a </a:t>
            </a:r>
            <a:r>
              <a:rPr lang="it-IT" dirty="0" err="1"/>
              <a:t>basic</a:t>
            </a:r>
            <a:r>
              <a:rPr lang="it-IT" dirty="0"/>
              <a:t> scene </a:t>
            </a:r>
            <a:r>
              <a:rPr lang="it-IT" dirty="0" err="1"/>
              <a:t>composed</a:t>
            </a:r>
            <a:r>
              <a:rPr lang="it-IT" dirty="0"/>
              <a:t> of a camera, </a:t>
            </a:r>
            <a:r>
              <a:rPr lang="it-IT" dirty="0" err="1"/>
              <a:t>geometric</a:t>
            </a:r>
            <a:r>
              <a:rPr lang="it-IT" dirty="0"/>
              <a:t> </a:t>
            </a:r>
            <a:r>
              <a:rPr lang="it-IT" dirty="0" err="1"/>
              <a:t>shapes</a:t>
            </a:r>
            <a:r>
              <a:rPr lang="it-IT" dirty="0"/>
              <a:t>, images, and textures.</a:t>
            </a:r>
          </a:p>
          <a:p>
            <a:endParaRPr lang="it-I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B220E7-3247-4930-AB79-E58655C14711}" type="slidenum">
              <a:rPr lang="it-IT" smtClean="0"/>
              <a:t>3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94729848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B220E7-3247-4930-AB79-E58655C14711}" type="slidenum">
              <a:rPr lang="it-IT" smtClean="0"/>
              <a:t>9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9533412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sz="4000" dirty="0"/>
              <a:t>Green </a:t>
            </a:r>
            <a:r>
              <a:rPr lang="it-IT" sz="4000" dirty="0" err="1"/>
              <a:t>proposes</a:t>
            </a:r>
            <a:r>
              <a:rPr lang="it-IT" sz="4000" dirty="0"/>
              <a:t> </a:t>
            </a:r>
            <a:r>
              <a:rPr lang="it-IT" sz="4000" dirty="0" err="1"/>
              <a:t>dividing</a:t>
            </a:r>
            <a:r>
              <a:rPr lang="it-IT" sz="4000" dirty="0"/>
              <a:t> the </a:t>
            </a:r>
            <a:r>
              <a:rPr lang="it-IT" sz="4000" dirty="0" err="1"/>
              <a:t>three-dimensional</a:t>
            </a:r>
            <a:r>
              <a:rPr lang="it-IT" sz="4000" dirty="0"/>
              <a:t> </a:t>
            </a:r>
            <a:r>
              <a:rPr lang="it-IT" sz="4000" dirty="0" err="1"/>
              <a:t>simulation</a:t>
            </a:r>
            <a:r>
              <a:rPr lang="it-IT" sz="4000" dirty="0"/>
              <a:t> </a:t>
            </a:r>
            <a:r>
              <a:rPr lang="it-IT" sz="4000" dirty="0" err="1"/>
              <a:t>space</a:t>
            </a:r>
            <a:r>
              <a:rPr lang="it-IT" sz="4000" dirty="0"/>
              <a:t> </a:t>
            </a:r>
            <a:r>
              <a:rPr lang="it-IT" sz="4000" dirty="0" err="1"/>
              <a:t>into</a:t>
            </a:r>
            <a:r>
              <a:rPr lang="it-IT" sz="4000" dirty="0"/>
              <a:t> a regular </a:t>
            </a:r>
            <a:r>
              <a:rPr lang="it-IT" sz="4000" dirty="0" err="1"/>
              <a:t>grid</a:t>
            </a:r>
            <a:r>
              <a:rPr lang="it-IT" sz="4000" dirty="0"/>
              <a:t> of </a:t>
            </a:r>
            <a:r>
              <a:rPr lang="it-IT" sz="4000" dirty="0" err="1"/>
              <a:t>cubic</a:t>
            </a:r>
            <a:r>
              <a:rPr lang="it-IT" sz="4000" dirty="0"/>
              <a:t> </a:t>
            </a:r>
            <a:r>
              <a:rPr lang="it-IT" sz="4000" dirty="0" err="1"/>
              <a:t>cells</a:t>
            </a:r>
            <a:r>
              <a:rPr lang="it-IT" sz="4000" dirty="0"/>
              <a:t> (</a:t>
            </a:r>
            <a:r>
              <a:rPr lang="it-IT" sz="4000" dirty="0" err="1"/>
              <a:t>Uniform</a:t>
            </a:r>
            <a:r>
              <a:rPr lang="it-IT" sz="4000" dirty="0"/>
              <a:t> </a:t>
            </a:r>
            <a:r>
              <a:rPr lang="it-IT" sz="4000" dirty="0" err="1"/>
              <a:t>Grid</a:t>
            </a:r>
            <a:r>
              <a:rPr lang="it-IT" sz="4000" dirty="0"/>
              <a:t>), </a:t>
            </a:r>
            <a:r>
              <a:rPr lang="it-IT" sz="4000" dirty="0" err="1"/>
              <a:t>where</a:t>
            </a:r>
            <a:r>
              <a:rPr lang="it-IT" sz="4000" dirty="0"/>
              <a:t> the side </a:t>
            </a:r>
            <a:r>
              <a:rPr lang="it-IT" sz="4000" dirty="0" err="1"/>
              <a:t>length</a:t>
            </a:r>
            <a:r>
              <a:rPr lang="it-IT" sz="4000" dirty="0"/>
              <a:t> of </a:t>
            </a:r>
            <a:r>
              <a:rPr lang="it-IT" sz="4000" dirty="0" err="1"/>
              <a:t>each</a:t>
            </a:r>
            <a:r>
              <a:rPr lang="it-IT" sz="4000" dirty="0"/>
              <a:t> </a:t>
            </a:r>
            <a:r>
              <a:rPr lang="it-IT" sz="4000" dirty="0" err="1"/>
              <a:t>cell</a:t>
            </a:r>
            <a:r>
              <a:rPr lang="it-IT" sz="4000" dirty="0"/>
              <a:t> </a:t>
            </a:r>
            <a:r>
              <a:rPr lang="it-IT" sz="4000" dirty="0" err="1"/>
              <a:t>equals</a:t>
            </a:r>
            <a:r>
              <a:rPr lang="it-IT" sz="4000" dirty="0"/>
              <a:t> the maximum </a:t>
            </a:r>
            <a:r>
              <a:rPr lang="it-IT" sz="4000" dirty="0" err="1"/>
              <a:t>particle</a:t>
            </a:r>
            <a:r>
              <a:rPr lang="it-IT" sz="4000" dirty="0"/>
              <a:t> interaction </a:t>
            </a:r>
            <a:r>
              <a:rPr lang="it-IT" sz="4000" dirty="0" err="1"/>
              <a:t>diameter</a:t>
            </a:r>
            <a:r>
              <a:rPr lang="it-IT" sz="4000" dirty="0"/>
              <a:t>. </a:t>
            </a:r>
            <a:r>
              <a:rPr lang="it-IT" sz="4000" dirty="0" err="1"/>
              <a:t>This</a:t>
            </a:r>
            <a:r>
              <a:rPr lang="it-IT" sz="4000" dirty="0"/>
              <a:t> </a:t>
            </a:r>
            <a:r>
              <a:rPr lang="it-IT" sz="4000" dirty="0" err="1"/>
              <a:t>ensures</a:t>
            </a:r>
            <a:r>
              <a:rPr lang="it-IT" sz="4000" dirty="0"/>
              <a:t> a </a:t>
            </a:r>
            <a:r>
              <a:rPr lang="it-IT" sz="4000" dirty="0" err="1"/>
              <a:t>particle</a:t>
            </a:r>
            <a:r>
              <a:rPr lang="it-IT" sz="4000" dirty="0"/>
              <a:t> can </a:t>
            </a:r>
            <a:r>
              <a:rPr lang="it-IT" sz="4000" dirty="0" err="1"/>
              <a:t>only</a:t>
            </a:r>
            <a:r>
              <a:rPr lang="it-IT" sz="4000" dirty="0"/>
              <a:t> </a:t>
            </a:r>
            <a:r>
              <a:rPr lang="it-IT" sz="4000" dirty="0" err="1"/>
              <a:t>interact</a:t>
            </a:r>
            <a:r>
              <a:rPr lang="it-IT" sz="4000" dirty="0"/>
              <a:t> with </a:t>
            </a:r>
            <a:r>
              <a:rPr lang="it-IT" sz="4000" dirty="0" err="1"/>
              <a:t>elements</a:t>
            </a:r>
            <a:r>
              <a:rPr lang="it-IT" sz="4000" dirty="0"/>
              <a:t> inside </a:t>
            </a:r>
            <a:r>
              <a:rPr lang="it-IT" sz="4000" dirty="0" err="1"/>
              <a:t>its</a:t>
            </a:r>
            <a:r>
              <a:rPr lang="it-IT" sz="4000" dirty="0"/>
              <a:t> </a:t>
            </a:r>
            <a:r>
              <a:rPr lang="it-IT" sz="4000" dirty="0" err="1"/>
              <a:t>own</a:t>
            </a:r>
            <a:r>
              <a:rPr lang="it-IT" sz="4000" dirty="0"/>
              <a:t> </a:t>
            </a:r>
            <a:r>
              <a:rPr lang="it-IT" sz="4000" dirty="0" err="1"/>
              <a:t>cell</a:t>
            </a:r>
            <a:r>
              <a:rPr lang="it-IT" sz="4000" dirty="0"/>
              <a:t> or </a:t>
            </a:r>
            <a:r>
              <a:rPr lang="it-IT" sz="4000" dirty="0" err="1"/>
              <a:t>within</a:t>
            </a:r>
            <a:r>
              <a:rPr lang="it-IT" sz="4000" dirty="0"/>
              <a:t> the 26 </a:t>
            </a:r>
            <a:r>
              <a:rPr lang="it-IT" sz="4000" dirty="0" err="1"/>
              <a:t>adjacent</a:t>
            </a:r>
            <a:r>
              <a:rPr lang="it-IT" sz="4000" dirty="0"/>
              <a:t> </a:t>
            </a:r>
            <a:r>
              <a:rPr lang="it-IT" sz="4000" dirty="0" err="1"/>
              <a:t>cells</a:t>
            </a:r>
            <a:r>
              <a:rPr lang="it-IT" sz="4000" dirty="0"/>
              <a:t>.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B220E7-3247-4930-AB79-E58655C14711}" type="slidenum">
              <a:rPr lang="it-IT" smtClean="0"/>
              <a:t>14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4721758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8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0075" y="521852"/>
            <a:ext cx="8010526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rPr lang="en-US" sz="4800" noProof="0" dirty="0"/>
              <a:t>GPU-Accelerated DEM</a:t>
            </a:r>
          </a:p>
          <a:p>
            <a:pPr algn="ctr">
              <a:defRPr sz="3000" b="1">
                <a:solidFill>
                  <a:srgbClr val="FFFFFF"/>
                </a:solidFill>
              </a:defRPr>
            </a:pPr>
            <a:r>
              <a:rPr lang="en-US" sz="4800" noProof="0" dirty="0"/>
              <a:t>Simulation of a Snowball</a:t>
            </a:r>
          </a:p>
          <a:p>
            <a:pPr algn="ctr">
              <a:defRPr sz="3000" b="1">
                <a:solidFill>
                  <a:srgbClr val="FFFFFF"/>
                </a:solidFill>
              </a:defRPr>
            </a:pPr>
            <a:r>
              <a:rPr lang="en-US" sz="4800" noProof="0" dirty="0"/>
              <a:t>Avalanche Dynamics</a:t>
            </a:r>
          </a:p>
          <a:p>
            <a:pPr algn="ctr">
              <a:defRPr sz="2400" b="0">
                <a:solidFill>
                  <a:srgbClr val="76B900"/>
                </a:solidFill>
              </a:defRPr>
            </a:pPr>
            <a:r>
              <a:rPr lang="en-US" noProof="0" dirty="0"/>
              <a:t>on NVIDIA Maxwell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700034"/>
            <a:ext cx="8229600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>
                <a:solidFill>
                  <a:srgbClr val="CCCCCC"/>
                </a:solidFill>
              </a:defRPr>
            </a:pPr>
            <a:r>
              <a:rPr lang="en-US" noProof="0" dirty="0"/>
              <a:t>Maurizio Grisotto</a:t>
            </a:r>
          </a:p>
          <a:p>
            <a:pPr algn="ctr">
              <a:defRPr sz="1600">
                <a:solidFill>
                  <a:srgbClr val="CCCCCC"/>
                </a:solidFill>
              </a:defRPr>
            </a:pPr>
            <a:r>
              <a:rPr lang="en-US" noProof="0" dirty="0" err="1"/>
              <a:t>Politecnico</a:t>
            </a:r>
            <a:r>
              <a:rPr lang="en-US" noProof="0" dirty="0"/>
              <a:t> di Torino - GPU Programming 2025/2026</a:t>
            </a:r>
          </a:p>
          <a:p>
            <a:pPr algn="ctr">
              <a:defRPr sz="1400">
                <a:solidFill>
                  <a:srgbClr val="009BD5"/>
                </a:solidFill>
              </a:defRPr>
            </a:pPr>
            <a:r>
              <a:rPr lang="en-US" noProof="0" dirty="0"/>
              <a:t>s336145@studenti.polito.it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81394" y="5994185"/>
            <a:ext cx="2781211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76B900"/>
                </a:solidFill>
              </a:defRPr>
            </a:pPr>
            <a:r>
              <a:rPr lang="en-US" sz="2400" noProof="0" dirty="0"/>
              <a:t>Project: Angry Santa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59CEDDE-078D-BA7E-56F1-727C17E5A2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9984" y="5212081"/>
            <a:ext cx="2425105" cy="161673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rPr lang="en-US" noProof="0" dirty="0"/>
              <a:t>Outline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26076"/>
            <a:ext cx="8046720" cy="35855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  <a:defRPr sz="1600">
                <a:solidFill>
                  <a:srgbClr val="CCCCCC"/>
                </a:solidFill>
              </a:defRPr>
            </a:pPr>
            <a:r>
              <a:rPr lang="en-US" sz="2400" noProof="0" dirty="0"/>
              <a:t>Project Overview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  <a:defRPr sz="1600">
                <a:solidFill>
                  <a:srgbClr val="CCCCCC"/>
                </a:solidFill>
              </a:defRPr>
            </a:pPr>
            <a:r>
              <a:rPr lang="en-US" sz="2400" noProof="0" dirty="0"/>
              <a:t>Physics Model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  <a:defRPr sz="1600">
                <a:solidFill>
                  <a:srgbClr val="CCCCCC"/>
                </a:solidFill>
              </a:defRPr>
            </a:pPr>
            <a:r>
              <a:rPr lang="en-US" sz="2400" noProof="0" dirty="0"/>
              <a:t>System Architecture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  <a:defRPr sz="1600">
                <a:solidFill>
                  <a:srgbClr val="CCCCCC"/>
                </a:solidFill>
              </a:defRPr>
            </a:pPr>
            <a:r>
              <a:rPr lang="en-US" sz="2400" noProof="0" dirty="0"/>
              <a:t>CPU Implementations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  <a:defRPr sz="1600">
                <a:solidFill>
                  <a:srgbClr val="CCCCCC"/>
                </a:solidFill>
              </a:defRPr>
            </a:pPr>
            <a:r>
              <a:rPr lang="en-US" sz="2400" noProof="0" dirty="0"/>
              <a:t>GPU Optimizations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  <a:defRPr sz="1600">
                <a:solidFill>
                  <a:srgbClr val="CCCCCC"/>
                </a:solidFill>
              </a:defRPr>
            </a:pPr>
            <a:r>
              <a:rPr lang="en-US" sz="2400" noProof="0" dirty="0"/>
              <a:t>Experimental Setup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  <a:defRPr sz="1600">
                <a:solidFill>
                  <a:srgbClr val="CCCCCC"/>
                </a:solidFill>
              </a:defRPr>
            </a:pPr>
            <a:r>
              <a:rPr lang="en-US" sz="2400" noProof="0" dirty="0"/>
              <a:t>Results and Benchmarks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  <a:defRPr sz="1600">
                <a:solidFill>
                  <a:srgbClr val="CCCCCC"/>
                </a:solidFill>
              </a:defRPr>
            </a:pPr>
            <a:r>
              <a:rPr lang="en-US" sz="2400" noProof="0" dirty="0"/>
              <a:t>Conclusion and Future Work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ECD233-043D-A8CF-3DC4-996A98A42431}"/>
              </a:ext>
            </a:extLst>
          </p:cNvPr>
          <p:cNvSpPr txBox="1"/>
          <p:nvPr/>
        </p:nvSpPr>
        <p:spPr>
          <a:xfrm>
            <a:off x="2439333" y="6503488"/>
            <a:ext cx="426533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noProof="0" dirty="0">
                <a:solidFill>
                  <a:srgbClr val="76B900"/>
                </a:solidFill>
              </a:rPr>
              <a:t>GPU Programming: Angry Santa - </a:t>
            </a:r>
            <a:r>
              <a:rPr lang="en-US" sz="1200" noProof="0" dirty="0" err="1">
                <a:solidFill>
                  <a:srgbClr val="76B900"/>
                </a:solidFill>
              </a:rPr>
              <a:t>Politecnico</a:t>
            </a:r>
            <a:r>
              <a:rPr lang="en-US" sz="1200" noProof="0" dirty="0">
                <a:solidFill>
                  <a:srgbClr val="76B900"/>
                </a:solidFill>
              </a:rPr>
              <a:t> di Torino 2025/2026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rPr lang="en-US" noProof="0" dirty="0"/>
              <a:t>Project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07570" y="1736565"/>
            <a:ext cx="8603674" cy="22006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  <a:defRPr sz="1600">
                <a:solidFill>
                  <a:srgbClr val="CCCCCC"/>
                </a:solidFill>
              </a:defRPr>
            </a:pPr>
            <a:r>
              <a:rPr lang="en-US" noProof="0" dirty="0"/>
              <a:t>Explore the concepts of the course.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  <a:defRPr sz="1600">
                <a:solidFill>
                  <a:srgbClr val="CCCCCC"/>
                </a:solidFill>
              </a:defRPr>
            </a:pPr>
            <a:r>
              <a:rPr lang="en-US" noProof="0" dirty="0"/>
              <a:t>Simulation of a physical process - a snowball rolling down an inclined plane - as if it were a component of a real-time graphics engine for video games. 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  <a:defRPr sz="1600">
                <a:solidFill>
                  <a:srgbClr val="CCCCCC"/>
                </a:solidFill>
              </a:defRPr>
            </a:pPr>
            <a:r>
              <a:rPr lang="en-US" noProof="0" dirty="0"/>
              <a:t>Humorous scenario:  Santa Claus rolls a giant snowball down a slope, destroying the elves' village. 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  <a:defRPr sz="1600">
                <a:solidFill>
                  <a:srgbClr val="CCCCCC"/>
                </a:solidFill>
              </a:defRPr>
            </a:pPr>
            <a:r>
              <a:rPr lang="en-US" noProof="0" dirty="0"/>
              <a:t>Rendering techniques using the Vulkan framework.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  <a:defRPr sz="1600">
                <a:solidFill>
                  <a:srgbClr val="CCCCCC"/>
                </a:solidFill>
              </a:defRPr>
            </a:pPr>
            <a:r>
              <a:rPr lang="en-US" noProof="0" dirty="0"/>
              <a:t>Working code for Intel (Windows OS) and ARM (Linux OS) platforms.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  <a:defRPr sz="1600">
                <a:solidFill>
                  <a:srgbClr val="CCCCCC"/>
                </a:solidFill>
              </a:defRPr>
            </a:pPr>
            <a:r>
              <a:rPr lang="en-US" noProof="0" dirty="0"/>
              <a:t>Experimenting with AI capabilities in a foreign domain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315EFFE-15FC-F4FF-AA7D-2CF81F80D9FF}"/>
              </a:ext>
            </a:extLst>
          </p:cNvPr>
          <p:cNvSpPr txBox="1"/>
          <p:nvPr/>
        </p:nvSpPr>
        <p:spPr>
          <a:xfrm>
            <a:off x="457200" y="1188720"/>
            <a:ext cx="8229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76B900"/>
                </a:solidFill>
              </a:defRPr>
            </a:pPr>
            <a:r>
              <a:rPr lang="en-US" noProof="0" dirty="0"/>
              <a:t>Introduction and Motivations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3141763-B256-BB1F-AB4D-92316DE217D2}"/>
              </a:ext>
            </a:extLst>
          </p:cNvPr>
          <p:cNvSpPr txBox="1"/>
          <p:nvPr/>
        </p:nvSpPr>
        <p:spPr>
          <a:xfrm>
            <a:off x="2439333" y="6503488"/>
            <a:ext cx="426533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noProof="0" dirty="0">
                <a:solidFill>
                  <a:srgbClr val="76B900"/>
                </a:solidFill>
              </a:rPr>
              <a:t>GPU Programming: Angry Santa - </a:t>
            </a:r>
            <a:r>
              <a:rPr lang="en-US" sz="1200" noProof="0" dirty="0" err="1">
                <a:solidFill>
                  <a:srgbClr val="76B900"/>
                </a:solidFill>
              </a:rPr>
              <a:t>Politecnico</a:t>
            </a:r>
            <a:r>
              <a:rPr lang="en-US" sz="1200" noProof="0" dirty="0">
                <a:solidFill>
                  <a:srgbClr val="76B900"/>
                </a:solidFill>
              </a:rPr>
              <a:t> di Torino 2025/2026</a:t>
            </a:r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6F75DAF4-4FBE-C0DB-222E-CD545395B5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2877" y="4119419"/>
            <a:ext cx="4003584" cy="2270595"/>
          </a:xfrm>
          <a:prstGeom prst="rect">
            <a:avLst/>
          </a:prstGeom>
        </p:spPr>
      </p:pic>
      <p:pic>
        <p:nvPicPr>
          <p:cNvPr id="9" name="Immagine 8">
            <a:extLst>
              <a:ext uri="{FF2B5EF4-FFF2-40B4-BE49-F238E27FC236}">
                <a16:creationId xmlns:a16="http://schemas.microsoft.com/office/drawing/2014/main" id="{B89F0E03-A146-6684-2781-463F2398D8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7541" y="4127942"/>
            <a:ext cx="4003584" cy="226207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rPr lang="en-US" noProof="0" dirty="0"/>
              <a:t>Physics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76B900"/>
                </a:solidFill>
              </a:defRPr>
            </a:pPr>
            <a:r>
              <a:rPr lang="en-US" noProof="0" dirty="0"/>
              <a:t>The (simplified) Discrete Element Method (DEM) with penalty-based contact and Coulomb friction without persistent contact history</a:t>
            </a:r>
          </a:p>
          <a:p>
            <a:pPr>
              <a:defRPr sz="1800" b="0">
                <a:solidFill>
                  <a:srgbClr val="76B900"/>
                </a:solidFill>
              </a:defRPr>
            </a:pPr>
            <a:endParaRPr lang="en-US" noProof="0" dirty="0"/>
          </a:p>
        </p:txBody>
      </p:sp>
      <p:sp>
        <p:nvSpPr>
          <p:cNvPr id="4" name="TextBox 3"/>
          <p:cNvSpPr txBox="1"/>
          <p:nvPr/>
        </p:nvSpPr>
        <p:spPr>
          <a:xfrm>
            <a:off x="216133" y="2042155"/>
            <a:ext cx="8046720" cy="42165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  <a:defRPr sz="1600">
                <a:solidFill>
                  <a:srgbClr val="CCCCCC"/>
                </a:solidFill>
              </a:defRPr>
            </a:pPr>
            <a:r>
              <a:rPr lang="en-US" sz="1600" noProof="0" dirty="0"/>
              <a:t>Snowpack: N particles on a rectangular band with jitter</a:t>
            </a:r>
          </a:p>
          <a:p>
            <a:pPr lvl="1">
              <a:spcAft>
                <a:spcPts val="600"/>
              </a:spcAft>
              <a:defRPr sz="1400">
                <a:solidFill>
                  <a:srgbClr val="CCCCCC"/>
                </a:solidFill>
              </a:defRPr>
            </a:pPr>
            <a:r>
              <a:rPr lang="en-US" sz="1600" noProof="0" dirty="0"/>
              <a:t>Infinite inclined plane: sin(θ)·x + cos(θ)·y = H</a:t>
            </a:r>
          </a:p>
          <a:p>
            <a:pPr lvl="1">
              <a:spcAft>
                <a:spcPts val="600"/>
              </a:spcAft>
              <a:defRPr sz="1400">
                <a:solidFill>
                  <a:srgbClr val="CCCCCC"/>
                </a:solidFill>
              </a:defRPr>
            </a:pPr>
            <a:r>
              <a:rPr lang="en-US" sz="1600" noProof="0" dirty="0"/>
              <a:t>Curvilinear parameterization (s, n) mapping</a:t>
            </a:r>
          </a:p>
          <a:p>
            <a:pPr lvl="1">
              <a:spcAft>
                <a:spcPts val="600"/>
              </a:spcAft>
              <a:defRPr sz="1400">
                <a:solidFill>
                  <a:srgbClr val="CCCCCC"/>
                </a:solidFill>
              </a:defRPr>
            </a:pPr>
            <a:r>
              <a:rPr lang="en-US" sz="1600" noProof="0" dirty="0"/>
              <a:t>Per-particle wetness w ∈ [</a:t>
            </a:r>
            <a:r>
              <a:rPr lang="en-US" sz="1600" noProof="0" dirty="0" err="1"/>
              <a:t>w_min</a:t>
            </a:r>
            <a:r>
              <a:rPr lang="en-US" sz="1600" noProof="0" dirty="0"/>
              <a:t>, </a:t>
            </a:r>
            <a:r>
              <a:rPr lang="en-US" sz="1600" noProof="0" dirty="0" err="1"/>
              <a:t>w_max</a:t>
            </a:r>
            <a:r>
              <a:rPr lang="en-US" sz="1600" noProof="0" dirty="0"/>
              <a:t>] via </a:t>
            </a:r>
            <a:r>
              <a:rPr lang="en-US" sz="1600" noProof="0" dirty="0" err="1"/>
              <a:t>curand</a:t>
            </a:r>
            <a:endParaRPr lang="en-US" sz="1600" noProof="0" dirty="0"/>
          </a:p>
          <a:p>
            <a:pPr lvl="1">
              <a:spcAft>
                <a:spcPts val="600"/>
              </a:spcAft>
              <a:defRPr sz="1400">
                <a:solidFill>
                  <a:srgbClr val="CCCCCC"/>
                </a:solidFill>
              </a:defRPr>
            </a:pPr>
            <a:r>
              <a:rPr lang="en-US" sz="1600" noProof="0" dirty="0"/>
              <a:t>Sorted once by </a:t>
            </a:r>
            <a:r>
              <a:rPr lang="en-US" sz="1600" noProof="0" dirty="0" err="1"/>
              <a:t>posX</a:t>
            </a:r>
            <a:r>
              <a:rPr lang="en-US" sz="1600" noProof="0" dirty="0"/>
              <a:t> → enables binary-search range limiting</a:t>
            </a:r>
          </a:p>
          <a:p>
            <a:pPr lvl="1">
              <a:spcAft>
                <a:spcPts val="600"/>
              </a:spcAft>
              <a:defRPr sz="1400">
                <a:solidFill>
                  <a:srgbClr val="CCCCCC"/>
                </a:solidFill>
              </a:defRPr>
            </a:pPr>
            <a:endParaRPr lang="en-US" sz="1600" noProof="0" dirty="0"/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  <a:defRPr sz="1600">
                <a:solidFill>
                  <a:srgbClr val="CCCCCC"/>
                </a:solidFill>
              </a:defRPr>
            </a:pPr>
            <a:r>
              <a:rPr lang="en-US" sz="1600" noProof="0" dirty="0"/>
              <a:t>Dynamic shell:</a:t>
            </a:r>
          </a:p>
          <a:p>
            <a:pPr>
              <a:spcAft>
                <a:spcPts val="600"/>
              </a:spcAft>
              <a:defRPr sz="1600">
                <a:solidFill>
                  <a:srgbClr val="CCCCCC"/>
                </a:solidFill>
              </a:defRPr>
            </a:pPr>
            <a:r>
              <a:rPr lang="en-US" sz="1600" noProof="0" dirty="0"/>
              <a:t>          Growing particle system where actual interactions happen</a:t>
            </a:r>
          </a:p>
          <a:p>
            <a:pPr>
              <a:spcAft>
                <a:spcPts val="600"/>
              </a:spcAft>
              <a:defRPr sz="1600">
                <a:solidFill>
                  <a:srgbClr val="CCCCCC"/>
                </a:solidFill>
              </a:defRPr>
            </a:pPr>
            <a:endParaRPr lang="en-US" sz="1600" noProof="0" dirty="0"/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  <a:defRPr sz="1600">
                <a:solidFill>
                  <a:srgbClr val="CCCCCC"/>
                </a:solidFill>
              </a:defRPr>
            </a:pPr>
            <a:r>
              <a:rPr lang="en-US" sz="1600" noProof="0" dirty="0"/>
              <a:t>Snowball core: rigid-body dynamics on slope</a:t>
            </a:r>
          </a:p>
          <a:p>
            <a:pPr lvl="1">
              <a:spcAft>
                <a:spcPts val="600"/>
              </a:spcAft>
              <a:defRPr sz="1400">
                <a:solidFill>
                  <a:srgbClr val="CCCCCC"/>
                </a:solidFill>
              </a:defRPr>
            </a:pPr>
            <a:r>
              <a:rPr lang="en-US" sz="1600" noProof="0" dirty="0"/>
              <a:t>Rolling drag (linear) + aerodynamic drag (quadratic, ∝ R²)</a:t>
            </a:r>
          </a:p>
          <a:p>
            <a:pPr lvl="1">
              <a:spcAft>
                <a:spcPts val="600"/>
              </a:spcAft>
              <a:defRPr sz="1400">
                <a:solidFill>
                  <a:srgbClr val="CCCCCC"/>
                </a:solidFill>
              </a:defRPr>
            </a:pPr>
            <a:r>
              <a:rPr lang="en-US" sz="1600" noProof="0" dirty="0"/>
              <a:t>Rolling-without-slip: ω = (1/R)·(</a:t>
            </a:r>
            <a:r>
              <a:rPr lang="en-US" sz="1600" noProof="0" dirty="0" err="1"/>
              <a:t>N_slope</a:t>
            </a:r>
            <a:r>
              <a:rPr lang="en-US" sz="1600" noProof="0" dirty="0"/>
              <a:t> × v)</a:t>
            </a:r>
          </a:p>
          <a:p>
            <a:pPr lvl="1">
              <a:spcAft>
                <a:spcPts val="600"/>
              </a:spcAft>
              <a:defRPr sz="1400">
                <a:solidFill>
                  <a:srgbClr val="CCCCCC"/>
                </a:solidFill>
              </a:defRPr>
            </a:pPr>
            <a:r>
              <a:rPr lang="en-US" sz="1600" noProof="0" dirty="0"/>
              <a:t>Quaternion integration for orientation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26DD9D3-DD19-5CB5-D7E0-615535280B53}"/>
              </a:ext>
            </a:extLst>
          </p:cNvPr>
          <p:cNvSpPr txBox="1"/>
          <p:nvPr/>
        </p:nvSpPr>
        <p:spPr>
          <a:xfrm>
            <a:off x="2439333" y="6503488"/>
            <a:ext cx="426533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noProof="0" dirty="0">
                <a:solidFill>
                  <a:srgbClr val="76B900"/>
                </a:solidFill>
              </a:rPr>
              <a:t>GPU Programming: Angry Santa - </a:t>
            </a:r>
            <a:r>
              <a:rPr lang="en-US" sz="1200" noProof="0" dirty="0" err="1">
                <a:solidFill>
                  <a:srgbClr val="76B900"/>
                </a:solidFill>
              </a:rPr>
              <a:t>Politecnico</a:t>
            </a:r>
            <a:r>
              <a:rPr lang="en-US" sz="1200" noProof="0" dirty="0">
                <a:solidFill>
                  <a:srgbClr val="76B900"/>
                </a:solidFill>
              </a:rPr>
              <a:t> di Torino 2025/2026</a:t>
            </a:r>
          </a:p>
        </p:txBody>
      </p:sp>
      <p:pic>
        <p:nvPicPr>
          <p:cNvPr id="9" name="Immagine 8">
            <a:extLst>
              <a:ext uri="{FF2B5EF4-FFF2-40B4-BE49-F238E27FC236}">
                <a16:creationId xmlns:a16="http://schemas.microsoft.com/office/drawing/2014/main" id="{A1ACFEB6-23F0-01A1-2602-5EB268F7A7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3499" y="1860306"/>
            <a:ext cx="3242790" cy="2342239"/>
          </a:xfrm>
          <a:prstGeom prst="rect">
            <a:avLst/>
          </a:prstGeom>
        </p:spPr>
      </p:pic>
      <p:pic>
        <p:nvPicPr>
          <p:cNvPr id="11" name="Immagine 10">
            <a:extLst>
              <a:ext uri="{FF2B5EF4-FFF2-40B4-BE49-F238E27FC236}">
                <a16:creationId xmlns:a16="http://schemas.microsoft.com/office/drawing/2014/main" id="{95D2278A-57F5-E7FA-5E9E-5B0886F0CF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3499" y="4249834"/>
            <a:ext cx="3242790" cy="440530"/>
          </a:xfrm>
          <a:prstGeom prst="rect">
            <a:avLst/>
          </a:prstGeom>
        </p:spPr>
      </p:pic>
      <p:pic>
        <p:nvPicPr>
          <p:cNvPr id="13" name="Immagine 12">
            <a:extLst>
              <a:ext uri="{FF2B5EF4-FFF2-40B4-BE49-F238E27FC236}">
                <a16:creationId xmlns:a16="http://schemas.microsoft.com/office/drawing/2014/main" id="{ACE2B357-015F-AD39-7D01-162640A53AD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3499" y="4717831"/>
            <a:ext cx="3242790" cy="1785616"/>
          </a:xfrm>
          <a:prstGeom prst="rect">
            <a:avLst/>
          </a:prstGeom>
        </p:spPr>
      </p:pic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386C8BBE-9190-D998-5B99-493107D1A220}"/>
              </a:ext>
            </a:extLst>
          </p:cNvPr>
          <p:cNvSpPr txBox="1"/>
          <p:nvPr/>
        </p:nvSpPr>
        <p:spPr>
          <a:xfrm>
            <a:off x="3251198" y="80454"/>
            <a:ext cx="570354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i="1" noProof="0" dirty="0">
                <a:solidFill>
                  <a:schemeClr val="bg1"/>
                </a:solidFill>
              </a:rPr>
              <a:t>Cundall &amp; Strack (1979): A discrete numerical model for granular assemblies</a:t>
            </a:r>
          </a:p>
          <a:p>
            <a:pPr algn="r"/>
            <a:r>
              <a:rPr lang="en-US" sz="1400" i="1" noProof="0" dirty="0" err="1">
                <a:solidFill>
                  <a:schemeClr val="bg1"/>
                </a:solidFill>
              </a:rPr>
              <a:t>Pöschel</a:t>
            </a:r>
            <a:r>
              <a:rPr lang="en-US" sz="1400" i="1" noProof="0" dirty="0">
                <a:solidFill>
                  <a:schemeClr val="bg1"/>
                </a:solidFill>
              </a:rPr>
              <a:t> &amp; Schwager (2005): Computational Granular Dynamics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rPr lang="en-US" noProof="0" dirty="0"/>
              <a:t>Physics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76B900"/>
                </a:solidFill>
              </a:defRPr>
            </a:pPr>
            <a:r>
              <a:rPr lang="en-US" noProof="0" dirty="0"/>
              <a:t>Probabilistic Capture Algorithm and Shell Forces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6133" y="1737360"/>
            <a:ext cx="8046720" cy="38933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  <a:defRPr sz="1600">
                <a:solidFill>
                  <a:srgbClr val="CCCCCC"/>
                </a:solidFill>
              </a:defRPr>
            </a:pPr>
            <a:r>
              <a:rPr lang="en-US" sz="1600" noProof="0" dirty="0"/>
              <a:t>Capture converts snowpack → shell particles each frame:</a:t>
            </a:r>
          </a:p>
          <a:p>
            <a:pPr lvl="1">
              <a:spcAft>
                <a:spcPts val="600"/>
              </a:spcAft>
              <a:defRPr sz="1400">
                <a:solidFill>
                  <a:srgbClr val="CCCCCC"/>
                </a:solidFill>
              </a:defRPr>
            </a:pPr>
            <a:r>
              <a:rPr lang="en-US" sz="1600" noProof="0" dirty="0"/>
              <a:t>Logit: ℓ = k₀ + k₁·w - k₂·|</a:t>
            </a:r>
            <a:r>
              <a:rPr lang="en-US" sz="1600" noProof="0" dirty="0" err="1"/>
              <a:t>v_rel</a:t>
            </a:r>
            <a:r>
              <a:rPr lang="en-US" sz="1600" noProof="0" dirty="0"/>
              <a:t>| + </a:t>
            </a:r>
            <a:r>
              <a:rPr lang="en-US" sz="1600" noProof="0" dirty="0" err="1"/>
              <a:t>k_R·R</a:t>
            </a:r>
            <a:r>
              <a:rPr lang="en-US" sz="1600" noProof="0" dirty="0"/>
              <a:t>  (avalanche feedback)</a:t>
            </a:r>
          </a:p>
          <a:p>
            <a:pPr lvl="1">
              <a:spcAft>
                <a:spcPts val="600"/>
              </a:spcAft>
              <a:defRPr sz="1400">
                <a:solidFill>
                  <a:srgbClr val="CCCCCC"/>
                </a:solidFill>
              </a:defRPr>
            </a:pPr>
            <a:r>
              <a:rPr lang="en-US" sz="1600" noProof="0" dirty="0"/>
              <a:t>Sigmoid probability: </a:t>
            </a:r>
            <a:r>
              <a:rPr lang="en-US" sz="1600" noProof="0" dirty="0" err="1"/>
              <a:t>P_stick</a:t>
            </a:r>
            <a:r>
              <a:rPr lang="en-US" sz="1600" noProof="0" dirty="0"/>
              <a:t> = σ(ℓ) = 1/(1+e^{-ℓ})</a:t>
            </a:r>
          </a:p>
          <a:p>
            <a:pPr lvl="1">
              <a:spcAft>
                <a:spcPts val="600"/>
              </a:spcAft>
              <a:defRPr sz="1400">
                <a:solidFill>
                  <a:srgbClr val="CCCCCC"/>
                </a:solidFill>
              </a:defRPr>
            </a:pPr>
            <a:r>
              <a:rPr lang="en-US" sz="1600" noProof="0" dirty="0"/>
              <a:t>Deterministic </a:t>
            </a:r>
            <a:r>
              <a:rPr lang="en-US" sz="1600" noProof="0" dirty="0" err="1"/>
              <a:t>murmurhash</a:t>
            </a:r>
            <a:r>
              <a:rPr lang="en-US" sz="1600" noProof="0" dirty="0"/>
              <a:t> PRNG (no </a:t>
            </a:r>
            <a:r>
              <a:rPr lang="en-US" sz="1600" noProof="0" dirty="0" err="1"/>
              <a:t>curand</a:t>
            </a:r>
            <a:r>
              <a:rPr lang="en-US" sz="1600" noProof="0" dirty="0"/>
              <a:t> state overhead)</a:t>
            </a:r>
          </a:p>
          <a:p>
            <a:pPr lvl="1">
              <a:spcAft>
                <a:spcPts val="600"/>
              </a:spcAft>
              <a:defRPr sz="1400">
                <a:solidFill>
                  <a:srgbClr val="CCCCCC"/>
                </a:solidFill>
              </a:defRPr>
            </a:pPr>
            <a:r>
              <a:rPr lang="en-US" sz="1600" noProof="0" dirty="0"/>
              <a:t>Lock-free </a:t>
            </a:r>
            <a:r>
              <a:rPr lang="en-US" sz="1600" noProof="0" dirty="0" err="1"/>
              <a:t>atomicAdd</a:t>
            </a:r>
            <a:r>
              <a:rPr lang="en-US" sz="1600" noProof="0" dirty="0"/>
              <a:t> for slot reservation</a:t>
            </a:r>
          </a:p>
          <a:p>
            <a:pPr lvl="1">
              <a:spcAft>
                <a:spcPts val="600"/>
              </a:spcAft>
              <a:defRPr sz="1400">
                <a:solidFill>
                  <a:srgbClr val="CCCCCC"/>
                </a:solidFill>
              </a:defRPr>
            </a:pPr>
            <a:endParaRPr lang="en-US" sz="1600" noProof="0" dirty="0"/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  <a:defRPr sz="1600">
                <a:solidFill>
                  <a:srgbClr val="CCCCCC"/>
                </a:solidFill>
              </a:defRPr>
            </a:pPr>
            <a:r>
              <a:rPr lang="en-US" sz="1600" noProof="0" dirty="0"/>
              <a:t>Shell particle forces:</a:t>
            </a:r>
          </a:p>
          <a:p>
            <a:pPr lvl="1">
              <a:spcAft>
                <a:spcPts val="600"/>
              </a:spcAft>
              <a:defRPr sz="1400">
                <a:solidFill>
                  <a:srgbClr val="CCCCCC"/>
                </a:solidFill>
              </a:defRPr>
            </a:pPr>
            <a:r>
              <a:rPr lang="en-US" sz="1600" noProof="0" dirty="0"/>
              <a:t>Gravity + Mass-proportional damping</a:t>
            </a:r>
          </a:p>
          <a:p>
            <a:pPr lvl="1">
              <a:spcAft>
                <a:spcPts val="600"/>
              </a:spcAft>
              <a:defRPr sz="1400">
                <a:solidFill>
                  <a:srgbClr val="CCCCCC"/>
                </a:solidFill>
              </a:defRPr>
            </a:pPr>
            <a:r>
              <a:rPr lang="en-US" sz="1600" noProof="0" dirty="0"/>
              <a:t>Tether spring-damper to ball surface anchor</a:t>
            </a:r>
          </a:p>
          <a:p>
            <a:pPr lvl="1">
              <a:spcAft>
                <a:spcPts val="600"/>
              </a:spcAft>
              <a:defRPr sz="1400">
                <a:solidFill>
                  <a:srgbClr val="CCCCCC"/>
                </a:solidFill>
              </a:defRPr>
            </a:pPr>
            <a:r>
              <a:rPr lang="en-US" sz="1600" noProof="0" dirty="0"/>
              <a:t>DEM inter-particle contact with Coulomb friction</a:t>
            </a:r>
          </a:p>
          <a:p>
            <a:pPr lvl="1">
              <a:spcAft>
                <a:spcPts val="600"/>
              </a:spcAft>
              <a:defRPr sz="1400">
                <a:solidFill>
                  <a:srgbClr val="CCCCCC"/>
                </a:solidFill>
              </a:defRPr>
            </a:pPr>
            <a:endParaRPr lang="en-US" sz="1600" noProof="0" dirty="0"/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  <a:defRPr sz="1600">
                <a:solidFill>
                  <a:srgbClr val="CCCCCC"/>
                </a:solidFill>
              </a:defRPr>
            </a:pPr>
            <a:r>
              <a:rPr lang="en-US" sz="1600" noProof="0" dirty="0"/>
              <a:t>Stability: logit clamping, per-frame cap, proportional mass scaling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EFDC671-AD21-90FF-0350-B5684EEAD0B7}"/>
              </a:ext>
            </a:extLst>
          </p:cNvPr>
          <p:cNvSpPr txBox="1"/>
          <p:nvPr/>
        </p:nvSpPr>
        <p:spPr>
          <a:xfrm>
            <a:off x="2439333" y="6503488"/>
            <a:ext cx="426533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noProof="0" dirty="0">
                <a:solidFill>
                  <a:srgbClr val="76B900"/>
                </a:solidFill>
              </a:rPr>
              <a:t>GPU Programming: Angry Santa - </a:t>
            </a:r>
            <a:r>
              <a:rPr lang="en-US" sz="1200" noProof="0" dirty="0" err="1">
                <a:solidFill>
                  <a:srgbClr val="76B900"/>
                </a:solidFill>
              </a:rPr>
              <a:t>Politecnico</a:t>
            </a:r>
            <a:r>
              <a:rPr lang="en-US" sz="1200" noProof="0" dirty="0">
                <a:solidFill>
                  <a:srgbClr val="76B900"/>
                </a:solidFill>
              </a:rPr>
              <a:t> di Torino 2025/2026</a:t>
            </a:r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E87C1EF0-EEF9-4D18-6A84-427721B13C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38982" y="1634833"/>
            <a:ext cx="3177310" cy="3629894"/>
          </a:xfrm>
          <a:prstGeom prst="rect">
            <a:avLst/>
          </a:prstGeom>
        </p:spPr>
      </p:pic>
      <p:sp>
        <p:nvSpPr>
          <p:cNvPr id="8" name="CasellaDiTesto 7">
            <a:extLst>
              <a:ext uri="{FF2B5EF4-FFF2-40B4-BE49-F238E27FC236}">
                <a16:creationId xmlns:a16="http://schemas.microsoft.com/office/drawing/2014/main" id="{9A482D32-5816-B6BC-F0BD-979E5A8D9753}"/>
              </a:ext>
            </a:extLst>
          </p:cNvPr>
          <p:cNvSpPr txBox="1"/>
          <p:nvPr/>
        </p:nvSpPr>
        <p:spPr>
          <a:xfrm>
            <a:off x="3251198" y="80454"/>
            <a:ext cx="570354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i="1" noProof="0" dirty="0">
                <a:solidFill>
                  <a:schemeClr val="bg1"/>
                </a:solidFill>
              </a:rPr>
              <a:t>Cundall &amp; Strack (1979): A discrete numerical model for granular assemblies</a:t>
            </a:r>
          </a:p>
          <a:p>
            <a:pPr algn="r"/>
            <a:r>
              <a:rPr lang="en-US" sz="1400" i="1" noProof="0" dirty="0" err="1">
                <a:solidFill>
                  <a:schemeClr val="bg1"/>
                </a:solidFill>
              </a:rPr>
              <a:t>Pöschel</a:t>
            </a:r>
            <a:r>
              <a:rPr lang="en-US" sz="1400" i="1" noProof="0" dirty="0">
                <a:solidFill>
                  <a:schemeClr val="bg1"/>
                </a:solidFill>
              </a:rPr>
              <a:t> &amp; Schwager (2005): Computational Granular Dynamics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9DA9132-7BDF-CF3C-7BD2-2EB108C93B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D2F115A-F477-BB75-CD3F-527F0D6A0F70}"/>
              </a:ext>
            </a:extLst>
          </p:cNvPr>
          <p:cNvSpPr txBox="1"/>
          <p:nvPr/>
        </p:nvSpPr>
        <p:spPr>
          <a:xfrm>
            <a:off x="457200" y="365760"/>
            <a:ext cx="82296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rPr lang="en-US" noProof="0" dirty="0"/>
              <a:t>Physics Model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8BEC0E3-BAB7-148F-DAF6-4711D95FFB20}"/>
              </a:ext>
            </a:extLst>
          </p:cNvPr>
          <p:cNvSpPr txBox="1"/>
          <p:nvPr/>
        </p:nvSpPr>
        <p:spPr>
          <a:xfrm>
            <a:off x="457200" y="1188720"/>
            <a:ext cx="8229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76B900"/>
                </a:solidFill>
              </a:defRPr>
            </a:pPr>
            <a:r>
              <a:rPr lang="en-US" noProof="0" dirty="0"/>
              <a:t>Default Values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78A522D-A948-DFFC-CDB9-94CE47FBB2E9}"/>
              </a:ext>
            </a:extLst>
          </p:cNvPr>
          <p:cNvSpPr txBox="1"/>
          <p:nvPr/>
        </p:nvSpPr>
        <p:spPr>
          <a:xfrm>
            <a:off x="2439333" y="6503488"/>
            <a:ext cx="426533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noProof="0" dirty="0">
                <a:solidFill>
                  <a:srgbClr val="76B900"/>
                </a:solidFill>
              </a:rPr>
              <a:t>GPU Programming: Angry Santa - </a:t>
            </a:r>
            <a:r>
              <a:rPr lang="en-US" sz="1200" noProof="0" dirty="0" err="1">
                <a:solidFill>
                  <a:srgbClr val="76B900"/>
                </a:solidFill>
              </a:rPr>
              <a:t>Politecnico</a:t>
            </a:r>
            <a:r>
              <a:rPr lang="en-US" sz="1200" noProof="0" dirty="0">
                <a:solidFill>
                  <a:srgbClr val="76B900"/>
                </a:solidFill>
              </a:rPr>
              <a:t> di Torino 2025/2026</a:t>
            </a: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2FA0961B-24BE-39BD-96C1-02111A401D65}"/>
              </a:ext>
            </a:extLst>
          </p:cNvPr>
          <p:cNvSpPr txBox="1"/>
          <p:nvPr/>
        </p:nvSpPr>
        <p:spPr>
          <a:xfrm>
            <a:off x="613533" y="1549426"/>
            <a:ext cx="8229599" cy="129420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800"/>
              </a:spcBef>
              <a:spcAft>
                <a:spcPts val="1200"/>
              </a:spcAft>
              <a:buNone/>
            </a:pPr>
            <a:r>
              <a:rPr lang="it-IT" sz="1000" b="1" i="0" dirty="0" err="1">
                <a:solidFill>
                  <a:srgbClr val="CCCCCC"/>
                </a:solidFill>
                <a:effectLst/>
                <a:latin typeface="-apple-system"/>
              </a:rPr>
              <a:t>Physics</a:t>
            </a:r>
            <a:endParaRPr lang="it-IT" sz="1000" b="1" i="0" dirty="0">
              <a:solidFill>
                <a:srgbClr val="CCCCCC"/>
              </a:solidFill>
              <a:effectLst/>
              <a:latin typeface="-apple-system"/>
            </a:endParaRPr>
          </a:p>
          <a:p>
            <a:pPr algn="l" latinLnBrk="0">
              <a:spcAft>
                <a:spcPts val="1200"/>
              </a:spcAft>
              <a:buNone/>
            </a:pPr>
            <a:r>
              <a:rPr lang="it-IT" sz="1000" b="0" i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gravity</a:t>
            </a:r>
            <a:r>
              <a:rPr lang="it-IT" sz="1000" b="0" i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          = 9.81f;     // m/s²</a:t>
            </a:r>
            <a:br>
              <a:rPr lang="it-IT" sz="1000" b="0" i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it-IT" sz="1000" b="0" i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dt</a:t>
            </a:r>
            <a:r>
              <a:rPr lang="it-IT" sz="1000" b="0" i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               = 0.0033f;   // </a:t>
            </a:r>
            <a:r>
              <a:rPr lang="it-IT" sz="1000" b="0" i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timestep</a:t>
            </a:r>
            <a:r>
              <a:rPr lang="it-IT" sz="1000" b="0" i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(s)</a:t>
            </a:r>
            <a:br>
              <a:rPr lang="it-IT" sz="1000" b="0" i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it-IT" sz="1000" b="0" i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damping           = 0.05f;     // mass-</a:t>
            </a:r>
            <a:r>
              <a:rPr lang="it-IT" sz="1000" b="0" i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proportional</a:t>
            </a:r>
            <a:r>
              <a:rPr lang="it-IT" sz="1000" b="0" i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it-IT" sz="1000" b="0" i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velocity</a:t>
            </a:r>
            <a:r>
              <a:rPr lang="it-IT" sz="1000" b="0" i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damping (</a:t>
            </a:r>
            <a:r>
              <a:rPr lang="it-IT" sz="1000" b="0" i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k_d</a:t>
            </a:r>
            <a:r>
              <a:rPr lang="it-IT" sz="1000" b="0" i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it-IT" sz="1000" b="0" i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it-IT" sz="1000" b="0" i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stiffness</a:t>
            </a:r>
            <a:r>
              <a:rPr lang="it-IT" sz="1000" b="0" i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        = 30000.0f;  // soft-</a:t>
            </a:r>
            <a:r>
              <a:rPr lang="it-IT" sz="1000" b="0" i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sphere</a:t>
            </a:r>
            <a:r>
              <a:rPr lang="it-IT" sz="1000" b="0" i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penalty </a:t>
            </a:r>
            <a:r>
              <a:rPr lang="it-IT" sz="1000" b="0" i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stiffness</a:t>
            </a:r>
            <a:r>
              <a:rPr lang="it-IT" sz="1000" b="0" i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it-IT" sz="1000" b="0" i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k_pen</a:t>
            </a:r>
            <a:r>
              <a:rPr lang="it-IT" sz="1000" b="0" i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it-IT" sz="1000" b="0" i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it-IT" sz="1000" b="0" i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collisionDamping</a:t>
            </a:r>
            <a:r>
              <a:rPr lang="it-IT" sz="1000" b="0" i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 = 50.0f;     // </a:t>
            </a:r>
            <a:r>
              <a:rPr lang="it-IT" sz="1000" b="0" i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collision</a:t>
            </a:r>
            <a:r>
              <a:rPr lang="it-IT" sz="1000" b="0" i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damping (</a:t>
            </a:r>
            <a:r>
              <a:rPr lang="it-IT" sz="1000" b="0" i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k_damp</a:t>
            </a:r>
            <a:r>
              <a:rPr lang="it-IT" sz="1000" b="0" i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it-IT" sz="1000" b="0" i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it-IT" sz="1000" b="0" i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cohesion</a:t>
            </a:r>
            <a:r>
              <a:rPr lang="it-IT" sz="1000" b="0" i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         = 72450.0f;  // </a:t>
            </a:r>
            <a:r>
              <a:rPr lang="it-IT" sz="1000" b="0" i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cohesion</a:t>
            </a:r>
            <a:r>
              <a:rPr lang="it-IT" sz="1000" b="0" i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it-IT" sz="1000" b="0" i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strength</a:t>
            </a:r>
            <a:r>
              <a:rPr lang="it-IT" sz="1000" b="0" i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it-IT" sz="1000" b="0" i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k_coh</a:t>
            </a:r>
            <a:r>
              <a:rPr lang="it-IT" sz="1000" b="0" i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it-IT" sz="1000" b="0" i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it-IT" sz="1000" b="0" i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cohesionRadius</a:t>
            </a:r>
            <a:r>
              <a:rPr lang="it-IT" sz="1000" b="0" i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   = 0.06f;     // </a:t>
            </a:r>
            <a:r>
              <a:rPr lang="it-IT" sz="1000" b="0" i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cohesion</a:t>
            </a:r>
            <a:r>
              <a:rPr lang="it-IT" sz="1000" b="0" i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cutoff (m)</a:t>
            </a:r>
            <a:br>
              <a:rPr lang="it-IT" sz="1000" b="0" i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it-IT" sz="1000" b="0" i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particleRadius</a:t>
            </a:r>
            <a:r>
              <a:rPr lang="it-IT" sz="1000" b="0" i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   = 0.02f;     // </a:t>
            </a:r>
            <a:r>
              <a:rPr lang="it-IT" sz="1000" b="0" i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uniform</a:t>
            </a:r>
            <a:r>
              <a:rPr lang="it-IT" sz="1000" b="0" i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it-IT" sz="1000" b="0" i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radius</a:t>
            </a:r>
            <a:r>
              <a:rPr lang="it-IT" sz="1000" b="0" i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(m)</a:t>
            </a:r>
            <a:br>
              <a:rPr lang="it-IT" sz="1000" b="0" i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it-IT" sz="1000" b="0" i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particleMass</a:t>
            </a:r>
            <a:r>
              <a:rPr lang="it-IT" sz="1000" b="0" i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     = 0.1f;      // per-</a:t>
            </a:r>
            <a:r>
              <a:rPr lang="it-IT" sz="1000" b="0" i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particle</a:t>
            </a:r>
            <a:r>
              <a:rPr lang="it-IT" sz="1000" b="0" i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mass (kg)</a:t>
            </a:r>
            <a:br>
              <a:rPr lang="it-IT" sz="1000" b="0" i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it-IT" sz="1000" b="0" i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restitution</a:t>
            </a:r>
            <a:r>
              <a:rPr lang="it-IT" sz="1000" b="0" i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      = 0.15f;     // ground </a:t>
            </a:r>
            <a:r>
              <a:rPr lang="it-IT" sz="1000" b="0" i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bounce</a:t>
            </a:r>
            <a:r>
              <a:rPr lang="it-IT" sz="1000" b="0" i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it-IT" sz="1000" b="0" i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factor</a:t>
            </a:r>
            <a:r>
              <a:rPr lang="it-IT" sz="1000" b="0" i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(e)</a:t>
            </a:r>
            <a:br>
              <a:rPr lang="it-IT" sz="1000" b="0" i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it-IT" sz="1000" b="0" i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friction</a:t>
            </a:r>
            <a:r>
              <a:rPr lang="it-IT" sz="1000" b="0" i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         = 0.14f;     // ground Coulomb </a:t>
            </a:r>
            <a:r>
              <a:rPr lang="it-IT" sz="1000" b="0" i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friction</a:t>
            </a:r>
            <a:r>
              <a:rPr lang="it-IT" sz="1000" b="0" i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it-IT" sz="1000" b="0" i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μ_ground</a:t>
            </a:r>
            <a:r>
              <a:rPr lang="it-IT" sz="1000" b="0" i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it-IT" sz="1000" b="0" i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it-IT" sz="1000" b="0" i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particleFriction</a:t>
            </a:r>
            <a:r>
              <a:rPr lang="it-IT" sz="1000" b="0" i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 = 0.04f;     // inter-</a:t>
            </a:r>
            <a:r>
              <a:rPr lang="it-IT" sz="1000" b="0" i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particle</a:t>
            </a:r>
            <a:r>
              <a:rPr lang="it-IT" sz="1000" b="0" i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it-IT" sz="1000" b="0" i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friction</a:t>
            </a:r>
            <a:r>
              <a:rPr lang="it-IT" sz="1000" b="0" i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it-IT" sz="1000" b="0" i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μ_p</a:t>
            </a:r>
            <a:r>
              <a:rPr lang="it-IT" sz="1000" b="0" i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it-IT" sz="1000" b="0" i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it-IT" sz="1000" b="0" i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snowDensity</a:t>
            </a:r>
            <a:r>
              <a:rPr lang="it-IT" sz="1000" b="0" i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      = 200.0f;    // kg/m³</a:t>
            </a:r>
          </a:p>
          <a:p>
            <a:pPr algn="l" latinLnBrk="0">
              <a:spcAft>
                <a:spcPts val="1200"/>
              </a:spcAft>
              <a:buNone/>
            </a:pPr>
            <a:r>
              <a:rPr lang="it-IT" sz="1000" b="1" i="0" dirty="0" err="1">
                <a:solidFill>
                  <a:srgbClr val="CCCCCC"/>
                </a:solidFill>
                <a:effectLst/>
                <a:latin typeface="-apple-system"/>
              </a:rPr>
              <a:t>Slope</a:t>
            </a:r>
            <a:endParaRPr lang="it-IT" sz="1000" b="1" i="0" dirty="0">
              <a:solidFill>
                <a:srgbClr val="CCCCCC"/>
              </a:solidFill>
              <a:effectLst/>
              <a:latin typeface="-apple-system"/>
            </a:endParaRPr>
          </a:p>
          <a:p>
            <a:pPr algn="l" latinLnBrk="0">
              <a:spcAft>
                <a:spcPts val="1200"/>
              </a:spcAft>
              <a:buNone/>
            </a:pPr>
            <a:r>
              <a:rPr lang="it-IT" sz="1000" b="0" i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slopeAngleDeg</a:t>
            </a:r>
            <a:r>
              <a:rPr lang="it-IT" sz="1000" b="0" i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    = 30.0f;</a:t>
            </a:r>
            <a:br>
              <a:rPr lang="it-IT" sz="1000" b="0" i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it-IT" sz="1000" b="0" i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slopeHeight</a:t>
            </a:r>
            <a:r>
              <a:rPr lang="it-IT" sz="1000" b="0" i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      = 30.0f;     // </a:t>
            </a:r>
            <a:r>
              <a:rPr lang="it-IT" sz="1000" b="0" i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plane</a:t>
            </a:r>
            <a:r>
              <a:rPr lang="it-IT" sz="1000" b="0" i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offset (m)</a:t>
            </a:r>
            <a:br>
              <a:rPr lang="it-IT" sz="1000" b="0" i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it-IT" sz="1000" b="0" i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domainLength</a:t>
            </a:r>
            <a:r>
              <a:rPr lang="it-IT" sz="1000" b="0" i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     = 150.0f;    // max </a:t>
            </a:r>
            <a:r>
              <a:rPr lang="it-IT" sz="1000" b="0" i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along-slope</a:t>
            </a:r>
            <a:r>
              <a:rPr lang="it-IT" sz="1000" b="0" i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travel</a:t>
            </a:r>
          </a:p>
          <a:p>
            <a:pPr algn="l" latinLnBrk="0">
              <a:spcAft>
                <a:spcPts val="1200"/>
              </a:spcAft>
              <a:buNone/>
            </a:pPr>
            <a:r>
              <a:rPr lang="it-IT" sz="1000" b="1" i="0" dirty="0">
                <a:solidFill>
                  <a:srgbClr val="CCCCCC"/>
                </a:solidFill>
                <a:effectLst/>
                <a:latin typeface="-apple-system"/>
              </a:rPr>
              <a:t>Capture / </a:t>
            </a:r>
            <a:r>
              <a:rPr lang="it-IT" sz="1000" b="1" i="0" dirty="0" err="1">
                <a:solidFill>
                  <a:srgbClr val="CCCCCC"/>
                </a:solidFill>
                <a:effectLst/>
                <a:latin typeface="-apple-system"/>
              </a:rPr>
              <a:t>Sticking</a:t>
            </a:r>
            <a:endParaRPr lang="it-IT" sz="1000" b="1" i="0" dirty="0">
              <a:solidFill>
                <a:srgbClr val="CCCCCC"/>
              </a:solidFill>
              <a:effectLst/>
              <a:latin typeface="-apple-system"/>
            </a:endParaRPr>
          </a:p>
          <a:p>
            <a:pPr algn="l" latinLnBrk="0">
              <a:spcAft>
                <a:spcPts val="1200"/>
              </a:spcAft>
              <a:buNone/>
            </a:pPr>
            <a:r>
              <a:rPr lang="it-IT" sz="1000" b="0" i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stickK0           = 1.0f;      // base </a:t>
            </a:r>
            <a:r>
              <a:rPr lang="it-IT" sz="1000" b="0" i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logit</a:t>
            </a:r>
            <a:r>
              <a:rPr lang="it-IT" sz="1000" b="0" i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→ ~73% </a:t>
            </a:r>
            <a:r>
              <a:rPr lang="it-IT" sz="1000" b="0" i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at</a:t>
            </a:r>
            <a:r>
              <a:rPr lang="it-IT" sz="1000" b="0" i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v=0, w=1</a:t>
            </a:r>
            <a:br>
              <a:rPr lang="it-IT" sz="1000" b="0" i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it-IT" sz="1000" b="0" i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stickK1           = 7.11f;     // </a:t>
            </a:r>
            <a:r>
              <a:rPr lang="it-IT" sz="1000" b="0" i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wetness</a:t>
            </a:r>
            <a:r>
              <a:rPr lang="it-IT" sz="1000" b="0" i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it-IT" sz="1000" b="0" i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boost</a:t>
            </a:r>
            <a:r>
              <a:rPr lang="it-IT" sz="1000" b="0" i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in </a:t>
            </a:r>
            <a:r>
              <a:rPr lang="it-IT" sz="1000" b="0" i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logit</a:t>
            </a:r>
            <a:br>
              <a:rPr lang="it-IT" sz="1000" dirty="0">
                <a:solidFill>
                  <a:srgbClr val="CCCCCC"/>
                </a:solidFill>
                <a:latin typeface="Consolas" panose="020B0609020204030204" pitchFamily="49" charset="0"/>
              </a:rPr>
            </a:br>
            <a:r>
              <a:rPr lang="it-IT" sz="1000" b="0" i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stickK2           = 1.1f;      // </a:t>
            </a:r>
            <a:r>
              <a:rPr lang="it-IT" sz="1000" b="0" i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velocity</a:t>
            </a:r>
            <a:r>
              <a:rPr lang="it-IT" sz="1000" b="0" i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penalty (per m/s of |</a:t>
            </a:r>
            <a:r>
              <a:rPr lang="it-IT" sz="1000" b="0" i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v_rel</a:t>
            </a:r>
            <a:r>
              <a:rPr lang="it-IT" sz="1000" b="0" i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|)</a:t>
            </a:r>
            <a:br>
              <a:rPr lang="it-IT" sz="1000" b="0" i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it-IT" sz="1000" b="0" i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stickRadiusBoost</a:t>
            </a:r>
            <a:r>
              <a:rPr lang="it-IT" sz="1000" b="0" i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 = 7.5f;      // </a:t>
            </a:r>
            <a:r>
              <a:rPr lang="it-IT" sz="1000" b="0" i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avalanche</a:t>
            </a:r>
            <a:r>
              <a:rPr lang="it-IT" sz="1000" b="0" i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feedback (</a:t>
            </a:r>
            <a:r>
              <a:rPr lang="it-IT" sz="1000" b="0" i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logit</a:t>
            </a:r>
            <a:r>
              <a:rPr lang="it-IT" sz="1000" b="0" i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it-IT" sz="1000" b="0" i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boost</a:t>
            </a:r>
            <a:r>
              <a:rPr lang="it-IT" sz="1000" b="0" i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per </a:t>
            </a:r>
            <a:r>
              <a:rPr lang="it-IT" sz="1000" b="0" i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metre</a:t>
            </a:r>
            <a:r>
              <a:rPr lang="it-IT" sz="1000" b="0" i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of </a:t>
            </a:r>
            <a:r>
              <a:rPr lang="it-IT" sz="1000" b="0" i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ball</a:t>
            </a:r>
            <a:r>
              <a:rPr lang="it-IT" sz="1000" b="0" i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it-IT" sz="1000" b="0" i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radius</a:t>
            </a:r>
            <a:r>
              <a:rPr lang="it-IT" sz="1000" b="0" i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it-IT" sz="1000" b="0" i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it-IT" sz="1000" b="0" i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logitClamp</a:t>
            </a:r>
            <a:r>
              <a:rPr lang="it-IT" sz="1000" b="0" i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       = 15.0f;     // max </a:t>
            </a:r>
            <a:r>
              <a:rPr lang="it-IT" sz="1000" b="0" i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absolute</a:t>
            </a:r>
            <a:r>
              <a:rPr lang="it-IT" sz="1000" b="0" i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it-IT" sz="1000" b="0" i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logit</a:t>
            </a:r>
            <a:r>
              <a:rPr lang="it-IT" sz="1000" b="0" i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it-IT" sz="1000" b="0" i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it-IT" sz="1000" b="0" i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for </a:t>
            </a:r>
            <a:r>
              <a:rPr lang="it-IT" sz="1000" b="0" i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sigmoid</a:t>
            </a:r>
            <a:r>
              <a:rPr lang="it-IT" sz="1000" b="0" i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it-IT" sz="1000" b="0" i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stability</a:t>
            </a:r>
            <a:br>
              <a:rPr lang="it-IT" sz="1000" dirty="0">
                <a:solidFill>
                  <a:srgbClr val="CCCCCC"/>
                </a:solidFill>
                <a:latin typeface="Consolas" panose="020B0609020204030204" pitchFamily="49" charset="0"/>
              </a:rPr>
            </a:br>
            <a:r>
              <a:rPr lang="it-IT" sz="1000" b="0" i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maxCapturePerFrm</a:t>
            </a:r>
            <a:r>
              <a:rPr lang="it-IT" sz="1000" b="0" i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 = 150;       // max </a:t>
            </a:r>
            <a:r>
              <a:rPr lang="it-IT" sz="1000" b="0" i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particles</a:t>
            </a:r>
            <a:r>
              <a:rPr lang="it-IT" sz="1000" b="0" i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it-IT" sz="1000" b="0" i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captured</a:t>
            </a:r>
            <a:r>
              <a:rPr lang="it-IT" sz="1000" b="0" i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per frame (</a:t>
            </a:r>
            <a:r>
              <a:rPr lang="it-IT" sz="1000" b="0" i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growth</a:t>
            </a:r>
            <a:r>
              <a:rPr lang="it-IT" sz="1000" b="0" i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rate </a:t>
            </a:r>
            <a:r>
              <a:rPr lang="it-IT" sz="1000" b="0" i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limiter</a:t>
            </a:r>
            <a:r>
              <a:rPr lang="it-IT" sz="1000" b="0" i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it-IT" sz="1000" b="0" i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it-IT" sz="1000" b="0" i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wetnessMin</a:t>
            </a:r>
            <a:r>
              <a:rPr lang="it-IT" sz="1000" b="0" i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       = 0.0f;      // min </a:t>
            </a:r>
            <a:r>
              <a:rPr lang="it-IT" sz="1000" b="0" i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initial</a:t>
            </a:r>
            <a:r>
              <a:rPr lang="it-IT" sz="1000" b="0" i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it-IT" sz="1000" b="0" i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wetness</a:t>
            </a:r>
            <a:r>
              <a:rPr lang="it-IT" sz="1000" b="0" i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[0,1]</a:t>
            </a:r>
            <a:br>
              <a:rPr lang="it-IT" sz="1000" b="0" i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it-IT" sz="1000" b="0" i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wetnessMax</a:t>
            </a:r>
            <a:r>
              <a:rPr lang="it-IT" sz="1000" b="0" i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       = 1.0f;      // max </a:t>
            </a:r>
            <a:r>
              <a:rPr lang="it-IT" sz="1000" b="0" i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initial</a:t>
            </a:r>
            <a:r>
              <a:rPr lang="it-IT" sz="1000" b="0" i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it-IT" sz="1000" b="0" i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wetness</a:t>
            </a:r>
            <a:r>
              <a:rPr lang="it-IT" sz="1000" b="0" i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[0,1]</a:t>
            </a:r>
          </a:p>
          <a:p>
            <a:pPr algn="l">
              <a:spcBef>
                <a:spcPts val="1800"/>
              </a:spcBef>
              <a:spcAft>
                <a:spcPts val="1200"/>
              </a:spcAft>
              <a:buNone/>
            </a:pPr>
            <a:r>
              <a:rPr lang="it-IT" sz="1000" b="1" i="0" dirty="0">
                <a:solidFill>
                  <a:srgbClr val="CCCCCC"/>
                </a:solidFill>
                <a:effectLst/>
                <a:latin typeface="-apple-system"/>
              </a:rPr>
              <a:t>8.1.4. Shell</a:t>
            </a:r>
          </a:p>
          <a:p>
            <a:pPr algn="l" latinLnBrk="0">
              <a:spcAft>
                <a:spcPts val="1200"/>
              </a:spcAft>
              <a:buNone/>
            </a:pPr>
            <a:r>
              <a:rPr lang="it-IT" sz="1000" b="0" i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shellTetherK</a:t>
            </a:r>
            <a:r>
              <a:rPr lang="it-IT" sz="1000" b="0" i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     = 2717.0f;   // </a:t>
            </a:r>
            <a:r>
              <a:rPr lang="it-IT" sz="1000" b="0" i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tether</a:t>
            </a:r>
            <a:r>
              <a:rPr lang="it-IT" sz="1000" b="0" i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spring </a:t>
            </a:r>
            <a:r>
              <a:rPr lang="it-IT" sz="1000" b="0" i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stiffness</a:t>
            </a:r>
            <a:r>
              <a:rPr lang="it-IT" sz="1000" b="0" i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(N/m)</a:t>
            </a:r>
          </a:p>
          <a:p>
            <a:pPr algn="l" latinLnBrk="0">
              <a:spcAft>
                <a:spcPts val="1200"/>
              </a:spcAft>
              <a:buNone/>
            </a:pPr>
            <a:r>
              <a:rPr lang="it-IT" sz="1000" b="0" i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shellTetherDamp</a:t>
            </a:r>
            <a:r>
              <a:rPr lang="it-IT" sz="1000" b="0" i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  = 50.0f;     // </a:t>
            </a:r>
            <a:r>
              <a:rPr lang="it-IT" sz="1000" b="0" i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tether</a:t>
            </a:r>
            <a:r>
              <a:rPr lang="it-IT" sz="1000" b="0" i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damping </a:t>
            </a:r>
            <a:r>
              <a:rPr lang="it-IT" sz="1000" b="0" i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coefficient</a:t>
            </a:r>
            <a:endParaRPr lang="it-IT" sz="1000" b="0" i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algn="l">
              <a:spcAft>
                <a:spcPts val="1200"/>
              </a:spcAft>
              <a:buNone/>
            </a:pPr>
            <a:r>
              <a:rPr lang="it-IT" sz="1000" b="0" i="0" dirty="0">
                <a:solidFill>
                  <a:srgbClr val="CCCCCC"/>
                </a:solidFill>
                <a:effectLst/>
                <a:latin typeface="-apple-system"/>
              </a:rPr>
              <a:t>Shell </a:t>
            </a:r>
            <a:r>
              <a:rPr lang="it-IT" sz="1000" b="0" i="0" dirty="0" err="1">
                <a:solidFill>
                  <a:srgbClr val="CCCCCC"/>
                </a:solidFill>
                <a:effectLst/>
                <a:latin typeface="-apple-system"/>
              </a:rPr>
              <a:t>capacity</a:t>
            </a:r>
            <a:r>
              <a:rPr lang="it-IT" sz="1000" b="0" i="0" dirty="0">
                <a:solidFill>
                  <a:srgbClr val="CCCCCC"/>
                </a:solidFill>
                <a:effectLst/>
                <a:latin typeface="-apple-system"/>
              </a:rPr>
              <a:t> starts </a:t>
            </a:r>
            <a:r>
              <a:rPr lang="it-IT" sz="1000" b="0" i="0" dirty="0" err="1">
                <a:solidFill>
                  <a:srgbClr val="CCCCCC"/>
                </a:solidFill>
                <a:effectLst/>
                <a:latin typeface="-apple-system"/>
              </a:rPr>
              <a:t>at</a:t>
            </a:r>
            <a:r>
              <a:rPr lang="it-IT" sz="1000" b="0" i="0" dirty="0">
                <a:solidFill>
                  <a:srgbClr val="CCCCCC"/>
                </a:solidFill>
                <a:effectLst/>
                <a:latin typeface="-apple-system"/>
              </a:rPr>
              <a:t> 256 and </a:t>
            </a:r>
            <a:r>
              <a:rPr lang="it-IT" sz="1000" b="1" i="0" dirty="0" err="1">
                <a:solidFill>
                  <a:srgbClr val="CCCCCC"/>
                </a:solidFill>
                <a:effectLst/>
                <a:latin typeface="-apple-system"/>
              </a:rPr>
              <a:t>grows</a:t>
            </a:r>
            <a:r>
              <a:rPr lang="it-IT" sz="1000" b="1" i="0" dirty="0">
                <a:solidFill>
                  <a:srgbClr val="CCCCCC"/>
                </a:solidFill>
                <a:effectLst/>
                <a:latin typeface="-apple-system"/>
              </a:rPr>
              <a:t> </a:t>
            </a:r>
            <a:r>
              <a:rPr lang="it-IT" sz="1000" b="1" i="0" dirty="0" err="1">
                <a:solidFill>
                  <a:srgbClr val="CCCCCC"/>
                </a:solidFill>
                <a:effectLst/>
                <a:latin typeface="-apple-system"/>
              </a:rPr>
              <a:t>dynamically</a:t>
            </a:r>
            <a:r>
              <a:rPr lang="it-IT" sz="1000" b="0" i="0" dirty="0">
                <a:solidFill>
                  <a:srgbClr val="CCCCCC"/>
                </a:solidFill>
                <a:effectLst/>
                <a:latin typeface="-apple-system"/>
              </a:rPr>
              <a:t> (</a:t>
            </a:r>
            <a:r>
              <a:rPr lang="it-IT" sz="1000" b="0" i="0" dirty="0" err="1">
                <a:solidFill>
                  <a:srgbClr val="CCCCCC"/>
                </a:solidFill>
                <a:effectLst/>
                <a:latin typeface="-apple-system"/>
              </a:rPr>
              <a:t>doubles</a:t>
            </a:r>
            <a:r>
              <a:rPr lang="it-IT" sz="1000" b="0" i="0" dirty="0">
                <a:solidFill>
                  <a:srgbClr val="CCCCCC"/>
                </a:solidFill>
                <a:effectLst/>
                <a:latin typeface="-apple-system"/>
              </a:rPr>
              <a:t>) </a:t>
            </a:r>
            <a:r>
              <a:rPr lang="it-IT" sz="1000" b="0" i="0" dirty="0" err="1">
                <a:solidFill>
                  <a:srgbClr val="CCCCCC"/>
                </a:solidFill>
                <a:effectLst/>
                <a:latin typeface="-apple-system"/>
              </a:rPr>
              <a:t>as</a:t>
            </a:r>
            <a:r>
              <a:rPr lang="it-IT" sz="1000" b="0" i="0" dirty="0">
                <a:solidFill>
                  <a:srgbClr val="CCCCCC"/>
                </a:solidFill>
                <a:effectLst/>
                <a:latin typeface="-apple-system"/>
              </a:rPr>
              <a:t> </a:t>
            </a:r>
            <a:r>
              <a:rPr lang="it-IT" sz="1000" b="0" i="0" dirty="0" err="1">
                <a:solidFill>
                  <a:srgbClr val="CCCCCC"/>
                </a:solidFill>
                <a:effectLst/>
                <a:latin typeface="-apple-system"/>
              </a:rPr>
              <a:t>particles</a:t>
            </a:r>
            <a:r>
              <a:rPr lang="it-IT" sz="1000" b="0" i="0" dirty="0">
                <a:solidFill>
                  <a:srgbClr val="CCCCCC"/>
                </a:solidFill>
                <a:effectLst/>
                <a:latin typeface="-apple-system"/>
              </a:rPr>
              <a:t> are </a:t>
            </a:r>
            <a:r>
              <a:rPr lang="it-IT" sz="1000" b="0" i="0" dirty="0" err="1">
                <a:solidFill>
                  <a:srgbClr val="CCCCCC"/>
                </a:solidFill>
                <a:effectLst/>
                <a:latin typeface="-apple-system"/>
              </a:rPr>
              <a:t>captured</a:t>
            </a:r>
            <a:r>
              <a:rPr lang="it-IT" sz="1000" b="0" i="0" dirty="0">
                <a:solidFill>
                  <a:srgbClr val="CCCCCC"/>
                </a:solidFill>
                <a:effectLst/>
                <a:latin typeface="-apple-system"/>
              </a:rPr>
              <a:t>.</a:t>
            </a:r>
          </a:p>
          <a:p>
            <a:pPr algn="l">
              <a:spcBef>
                <a:spcPts val="1800"/>
              </a:spcBef>
              <a:spcAft>
                <a:spcPts val="1200"/>
              </a:spcAft>
              <a:buNone/>
            </a:pPr>
            <a:r>
              <a:rPr lang="it-IT" sz="1000" b="1" i="0" dirty="0">
                <a:solidFill>
                  <a:srgbClr val="CCCCCC"/>
                </a:solidFill>
                <a:effectLst/>
                <a:latin typeface="-apple-system"/>
              </a:rPr>
              <a:t>8.1.5. </a:t>
            </a:r>
            <a:r>
              <a:rPr lang="it-IT" sz="1000" b="1" i="0" dirty="0" err="1">
                <a:solidFill>
                  <a:srgbClr val="CCCCCC"/>
                </a:solidFill>
                <a:effectLst/>
                <a:latin typeface="-apple-system"/>
              </a:rPr>
              <a:t>Snowpack</a:t>
            </a:r>
            <a:r>
              <a:rPr lang="it-IT" sz="1000" b="1" i="0" dirty="0">
                <a:solidFill>
                  <a:srgbClr val="CCCCCC"/>
                </a:solidFill>
                <a:effectLst/>
                <a:latin typeface="-apple-system"/>
              </a:rPr>
              <a:t> </a:t>
            </a:r>
            <a:r>
              <a:rPr lang="it-IT" sz="1000" b="1" i="0" dirty="0" err="1">
                <a:solidFill>
                  <a:srgbClr val="CCCCCC"/>
                </a:solidFill>
                <a:effectLst/>
                <a:latin typeface="-apple-system"/>
              </a:rPr>
              <a:t>Geometry</a:t>
            </a:r>
            <a:endParaRPr lang="it-IT" sz="1000" b="1" i="0" dirty="0">
              <a:solidFill>
                <a:srgbClr val="CCCCCC"/>
              </a:solidFill>
              <a:effectLst/>
              <a:latin typeface="-apple-system"/>
            </a:endParaRPr>
          </a:p>
          <a:p>
            <a:pPr algn="l" latinLnBrk="0">
              <a:spcAft>
                <a:spcPts val="1200"/>
              </a:spcAft>
              <a:buNone/>
            </a:pPr>
            <a:r>
              <a:rPr lang="it-IT" sz="1000" b="0" i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numParticles</a:t>
            </a:r>
            <a:r>
              <a:rPr lang="it-IT" sz="1000" b="0" i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     = 1000000;   // </a:t>
            </a:r>
            <a:r>
              <a:rPr lang="it-IT" sz="1000" b="0" i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total</a:t>
            </a:r>
            <a:r>
              <a:rPr lang="it-IT" sz="1000" b="0" i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it-IT" sz="1000" b="0" i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snowpack</a:t>
            </a:r>
            <a:r>
              <a:rPr lang="it-IT" sz="1000" b="0" i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it-IT" sz="1000" b="0" i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particle</a:t>
            </a:r>
            <a:r>
              <a:rPr lang="it-IT" sz="1000" b="0" i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it-IT" sz="1000" b="0" i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count</a:t>
            </a:r>
            <a:endParaRPr lang="it-IT" sz="1000" b="0" i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algn="l" latinLnBrk="0">
              <a:spcAft>
                <a:spcPts val="1200"/>
              </a:spcAft>
              <a:buNone/>
            </a:pPr>
            <a:r>
              <a:rPr lang="it-IT" sz="1000" b="0" i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spawnLengthS</a:t>
            </a:r>
            <a:r>
              <a:rPr lang="it-IT" sz="1000" b="0" i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     = 1000.0f;   // patch </a:t>
            </a:r>
            <a:r>
              <a:rPr lang="it-IT" sz="1000" b="0" i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along</a:t>
            </a:r>
            <a:r>
              <a:rPr lang="it-IT" sz="1000" b="0" i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it-IT" sz="1000" b="0" i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slope</a:t>
            </a:r>
            <a:r>
              <a:rPr lang="it-IT" sz="1000" b="0" i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(m)</a:t>
            </a:r>
          </a:p>
          <a:p>
            <a:pPr algn="l" latinLnBrk="0">
              <a:spcAft>
                <a:spcPts val="1200"/>
              </a:spcAft>
              <a:buNone/>
            </a:pPr>
            <a:r>
              <a:rPr lang="it-IT" sz="1000" b="0" i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spawnWidthZ</a:t>
            </a:r>
            <a:r>
              <a:rPr lang="it-IT" sz="1000" b="0" i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      = 10.0f;     // patch </a:t>
            </a:r>
            <a:r>
              <a:rPr lang="it-IT" sz="1000" b="0" i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lateral</a:t>
            </a:r>
            <a:r>
              <a:rPr lang="it-IT" sz="1000" b="0" i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it-IT" sz="1000" b="0" i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width</a:t>
            </a:r>
            <a:r>
              <a:rPr lang="it-IT" sz="1000" b="0" i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(m)</a:t>
            </a:r>
          </a:p>
          <a:p>
            <a:pPr algn="l" latinLnBrk="0">
              <a:spcAft>
                <a:spcPts val="1200"/>
              </a:spcAft>
              <a:buNone/>
            </a:pPr>
            <a:r>
              <a:rPr lang="it-IT" sz="1000" b="0" i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spawnStartS</a:t>
            </a:r>
            <a:r>
              <a:rPr lang="it-IT" sz="1000" b="0" i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      = 0.0f;      // start offset </a:t>
            </a:r>
            <a:r>
              <a:rPr lang="it-IT" sz="1000" b="0" i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along</a:t>
            </a:r>
            <a:r>
              <a:rPr lang="it-IT" sz="1000" b="0" i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it-IT" sz="1000" b="0" i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slope</a:t>
            </a:r>
            <a:r>
              <a:rPr lang="it-IT" sz="1000" b="0" i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(m)</a:t>
            </a:r>
          </a:p>
          <a:p>
            <a:pPr algn="l" latinLnBrk="0">
              <a:spcAft>
                <a:spcPts val="1200"/>
              </a:spcAft>
              <a:buNone/>
            </a:pPr>
            <a:r>
              <a:rPr lang="it-IT" sz="1000" b="0" i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spawnThicknessN</a:t>
            </a:r>
            <a:r>
              <a:rPr lang="it-IT" sz="1000" b="0" i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  = 0.0f;      // 0 = single </a:t>
            </a:r>
            <a:r>
              <a:rPr lang="it-IT" sz="1000" b="0" i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layer</a:t>
            </a:r>
            <a:r>
              <a:rPr lang="it-IT" sz="1000" b="0" i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on </a:t>
            </a:r>
            <a:r>
              <a:rPr lang="it-IT" sz="1000" b="0" i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surface</a:t>
            </a:r>
            <a:endParaRPr lang="it-IT" sz="1000" b="0" i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algn="l">
              <a:spcBef>
                <a:spcPts val="1800"/>
              </a:spcBef>
              <a:spcAft>
                <a:spcPts val="1200"/>
              </a:spcAft>
              <a:buNone/>
            </a:pPr>
            <a:r>
              <a:rPr lang="it-IT" sz="1000" b="1" i="0" dirty="0">
                <a:solidFill>
                  <a:srgbClr val="CCCCCC"/>
                </a:solidFill>
                <a:effectLst/>
                <a:latin typeface="-apple-system"/>
              </a:rPr>
              <a:t>8.1.6. </a:t>
            </a:r>
            <a:r>
              <a:rPr lang="it-IT" sz="1000" b="1" i="0" dirty="0" err="1">
                <a:solidFill>
                  <a:srgbClr val="CCCCCC"/>
                </a:solidFill>
                <a:effectLst/>
                <a:latin typeface="-apple-system"/>
              </a:rPr>
              <a:t>Rigid</a:t>
            </a:r>
            <a:r>
              <a:rPr lang="it-IT" sz="1000" b="1" i="0" dirty="0">
                <a:solidFill>
                  <a:srgbClr val="CCCCCC"/>
                </a:solidFill>
                <a:effectLst/>
                <a:latin typeface="-apple-system"/>
              </a:rPr>
              <a:t>-Body Drag</a:t>
            </a:r>
          </a:p>
          <a:p>
            <a:pPr algn="l" latinLnBrk="0">
              <a:spcAft>
                <a:spcPts val="1200"/>
              </a:spcAft>
              <a:buNone/>
            </a:pPr>
            <a:r>
              <a:rPr lang="it-IT" sz="1000" b="0" i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rollingDrag</a:t>
            </a:r>
            <a:r>
              <a:rPr lang="it-IT" sz="1000" b="0" i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      = 0.15f;     // </a:t>
            </a:r>
            <a:r>
              <a:rPr lang="it-IT" sz="1000" b="0" i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rolling</a:t>
            </a:r>
            <a:r>
              <a:rPr lang="it-IT" sz="1000" b="0" i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it-IT" sz="1000" b="0" i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friction</a:t>
            </a:r>
            <a:r>
              <a:rPr lang="it-IT" sz="1000" b="0" i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(linear drag </a:t>
            </a:r>
            <a:r>
              <a:rPr lang="it-IT" sz="1000" b="0" i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coefficient</a:t>
            </a:r>
            <a:r>
              <a:rPr lang="it-IT" sz="1000" b="0" i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algn="l" latinLnBrk="0">
              <a:spcAft>
                <a:spcPts val="1200"/>
              </a:spcAft>
              <a:buNone/>
            </a:pPr>
            <a:r>
              <a:rPr lang="it-IT" sz="1000" b="0" i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aeroCoeff</a:t>
            </a:r>
            <a:r>
              <a:rPr lang="it-IT" sz="1000" b="0" i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        = 0.3f;      // </a:t>
            </a:r>
            <a:r>
              <a:rPr lang="it-IT" sz="1000" b="0" i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aerodynamic</a:t>
            </a:r>
            <a:r>
              <a:rPr lang="it-IT" sz="1000" b="0" i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drag </a:t>
            </a:r>
            <a:r>
              <a:rPr lang="it-IT" sz="1000" b="0" i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coefficient</a:t>
            </a:r>
            <a:r>
              <a:rPr lang="it-IT" sz="1000" b="0" i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it-IT" sz="1000" b="0" i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quadratic</a:t>
            </a:r>
            <a:r>
              <a:rPr lang="it-IT" sz="1000" b="0" i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it-IT" sz="1000" b="0" i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scales</a:t>
            </a:r>
            <a:r>
              <a:rPr lang="it-IT" sz="1000" b="0" i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with R²)</a:t>
            </a:r>
          </a:p>
          <a:p>
            <a:pPr algn="l">
              <a:spcBef>
                <a:spcPts val="1800"/>
              </a:spcBef>
              <a:spcAft>
                <a:spcPts val="1200"/>
              </a:spcAft>
              <a:buNone/>
            </a:pPr>
            <a:r>
              <a:rPr lang="it-IT" sz="1000" b="1" i="0" dirty="0">
                <a:solidFill>
                  <a:srgbClr val="CCCCCC"/>
                </a:solidFill>
                <a:effectLst/>
                <a:latin typeface="-apple-system"/>
              </a:rPr>
              <a:t>8.1.7. </a:t>
            </a:r>
            <a:r>
              <a:rPr lang="it-IT" sz="1000" b="1" i="0" dirty="0" err="1">
                <a:solidFill>
                  <a:srgbClr val="CCCCCC"/>
                </a:solidFill>
                <a:effectLst/>
                <a:latin typeface="-apple-system"/>
              </a:rPr>
              <a:t>Spatial</a:t>
            </a:r>
            <a:r>
              <a:rPr lang="it-IT" sz="1000" b="1" i="0" dirty="0">
                <a:solidFill>
                  <a:srgbClr val="CCCCCC"/>
                </a:solidFill>
                <a:effectLst/>
                <a:latin typeface="-apple-system"/>
              </a:rPr>
              <a:t> </a:t>
            </a:r>
            <a:r>
              <a:rPr lang="it-IT" sz="1000" b="1" i="0" dirty="0" err="1">
                <a:solidFill>
                  <a:srgbClr val="CCCCCC"/>
                </a:solidFill>
                <a:effectLst/>
                <a:latin typeface="-apple-system"/>
              </a:rPr>
              <a:t>Grid</a:t>
            </a:r>
            <a:endParaRPr lang="it-IT" sz="1000" b="1" i="0" dirty="0">
              <a:solidFill>
                <a:srgbClr val="CCCCCC"/>
              </a:solidFill>
              <a:effectLst/>
              <a:latin typeface="-apple-system"/>
            </a:endParaRPr>
          </a:p>
          <a:p>
            <a:pPr algn="l" latinLnBrk="0">
              <a:spcAft>
                <a:spcPts val="1200"/>
              </a:spcAft>
              <a:buNone/>
            </a:pPr>
            <a:r>
              <a:rPr lang="it-IT" sz="1000" b="0" i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cellSize</a:t>
            </a:r>
            <a:r>
              <a:rPr lang="it-IT" sz="1000" b="0" i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         = 4 * </a:t>
            </a:r>
            <a:r>
              <a:rPr lang="it-IT" sz="1000" b="0" i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particleRadius</a:t>
            </a:r>
            <a:r>
              <a:rPr lang="it-IT" sz="1000" b="0" i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  // = 0.08 m (default)</a:t>
            </a:r>
          </a:p>
          <a:p>
            <a:pPr algn="l">
              <a:spcAft>
                <a:spcPts val="1200"/>
              </a:spcAft>
              <a:buNone/>
            </a:pPr>
            <a:r>
              <a:rPr lang="it-IT" sz="1000" b="0" i="0" dirty="0">
                <a:solidFill>
                  <a:srgbClr val="CCCCCC"/>
                </a:solidFill>
                <a:effectLst/>
                <a:latin typeface="-apple-system"/>
              </a:rPr>
              <a:t>The </a:t>
            </a:r>
            <a:r>
              <a:rPr lang="it-IT" sz="1000" b="0" i="0" dirty="0" err="1">
                <a:solidFill>
                  <a:srgbClr val="CCCCCC"/>
                </a:solidFill>
                <a:effectLst/>
                <a:latin typeface="-apple-system"/>
              </a:rPr>
              <a:t>grid</a:t>
            </a:r>
            <a:r>
              <a:rPr lang="it-IT" sz="1000" b="0" i="0" dirty="0">
                <a:solidFill>
                  <a:srgbClr val="CCCCCC"/>
                </a:solidFill>
                <a:effectLst/>
                <a:latin typeface="-apple-system"/>
              </a:rPr>
              <a:t> </a:t>
            </a:r>
            <a:r>
              <a:rPr lang="it-IT" sz="1000" b="0" i="0" dirty="0" err="1">
                <a:solidFill>
                  <a:srgbClr val="CCCCCC"/>
                </a:solidFill>
                <a:effectLst/>
                <a:latin typeface="-apple-system"/>
              </a:rPr>
              <a:t>uses</a:t>
            </a:r>
            <a:r>
              <a:rPr lang="it-IT" sz="1000" b="0" i="0" dirty="0">
                <a:solidFill>
                  <a:srgbClr val="CCCCCC"/>
                </a:solidFill>
                <a:effectLst/>
                <a:latin typeface="-apple-system"/>
              </a:rPr>
              <a:t> a compact </a:t>
            </a:r>
            <a:r>
              <a:rPr lang="it-IT" sz="1000" b="0" i="0" dirty="0" err="1">
                <a:solidFill>
                  <a:srgbClr val="CCCCCC"/>
                </a:solidFill>
                <a:effectLst/>
                <a:latin typeface="-apple-system"/>
              </a:rPr>
              <a:t>hash</a:t>
            </a:r>
            <a:r>
              <a:rPr lang="it-IT" sz="1000" b="0" i="0" dirty="0">
                <a:solidFill>
                  <a:srgbClr val="CCCCCC"/>
                </a:solidFill>
                <a:effectLst/>
                <a:latin typeface="-apple-system"/>
              </a:rPr>
              <a:t> </a:t>
            </a:r>
            <a:r>
              <a:rPr lang="it-IT" sz="1000" b="0" i="0" dirty="0" err="1">
                <a:solidFill>
                  <a:srgbClr val="CCCCCC"/>
                </a:solidFill>
                <a:effectLst/>
                <a:latin typeface="-apple-system"/>
              </a:rPr>
              <a:t>table</a:t>
            </a:r>
            <a:r>
              <a:rPr lang="it-IT" sz="1000" b="0" i="0" dirty="0">
                <a:solidFill>
                  <a:srgbClr val="CCCCCC"/>
                </a:solidFill>
                <a:effectLst/>
                <a:latin typeface="-apple-system"/>
              </a:rPr>
              <a:t>: </a:t>
            </a:r>
            <a:r>
              <a:rPr lang="it-IT" sz="1000" b="0" i="0" dirty="0" err="1">
                <a:solidFill>
                  <a:srgbClr val="CCCCCC"/>
                </a:solidFill>
                <a:effectLst/>
                <a:latin typeface="ui-monospace"/>
              </a:rPr>
              <a:t>hashTableSize</a:t>
            </a:r>
            <a:r>
              <a:rPr lang="it-IT" sz="1000" b="0" i="0" dirty="0">
                <a:solidFill>
                  <a:srgbClr val="CCCCCC"/>
                </a:solidFill>
                <a:effectLst/>
                <a:latin typeface="ui-monospace"/>
              </a:rPr>
              <a:t> = nextPowerOf2(</a:t>
            </a:r>
            <a:r>
              <a:rPr lang="it-IT" sz="1000" b="0" i="0" dirty="0" err="1">
                <a:solidFill>
                  <a:srgbClr val="CCCCCC"/>
                </a:solidFill>
                <a:effectLst/>
                <a:latin typeface="ui-monospace"/>
              </a:rPr>
              <a:t>shellCapacity</a:t>
            </a:r>
            <a:r>
              <a:rPr lang="it-IT" sz="1000" b="0" i="0" dirty="0">
                <a:solidFill>
                  <a:srgbClr val="CCCCCC"/>
                </a:solidFill>
                <a:effectLst/>
                <a:latin typeface="ui-monospace"/>
              </a:rPr>
              <a:t> × 8)</a:t>
            </a:r>
            <a:r>
              <a:rPr lang="it-IT" sz="1000" b="0" i="0" dirty="0">
                <a:solidFill>
                  <a:srgbClr val="CCCCCC"/>
                </a:solidFill>
                <a:effectLst/>
                <a:latin typeface="-apple-system"/>
              </a:rPr>
              <a:t>, </a:t>
            </a:r>
            <a:r>
              <a:rPr lang="it-IT" sz="1000" b="0" i="0" dirty="0" err="1">
                <a:solidFill>
                  <a:srgbClr val="CCCCCC"/>
                </a:solidFill>
                <a:effectLst/>
                <a:latin typeface="-apple-system"/>
              </a:rPr>
              <a:t>clamped</a:t>
            </a:r>
            <a:r>
              <a:rPr lang="it-IT" sz="1000" b="0" i="0" dirty="0">
                <a:solidFill>
                  <a:srgbClr val="CCCCCC"/>
                </a:solidFill>
                <a:effectLst/>
                <a:latin typeface="-apple-system"/>
              </a:rPr>
              <a:t> to </a:t>
            </a:r>
            <a:r>
              <a:rPr lang="it-IT" sz="1000" b="0" i="0" dirty="0">
                <a:solidFill>
                  <a:srgbClr val="CCCCCC"/>
                </a:solidFill>
                <a:effectLst/>
                <a:latin typeface="ui-monospace"/>
              </a:rPr>
              <a:t>[4096, </a:t>
            </a:r>
            <a:r>
              <a:rPr lang="it-IT" sz="1000" b="0" i="0" dirty="0" err="1">
                <a:solidFill>
                  <a:srgbClr val="CCCCCC"/>
                </a:solidFill>
                <a:effectLst/>
                <a:latin typeface="ui-monospace"/>
              </a:rPr>
              <a:t>numCells</a:t>
            </a:r>
            <a:r>
              <a:rPr lang="it-IT" sz="1000" b="0" i="0" dirty="0">
                <a:solidFill>
                  <a:srgbClr val="CCCCCC"/>
                </a:solidFill>
                <a:effectLst/>
                <a:latin typeface="ui-monospace"/>
              </a:rPr>
              <a:t>]</a:t>
            </a:r>
            <a:r>
              <a:rPr lang="it-IT" sz="1000" b="0" i="0" dirty="0">
                <a:solidFill>
                  <a:srgbClr val="CCCCCC"/>
                </a:solidFill>
                <a:effectLst/>
                <a:latin typeface="-apple-system"/>
              </a:rPr>
              <a:t>. </a:t>
            </a:r>
            <a:r>
              <a:rPr lang="it-IT" sz="1000" b="0" i="0" dirty="0" err="1">
                <a:solidFill>
                  <a:srgbClr val="CCCCCC"/>
                </a:solidFill>
                <a:effectLst/>
                <a:latin typeface="-apple-system"/>
              </a:rPr>
              <a:t>This</a:t>
            </a:r>
            <a:r>
              <a:rPr lang="it-IT" sz="1000" b="0" i="0" dirty="0">
                <a:solidFill>
                  <a:srgbClr val="CCCCCC"/>
                </a:solidFill>
                <a:effectLst/>
                <a:latin typeface="-apple-system"/>
              </a:rPr>
              <a:t> </a:t>
            </a:r>
            <a:r>
              <a:rPr lang="it-IT" sz="1000" b="0" i="0" dirty="0" err="1">
                <a:solidFill>
                  <a:srgbClr val="CCCCCC"/>
                </a:solidFill>
                <a:effectLst/>
                <a:latin typeface="-apple-system"/>
              </a:rPr>
              <a:t>avoids</a:t>
            </a:r>
            <a:r>
              <a:rPr lang="it-IT" sz="1000" b="0" i="0" dirty="0">
                <a:solidFill>
                  <a:srgbClr val="CCCCCC"/>
                </a:solidFill>
                <a:effectLst/>
                <a:latin typeface="-apple-system"/>
              </a:rPr>
              <a:t> </a:t>
            </a:r>
            <a:r>
              <a:rPr lang="it-IT" sz="1000" b="0" i="0" dirty="0" err="1">
                <a:solidFill>
                  <a:srgbClr val="CCCCCC"/>
                </a:solidFill>
                <a:effectLst/>
                <a:latin typeface="-apple-system"/>
              </a:rPr>
              <a:t>allocating</a:t>
            </a:r>
            <a:r>
              <a:rPr lang="it-IT" sz="1000" b="0" i="0" dirty="0">
                <a:solidFill>
                  <a:srgbClr val="CCCCCC"/>
                </a:solidFill>
                <a:effectLst/>
                <a:latin typeface="-apple-system"/>
              </a:rPr>
              <a:t> the full </a:t>
            </a:r>
            <a:r>
              <a:rPr lang="it-IT" sz="1000" b="0" i="0" dirty="0" err="1">
                <a:solidFill>
                  <a:srgbClr val="CCCCCC"/>
                </a:solidFill>
                <a:effectLst/>
                <a:latin typeface="-apple-system"/>
              </a:rPr>
              <a:t>grid</a:t>
            </a:r>
            <a:r>
              <a:rPr lang="it-IT" sz="1000" b="0" i="0" dirty="0">
                <a:solidFill>
                  <a:srgbClr val="CCCCCC"/>
                </a:solidFill>
                <a:effectLst/>
                <a:latin typeface="-apple-system"/>
              </a:rPr>
              <a:t> (~9.8M </a:t>
            </a:r>
            <a:r>
              <a:rPr lang="it-IT" sz="1000" b="0" i="0" dirty="0" err="1">
                <a:solidFill>
                  <a:srgbClr val="CCCCCC"/>
                </a:solidFill>
                <a:effectLst/>
                <a:latin typeface="-apple-system"/>
              </a:rPr>
              <a:t>cells</a:t>
            </a:r>
            <a:r>
              <a:rPr lang="it-IT" sz="1000" b="0" i="0" dirty="0">
                <a:solidFill>
                  <a:srgbClr val="CCCCCC"/>
                </a:solidFill>
                <a:effectLst/>
                <a:latin typeface="-apple-system"/>
              </a:rPr>
              <a:t> → ~75 MB) and </a:t>
            </a:r>
            <a:r>
              <a:rPr lang="it-IT" sz="1000" b="0" i="0" dirty="0" err="1">
                <a:solidFill>
                  <a:srgbClr val="CCCCCC"/>
                </a:solidFill>
                <a:effectLst/>
                <a:latin typeface="-apple-system"/>
              </a:rPr>
              <a:t>instead</a:t>
            </a:r>
            <a:r>
              <a:rPr lang="it-IT" sz="1000" b="0" i="0" dirty="0">
                <a:solidFill>
                  <a:srgbClr val="CCCCCC"/>
                </a:solidFill>
                <a:effectLst/>
                <a:latin typeface="-apple-system"/>
              </a:rPr>
              <a:t> </a:t>
            </a:r>
            <a:r>
              <a:rPr lang="it-IT" sz="1000" b="0" i="0" dirty="0" err="1">
                <a:solidFill>
                  <a:srgbClr val="CCCCCC"/>
                </a:solidFill>
                <a:effectLst/>
                <a:latin typeface="-apple-system"/>
              </a:rPr>
              <a:t>uses</a:t>
            </a:r>
            <a:r>
              <a:rPr lang="it-IT" sz="1000" b="0" i="0" dirty="0">
                <a:solidFill>
                  <a:srgbClr val="CCCCCC"/>
                </a:solidFill>
                <a:effectLst/>
                <a:latin typeface="-apple-system"/>
              </a:rPr>
              <a:t> ~32K entries (~256 KB) with prime-</a:t>
            </a:r>
            <a:r>
              <a:rPr lang="it-IT" sz="1000" b="0" i="0" dirty="0" err="1">
                <a:solidFill>
                  <a:srgbClr val="CCCCCC"/>
                </a:solidFill>
                <a:effectLst/>
                <a:latin typeface="-apple-system"/>
              </a:rPr>
              <a:t>number</a:t>
            </a:r>
            <a:r>
              <a:rPr lang="it-IT" sz="1000" b="0" i="0" dirty="0">
                <a:solidFill>
                  <a:srgbClr val="CCCCCC"/>
                </a:solidFill>
                <a:effectLst/>
                <a:latin typeface="-apple-system"/>
              </a:rPr>
              <a:t> </a:t>
            </a:r>
            <a:r>
              <a:rPr lang="it-IT" sz="1000" b="0" i="0" dirty="0" err="1">
                <a:solidFill>
                  <a:srgbClr val="CCCCCC"/>
                </a:solidFill>
                <a:effectLst/>
                <a:latin typeface="-apple-system"/>
              </a:rPr>
              <a:t>spatial</a:t>
            </a:r>
            <a:r>
              <a:rPr lang="it-IT" sz="1000" b="0" i="0" dirty="0">
                <a:solidFill>
                  <a:srgbClr val="CCCCCC"/>
                </a:solidFill>
                <a:effectLst/>
                <a:latin typeface="-apple-system"/>
              </a:rPr>
              <a:t> </a:t>
            </a:r>
            <a:r>
              <a:rPr lang="it-IT" sz="1000" b="0" i="0" dirty="0" err="1">
                <a:solidFill>
                  <a:srgbClr val="CCCCCC"/>
                </a:solidFill>
                <a:effectLst/>
                <a:latin typeface="-apple-system"/>
              </a:rPr>
              <a:t>hashing</a:t>
            </a:r>
            <a:r>
              <a:rPr lang="it-IT" sz="1000" b="0" i="0" dirty="0">
                <a:solidFill>
                  <a:srgbClr val="CCCCCC"/>
                </a:solidFill>
                <a:effectLst/>
                <a:latin typeface="-apple-system"/>
              </a:rPr>
              <a:t> (Teschner et al., 2003).</a:t>
            </a:r>
          </a:p>
          <a:p>
            <a:pPr algn="l">
              <a:spcAft>
                <a:spcPts val="1200"/>
              </a:spcAft>
              <a:buNone/>
            </a:pPr>
            <a:r>
              <a:rPr lang="it-IT" sz="1000" b="0" i="0" dirty="0">
                <a:solidFill>
                  <a:srgbClr val="CCCCCC"/>
                </a:solidFill>
                <a:effectLst/>
                <a:latin typeface="-apple-system"/>
              </a:rPr>
              <a:t>All </a:t>
            </a:r>
            <a:r>
              <a:rPr lang="it-IT" sz="1000" b="0" i="0" dirty="0" err="1">
                <a:solidFill>
                  <a:srgbClr val="CCCCCC"/>
                </a:solidFill>
                <a:effectLst/>
                <a:latin typeface="-apple-system"/>
              </a:rPr>
              <a:t>parameters</a:t>
            </a:r>
            <a:r>
              <a:rPr lang="it-IT" sz="1000" b="0" i="0" dirty="0">
                <a:solidFill>
                  <a:srgbClr val="CCCCCC"/>
                </a:solidFill>
                <a:effectLst/>
                <a:latin typeface="-apple-system"/>
              </a:rPr>
              <a:t> can be </a:t>
            </a:r>
            <a:r>
              <a:rPr lang="it-IT" sz="1000" b="0" i="0" dirty="0" err="1">
                <a:solidFill>
                  <a:srgbClr val="CCCCCC"/>
                </a:solidFill>
                <a:effectLst/>
                <a:latin typeface="-apple-system"/>
              </a:rPr>
              <a:t>overridden</a:t>
            </a:r>
            <a:r>
              <a:rPr lang="it-IT" sz="1000" b="0" i="0" dirty="0">
                <a:solidFill>
                  <a:srgbClr val="CCCCCC"/>
                </a:solidFill>
                <a:effectLst/>
                <a:latin typeface="-apple-system"/>
              </a:rPr>
              <a:t> via CLI flags (</a:t>
            </a:r>
            <a:r>
              <a:rPr lang="it-IT" sz="1000" b="0" i="0" dirty="0" err="1">
                <a:solidFill>
                  <a:srgbClr val="CCCCCC"/>
                </a:solidFill>
                <a:effectLst/>
                <a:latin typeface="-apple-system"/>
              </a:rPr>
              <a:t>run</a:t>
            </a:r>
            <a:r>
              <a:rPr lang="it-IT" sz="1000" b="0" i="0" dirty="0">
                <a:solidFill>
                  <a:srgbClr val="CCCCCC"/>
                </a:solidFill>
                <a:effectLst/>
                <a:latin typeface="-apple-system"/>
              </a:rPr>
              <a:t> with </a:t>
            </a:r>
            <a:r>
              <a:rPr lang="it-IT" sz="1000" b="0" i="0" dirty="0">
                <a:solidFill>
                  <a:srgbClr val="CCCCCC"/>
                </a:solidFill>
                <a:effectLst/>
                <a:latin typeface="ui-monospace"/>
              </a:rPr>
              <a:t>--help</a:t>
            </a:r>
            <a:r>
              <a:rPr lang="it-IT" sz="1000" b="0" i="0" dirty="0">
                <a:solidFill>
                  <a:srgbClr val="CCCCCC"/>
                </a:solidFill>
                <a:effectLst/>
                <a:latin typeface="-apple-system"/>
              </a:rPr>
              <a:t> for the full list).</a:t>
            </a:r>
          </a:p>
          <a:p>
            <a:pPr algn="l">
              <a:spcBef>
                <a:spcPts val="1800"/>
              </a:spcBef>
              <a:spcAft>
                <a:spcPts val="1200"/>
              </a:spcAft>
              <a:buNone/>
            </a:pPr>
            <a:r>
              <a:rPr lang="it-IT" sz="1000" b="1" i="0" dirty="0">
                <a:solidFill>
                  <a:srgbClr val="CCCCCC"/>
                </a:solidFill>
                <a:effectLst/>
                <a:latin typeface="-apple-system"/>
              </a:rPr>
              <a:t>8.1.8. Performance / Profiling</a:t>
            </a:r>
          </a:p>
          <a:p>
            <a:pPr algn="l" latinLnBrk="0">
              <a:spcAft>
                <a:spcPts val="1200"/>
              </a:spcAft>
              <a:buNone/>
            </a:pPr>
            <a:r>
              <a:rPr lang="it-IT" sz="1000" b="0" i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traceInterval</a:t>
            </a:r>
            <a:r>
              <a:rPr lang="it-IT" sz="1000" b="0" i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    = 0;         // frames </a:t>
            </a:r>
            <a:r>
              <a:rPr lang="it-IT" sz="1000" b="0" i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between</a:t>
            </a:r>
            <a:r>
              <a:rPr lang="it-IT" sz="1000" b="0" i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trace snapshots (0 to </a:t>
            </a:r>
            <a:r>
              <a:rPr lang="it-IT" sz="1000" b="0" i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disable</a:t>
            </a:r>
            <a:r>
              <a:rPr lang="it-IT" sz="1000" b="0" i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algn="l" latinLnBrk="0">
              <a:spcAft>
                <a:spcPts val="1200"/>
              </a:spcAft>
              <a:buNone/>
            </a:pPr>
            <a:r>
              <a:rPr lang="it-IT" sz="1000" b="0" i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logInterval</a:t>
            </a:r>
            <a:r>
              <a:rPr lang="it-IT" sz="1000" b="0" i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      = 0;         // frames </a:t>
            </a:r>
            <a:r>
              <a:rPr lang="it-IT" sz="1000" b="0" i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between</a:t>
            </a:r>
            <a:r>
              <a:rPr lang="it-IT" sz="1000" b="0" i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log outputs (0 = no log)</a:t>
            </a:r>
          </a:p>
        </p:txBody>
      </p:sp>
    </p:spTree>
    <p:extLst>
      <p:ext uri="{BB962C8B-B14F-4D97-AF65-F5344CB8AC3E}">
        <p14:creationId xmlns:p14="http://schemas.microsoft.com/office/powerpoint/2010/main" val="11753199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275B8D1-435E-EFF3-6554-CD7DC56135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09C214D-F19A-0D2C-7824-D06CE27515DA}"/>
              </a:ext>
            </a:extLst>
          </p:cNvPr>
          <p:cNvSpPr txBox="1"/>
          <p:nvPr/>
        </p:nvSpPr>
        <p:spPr>
          <a:xfrm>
            <a:off x="457200" y="365760"/>
            <a:ext cx="82296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rPr lang="en-US" noProof="0" dirty="0"/>
              <a:t>Physics Model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7AB5564-B044-6569-F5E7-43D5F735DCD4}"/>
              </a:ext>
            </a:extLst>
          </p:cNvPr>
          <p:cNvSpPr txBox="1"/>
          <p:nvPr/>
        </p:nvSpPr>
        <p:spPr>
          <a:xfrm>
            <a:off x="457200" y="1188720"/>
            <a:ext cx="8229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76B900"/>
                </a:solidFill>
              </a:defRPr>
            </a:pPr>
            <a:r>
              <a:rPr lang="en-US" noProof="0" dirty="0"/>
              <a:t>Default Values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1313584-AD97-AE57-B4FF-5D739FC72DC3}"/>
              </a:ext>
            </a:extLst>
          </p:cNvPr>
          <p:cNvSpPr txBox="1"/>
          <p:nvPr/>
        </p:nvSpPr>
        <p:spPr>
          <a:xfrm>
            <a:off x="2439333" y="6503488"/>
            <a:ext cx="426533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noProof="0" dirty="0">
                <a:solidFill>
                  <a:srgbClr val="76B900"/>
                </a:solidFill>
              </a:rPr>
              <a:t>GPU Programming: Angry Santa - </a:t>
            </a:r>
            <a:r>
              <a:rPr lang="en-US" sz="1200" noProof="0" dirty="0" err="1">
                <a:solidFill>
                  <a:srgbClr val="76B900"/>
                </a:solidFill>
              </a:rPr>
              <a:t>Politecnico</a:t>
            </a:r>
            <a:r>
              <a:rPr lang="en-US" sz="1200" noProof="0" dirty="0">
                <a:solidFill>
                  <a:srgbClr val="76B900"/>
                </a:solidFill>
              </a:rPr>
              <a:t> di Torino 2025/2026</a:t>
            </a: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3D900908-5D86-82F6-DD95-4D0F5963AF33}"/>
              </a:ext>
            </a:extLst>
          </p:cNvPr>
          <p:cNvSpPr txBox="1"/>
          <p:nvPr/>
        </p:nvSpPr>
        <p:spPr>
          <a:xfrm>
            <a:off x="613533" y="1549426"/>
            <a:ext cx="8229599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800"/>
              </a:spcBef>
              <a:spcAft>
                <a:spcPts val="1200"/>
              </a:spcAft>
              <a:buNone/>
            </a:pPr>
            <a:r>
              <a:rPr lang="it-IT" sz="1000" b="1" i="0" dirty="0">
                <a:solidFill>
                  <a:srgbClr val="CCCCCC"/>
                </a:solidFill>
                <a:effectLst/>
                <a:latin typeface="-apple-system"/>
              </a:rPr>
              <a:t>Shell</a:t>
            </a:r>
          </a:p>
          <a:p>
            <a:pPr algn="l" latinLnBrk="0">
              <a:spcAft>
                <a:spcPts val="1200"/>
              </a:spcAft>
              <a:buNone/>
            </a:pPr>
            <a:r>
              <a:rPr lang="it-IT" sz="1000" b="0" i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shellTetherK</a:t>
            </a:r>
            <a:r>
              <a:rPr lang="it-IT" sz="1000" b="0" i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     = 2717.0f;   // </a:t>
            </a:r>
            <a:r>
              <a:rPr lang="it-IT" sz="1000" b="0" i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tether</a:t>
            </a:r>
            <a:r>
              <a:rPr lang="it-IT" sz="1000" b="0" i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spring </a:t>
            </a:r>
            <a:r>
              <a:rPr lang="it-IT" sz="1000" b="0" i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stiffness</a:t>
            </a:r>
            <a:r>
              <a:rPr lang="it-IT" sz="1000" b="0" i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(N/m)</a:t>
            </a:r>
            <a:br>
              <a:rPr lang="it-IT" sz="1000" b="0" i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it-IT" sz="1000" b="0" i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shellTetherDamp</a:t>
            </a:r>
            <a:r>
              <a:rPr lang="it-IT" sz="1000" b="0" i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  = 50.0f;     // </a:t>
            </a:r>
            <a:r>
              <a:rPr lang="it-IT" sz="1000" b="0" i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tether</a:t>
            </a:r>
            <a:r>
              <a:rPr lang="it-IT" sz="1000" b="0" i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damping </a:t>
            </a:r>
            <a:r>
              <a:rPr lang="it-IT" sz="1000" b="0" i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coefficient</a:t>
            </a:r>
            <a:endParaRPr lang="it-IT" sz="10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pPr algn="l" latinLnBrk="0">
              <a:spcAft>
                <a:spcPts val="1200"/>
              </a:spcAft>
              <a:buNone/>
            </a:pPr>
            <a:r>
              <a:rPr lang="it-IT" sz="1000" b="1" i="0" dirty="0" err="1">
                <a:solidFill>
                  <a:srgbClr val="CCCCCC"/>
                </a:solidFill>
                <a:effectLst/>
                <a:latin typeface="-apple-system"/>
              </a:rPr>
              <a:t>Snowpack</a:t>
            </a:r>
            <a:r>
              <a:rPr lang="it-IT" sz="1000" b="1" i="0" dirty="0">
                <a:solidFill>
                  <a:srgbClr val="CCCCCC"/>
                </a:solidFill>
                <a:effectLst/>
                <a:latin typeface="-apple-system"/>
              </a:rPr>
              <a:t> </a:t>
            </a:r>
            <a:r>
              <a:rPr lang="it-IT" sz="1000" b="1" i="0" dirty="0" err="1">
                <a:solidFill>
                  <a:srgbClr val="CCCCCC"/>
                </a:solidFill>
                <a:effectLst/>
                <a:latin typeface="-apple-system"/>
              </a:rPr>
              <a:t>Geometry</a:t>
            </a:r>
            <a:endParaRPr lang="it-IT" sz="1000" b="1" i="0" dirty="0">
              <a:solidFill>
                <a:srgbClr val="CCCCCC"/>
              </a:solidFill>
              <a:effectLst/>
              <a:latin typeface="-apple-system"/>
            </a:endParaRPr>
          </a:p>
          <a:p>
            <a:pPr algn="l" latinLnBrk="0">
              <a:spcAft>
                <a:spcPts val="1200"/>
              </a:spcAft>
              <a:buNone/>
            </a:pPr>
            <a:r>
              <a:rPr lang="it-IT" sz="1000" b="0" i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numParticles</a:t>
            </a:r>
            <a:r>
              <a:rPr lang="it-IT" sz="1000" b="0" i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     = 1000000;   // </a:t>
            </a:r>
            <a:r>
              <a:rPr lang="it-IT" sz="1000" b="0" i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total</a:t>
            </a:r>
            <a:r>
              <a:rPr lang="it-IT" sz="1000" b="0" i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it-IT" sz="1000" b="0" i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snowpack</a:t>
            </a:r>
            <a:r>
              <a:rPr lang="it-IT" sz="1000" b="0" i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it-IT" sz="1000" b="0" i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particle</a:t>
            </a:r>
            <a:r>
              <a:rPr lang="it-IT" sz="1000" b="0" i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it-IT" sz="1000" b="0" i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count</a:t>
            </a:r>
            <a:br>
              <a:rPr lang="it-IT" sz="1000" dirty="0">
                <a:solidFill>
                  <a:srgbClr val="CCCCCC"/>
                </a:solidFill>
                <a:latin typeface="Consolas" panose="020B0609020204030204" pitchFamily="49" charset="0"/>
              </a:rPr>
            </a:br>
            <a:r>
              <a:rPr lang="it-IT" sz="1000" b="0" i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spawnLengthS</a:t>
            </a:r>
            <a:r>
              <a:rPr lang="it-IT" sz="1000" b="0" i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     = 1000.0f;   // patch </a:t>
            </a:r>
            <a:r>
              <a:rPr lang="it-IT" sz="1000" b="0" i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along</a:t>
            </a:r>
            <a:r>
              <a:rPr lang="it-IT" sz="1000" b="0" i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it-IT" sz="1000" b="0" i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slope</a:t>
            </a:r>
            <a:r>
              <a:rPr lang="it-IT" sz="1000" b="0" i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(m)</a:t>
            </a:r>
            <a:br>
              <a:rPr lang="it-IT" sz="1000" b="0" i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it-IT" sz="1000" b="0" i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spawnWidthZ</a:t>
            </a:r>
            <a:r>
              <a:rPr lang="it-IT" sz="1000" b="0" i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      = 10.0f;     // patch </a:t>
            </a:r>
            <a:r>
              <a:rPr lang="it-IT" sz="1000" b="0" i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lateral</a:t>
            </a:r>
            <a:r>
              <a:rPr lang="it-IT" sz="1000" b="0" i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it-IT" sz="1000" b="0" i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width</a:t>
            </a:r>
            <a:r>
              <a:rPr lang="it-IT" sz="1000" b="0" i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(m)</a:t>
            </a:r>
            <a:br>
              <a:rPr lang="it-IT" sz="1000" b="0" i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it-IT" sz="1000" b="0" i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spawnStartS</a:t>
            </a:r>
            <a:r>
              <a:rPr lang="it-IT" sz="1000" b="0" i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      = 0.0f;      // start offset </a:t>
            </a:r>
            <a:r>
              <a:rPr lang="it-IT" sz="1000" b="0" i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along</a:t>
            </a:r>
            <a:r>
              <a:rPr lang="it-IT" sz="1000" b="0" i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it-IT" sz="1000" b="0" i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slope</a:t>
            </a:r>
            <a:r>
              <a:rPr lang="it-IT" sz="1000" b="0" i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(m)</a:t>
            </a:r>
            <a:br>
              <a:rPr lang="it-IT" sz="1000" b="0" i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it-IT" sz="1000" b="0" i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spawnThicknessN</a:t>
            </a:r>
            <a:r>
              <a:rPr lang="it-IT" sz="1000" b="0" i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  = 0.0f;      // 0 = single </a:t>
            </a:r>
            <a:r>
              <a:rPr lang="it-IT" sz="1000" b="0" i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layer</a:t>
            </a:r>
            <a:r>
              <a:rPr lang="it-IT" sz="1000" b="0" i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on </a:t>
            </a:r>
            <a:r>
              <a:rPr lang="it-IT" sz="1000" b="0" i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surface</a:t>
            </a:r>
            <a:endParaRPr lang="it-IT" sz="10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pPr algn="l" latinLnBrk="0">
              <a:spcAft>
                <a:spcPts val="1200"/>
              </a:spcAft>
              <a:buNone/>
            </a:pPr>
            <a:r>
              <a:rPr lang="it-IT" sz="1000" b="1" i="0" dirty="0" err="1">
                <a:solidFill>
                  <a:srgbClr val="CCCCCC"/>
                </a:solidFill>
                <a:effectLst/>
                <a:latin typeface="-apple-system"/>
              </a:rPr>
              <a:t>Rigid</a:t>
            </a:r>
            <a:r>
              <a:rPr lang="it-IT" sz="1000" b="1" i="0" dirty="0">
                <a:solidFill>
                  <a:srgbClr val="CCCCCC"/>
                </a:solidFill>
                <a:effectLst/>
                <a:latin typeface="-apple-system"/>
              </a:rPr>
              <a:t>-Body Drag</a:t>
            </a:r>
          </a:p>
          <a:p>
            <a:pPr algn="l" latinLnBrk="0">
              <a:spcAft>
                <a:spcPts val="1200"/>
              </a:spcAft>
              <a:buNone/>
            </a:pPr>
            <a:r>
              <a:rPr lang="it-IT" sz="1000" b="0" i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rollingDrag</a:t>
            </a:r>
            <a:r>
              <a:rPr lang="it-IT" sz="1000" b="0" i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      = 0.15f;     // </a:t>
            </a:r>
            <a:r>
              <a:rPr lang="it-IT" sz="1000" b="0" i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rolling</a:t>
            </a:r>
            <a:r>
              <a:rPr lang="it-IT" sz="1000" b="0" i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it-IT" sz="1000" b="0" i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friction</a:t>
            </a:r>
            <a:r>
              <a:rPr lang="it-IT" sz="1000" b="0" i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(linear drag </a:t>
            </a:r>
            <a:r>
              <a:rPr lang="it-IT" sz="1000" b="0" i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coefficient</a:t>
            </a:r>
            <a:r>
              <a:rPr lang="it-IT" sz="1000" b="0" i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it-IT" sz="1000" b="0" i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it-IT" sz="1000" b="0" i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aeroCoeff</a:t>
            </a:r>
            <a:r>
              <a:rPr lang="it-IT" sz="1000" b="0" i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        = 0.3f;      // </a:t>
            </a:r>
            <a:r>
              <a:rPr lang="it-IT" sz="1000" b="0" i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aerodynamic</a:t>
            </a:r>
            <a:r>
              <a:rPr lang="it-IT" sz="1000" b="0" i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drag </a:t>
            </a:r>
            <a:r>
              <a:rPr lang="it-IT" sz="1000" b="0" i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coefficient</a:t>
            </a:r>
            <a:r>
              <a:rPr lang="it-IT" sz="1000" b="0" i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it-IT" sz="1000" b="0" i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quadratic</a:t>
            </a:r>
            <a:r>
              <a:rPr lang="it-IT" sz="1000" b="0" i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it-IT" sz="1000" b="0" i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scales</a:t>
            </a:r>
            <a:r>
              <a:rPr lang="it-IT" sz="1000" b="0" i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with R²)</a:t>
            </a:r>
          </a:p>
          <a:p>
            <a:pPr algn="l" latinLnBrk="0">
              <a:spcAft>
                <a:spcPts val="1200"/>
              </a:spcAft>
              <a:buNone/>
            </a:pPr>
            <a:r>
              <a:rPr lang="it-IT" sz="1000" b="1" i="0" dirty="0" err="1">
                <a:solidFill>
                  <a:srgbClr val="CCCCCC"/>
                </a:solidFill>
                <a:effectLst/>
                <a:latin typeface="-apple-system"/>
              </a:rPr>
              <a:t>Spatial</a:t>
            </a:r>
            <a:r>
              <a:rPr lang="it-IT" sz="1000" b="1" i="0" dirty="0">
                <a:solidFill>
                  <a:srgbClr val="CCCCCC"/>
                </a:solidFill>
                <a:effectLst/>
                <a:latin typeface="-apple-system"/>
              </a:rPr>
              <a:t> </a:t>
            </a:r>
            <a:r>
              <a:rPr lang="it-IT" sz="1000" b="1" i="0" dirty="0" err="1">
                <a:solidFill>
                  <a:srgbClr val="CCCCCC"/>
                </a:solidFill>
                <a:effectLst/>
                <a:latin typeface="-apple-system"/>
              </a:rPr>
              <a:t>Grid</a:t>
            </a:r>
            <a:endParaRPr lang="it-IT" sz="1000" b="1" i="0" dirty="0">
              <a:solidFill>
                <a:srgbClr val="CCCCCC"/>
              </a:solidFill>
              <a:effectLst/>
              <a:latin typeface="-apple-system"/>
            </a:endParaRPr>
          </a:p>
          <a:p>
            <a:pPr algn="l" latinLnBrk="0">
              <a:spcAft>
                <a:spcPts val="1200"/>
              </a:spcAft>
              <a:buNone/>
            </a:pPr>
            <a:r>
              <a:rPr lang="it-IT" sz="1000" b="0" i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cellSize</a:t>
            </a:r>
            <a:r>
              <a:rPr lang="it-IT" sz="1000" b="0" i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         = 4 * </a:t>
            </a:r>
            <a:r>
              <a:rPr lang="it-IT" sz="1000" b="0" i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particleRadius</a:t>
            </a:r>
            <a:r>
              <a:rPr lang="it-IT" sz="1000" b="0" i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  // = 0.08 m (default)</a:t>
            </a:r>
          </a:p>
          <a:p>
            <a:pPr algn="l" latinLnBrk="0">
              <a:spcAft>
                <a:spcPts val="1200"/>
              </a:spcAft>
              <a:buNone/>
            </a:pPr>
            <a:r>
              <a:rPr lang="it-IT" sz="1000" b="1" i="0" dirty="0">
                <a:solidFill>
                  <a:srgbClr val="CCCCCC"/>
                </a:solidFill>
                <a:effectLst/>
                <a:latin typeface="-apple-system"/>
              </a:rPr>
              <a:t>Performance / Profiling</a:t>
            </a:r>
          </a:p>
          <a:p>
            <a:pPr algn="l" latinLnBrk="0">
              <a:spcAft>
                <a:spcPts val="1200"/>
              </a:spcAft>
              <a:buNone/>
            </a:pPr>
            <a:r>
              <a:rPr lang="it-IT" sz="1000" b="0" i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traceInterval</a:t>
            </a:r>
            <a:r>
              <a:rPr lang="it-IT" sz="1000" b="0" i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    = 0;         // frames </a:t>
            </a:r>
            <a:r>
              <a:rPr lang="it-IT" sz="1000" b="0" i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between</a:t>
            </a:r>
            <a:r>
              <a:rPr lang="it-IT" sz="1000" b="0" i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trace snapshots (0 to </a:t>
            </a:r>
            <a:r>
              <a:rPr lang="it-IT" sz="1000" b="0" i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disable</a:t>
            </a:r>
            <a:r>
              <a:rPr lang="it-IT" sz="1000" b="0" i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it-IT" sz="1000" b="0" i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it-IT" sz="1000" b="0" i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logInterval</a:t>
            </a:r>
            <a:r>
              <a:rPr lang="it-IT" sz="1000" b="0" i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      = 0;         // frames </a:t>
            </a:r>
            <a:r>
              <a:rPr lang="it-IT" sz="1000" b="0" i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between</a:t>
            </a:r>
            <a:r>
              <a:rPr lang="it-IT" sz="1000" b="0" i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log outputs (0 = no log)</a:t>
            </a:r>
          </a:p>
        </p:txBody>
      </p:sp>
    </p:spTree>
    <p:extLst>
      <p:ext uri="{BB962C8B-B14F-4D97-AF65-F5344CB8AC3E}">
        <p14:creationId xmlns:p14="http://schemas.microsoft.com/office/powerpoint/2010/main" val="26332081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rPr lang="en-US" noProof="0" dirty="0"/>
              <a:t>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76B900"/>
                </a:solidFill>
              </a:defRPr>
            </a:pPr>
            <a:r>
              <a:rPr lang="en-US" noProof="0" dirty="0"/>
              <a:t>Three-Tier Particle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949142"/>
            <a:ext cx="80467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CCCCCC"/>
                </a:solidFill>
              </a:defRPr>
            </a:pPr>
            <a:r>
              <a:rPr lang="en-US" noProof="0" dirty="0"/>
              <a:t>Deferred capture readback: 1-frame latency (pinned host memory)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FF06B2E-7BEA-1E71-B122-AE2C0D08707A}"/>
              </a:ext>
            </a:extLst>
          </p:cNvPr>
          <p:cNvSpPr txBox="1"/>
          <p:nvPr/>
        </p:nvSpPr>
        <p:spPr>
          <a:xfrm>
            <a:off x="2439333" y="6503488"/>
            <a:ext cx="426533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noProof="0" dirty="0">
                <a:solidFill>
                  <a:srgbClr val="76B900"/>
                </a:solidFill>
              </a:rPr>
              <a:t>GPU Programming: Angry Santa - </a:t>
            </a:r>
            <a:r>
              <a:rPr lang="en-US" sz="1200" noProof="0" dirty="0" err="1">
                <a:solidFill>
                  <a:srgbClr val="76B900"/>
                </a:solidFill>
              </a:rPr>
              <a:t>Politecnico</a:t>
            </a:r>
            <a:r>
              <a:rPr lang="en-US" sz="1200" noProof="0" dirty="0">
                <a:solidFill>
                  <a:srgbClr val="76B900"/>
                </a:solidFill>
              </a:rPr>
              <a:t> di Torino 2025/2026</a:t>
            </a:r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FF266E63-3B14-B4FF-C3B7-4FFB646C9B7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7507" b="5069"/>
          <a:stretch>
            <a:fillRect/>
          </a:stretch>
        </p:blipFill>
        <p:spPr>
          <a:xfrm>
            <a:off x="1471350" y="1645920"/>
            <a:ext cx="6287193" cy="4023360"/>
          </a:xfrm>
          <a:prstGeom prst="rect">
            <a:avLst/>
          </a:prstGeom>
          <a:solidFill>
            <a:schemeClr val="bg1"/>
          </a:solidFill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rPr lang="en-US" noProof="0" dirty="0"/>
              <a:t>CPU Implementations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055495"/>
            <a:ext cx="8046720" cy="29238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  <a:defRPr sz="1600">
                <a:solidFill>
                  <a:srgbClr val="CCCCCC"/>
                </a:solidFill>
              </a:defRPr>
            </a:pPr>
            <a:r>
              <a:rPr lang="en-US" sz="1600" noProof="0" dirty="0"/>
              <a:t>SISD Baseline:</a:t>
            </a:r>
          </a:p>
          <a:p>
            <a:pPr lvl="1">
              <a:spcAft>
                <a:spcPts val="600"/>
              </a:spcAft>
              <a:defRPr sz="1400">
                <a:solidFill>
                  <a:srgbClr val="CCCCCC"/>
                </a:solidFill>
              </a:defRPr>
            </a:pPr>
            <a:r>
              <a:rPr lang="en-US" sz="1600" noProof="0" dirty="0"/>
              <a:t>Compiled with -O0 / /Od - no inlining, no vectorization</a:t>
            </a:r>
          </a:p>
          <a:p>
            <a:pPr lvl="1">
              <a:spcAft>
                <a:spcPts val="600"/>
              </a:spcAft>
              <a:defRPr sz="1400">
                <a:solidFill>
                  <a:srgbClr val="CCCCCC"/>
                </a:solidFill>
              </a:defRPr>
            </a:pPr>
            <a:r>
              <a:rPr lang="en-US" sz="1600" noProof="0" dirty="0"/>
              <a:t>Strict performance floor for speedup measurements</a:t>
            </a:r>
          </a:p>
          <a:p>
            <a:pPr lvl="1">
              <a:spcAft>
                <a:spcPts val="600"/>
              </a:spcAft>
              <a:defRPr sz="1400">
                <a:solidFill>
                  <a:srgbClr val="CCCCCC"/>
                </a:solidFill>
              </a:defRPr>
            </a:pPr>
            <a:endParaRPr lang="en-US" sz="1600" noProof="0" dirty="0"/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  <a:defRPr sz="1600">
                <a:solidFill>
                  <a:srgbClr val="CCCCCC"/>
                </a:solidFill>
              </a:defRPr>
            </a:pPr>
            <a:r>
              <a:rPr lang="en-US" sz="1600" noProof="0" dirty="0"/>
              <a:t>SIMD + OpenMP optimized:</a:t>
            </a:r>
          </a:p>
          <a:p>
            <a:pPr lvl="1">
              <a:spcAft>
                <a:spcPts val="600"/>
              </a:spcAft>
              <a:defRPr sz="1400">
                <a:solidFill>
                  <a:srgbClr val="CCCCCC"/>
                </a:solidFill>
              </a:defRPr>
            </a:pPr>
            <a:r>
              <a:rPr lang="en-US" sz="1600" noProof="0" dirty="0"/>
              <a:t>SSE2 (x86-64) / NEON (ARM64) - 4 particles per SIMD lane</a:t>
            </a:r>
          </a:p>
          <a:p>
            <a:pPr lvl="1">
              <a:spcAft>
                <a:spcPts val="600"/>
              </a:spcAft>
              <a:defRPr sz="1400">
                <a:solidFill>
                  <a:srgbClr val="CCCCCC"/>
                </a:solidFill>
              </a:defRPr>
            </a:pPr>
            <a:r>
              <a:rPr lang="en-US" sz="1600" noProof="0" dirty="0"/>
              <a:t>16-byte aligned </a:t>
            </a:r>
            <a:r>
              <a:rPr lang="en-US" sz="1600" noProof="0" dirty="0" err="1"/>
              <a:t>SoA</a:t>
            </a:r>
            <a:r>
              <a:rPr lang="en-US" sz="1600" noProof="0" dirty="0"/>
              <a:t> arrays (</a:t>
            </a:r>
            <a:r>
              <a:rPr lang="en-US" sz="1600" noProof="0" dirty="0" err="1"/>
              <a:t>aligned_malloc</a:t>
            </a:r>
            <a:r>
              <a:rPr lang="en-US" sz="1600" noProof="0" dirty="0"/>
              <a:t>)</a:t>
            </a:r>
          </a:p>
          <a:p>
            <a:pPr lvl="1">
              <a:spcAft>
                <a:spcPts val="600"/>
              </a:spcAft>
              <a:defRPr sz="1400">
                <a:solidFill>
                  <a:srgbClr val="CCCCCC"/>
                </a:solidFill>
              </a:defRPr>
            </a:pPr>
            <a:r>
              <a:rPr lang="en-US" sz="1600" noProof="0" dirty="0"/>
              <a:t>OpenMP: #pragma </a:t>
            </a:r>
            <a:r>
              <a:rPr lang="en-US" sz="1600" noProof="0" dirty="0" err="1"/>
              <a:t>omp</a:t>
            </a:r>
            <a:r>
              <a:rPr lang="en-US" sz="1600" noProof="0" dirty="0"/>
              <a:t> parallel</a:t>
            </a:r>
          </a:p>
          <a:p>
            <a:pPr lvl="1">
              <a:spcAft>
                <a:spcPts val="600"/>
              </a:spcAft>
              <a:defRPr sz="1400">
                <a:solidFill>
                  <a:srgbClr val="CCCCCC"/>
                </a:solidFill>
              </a:defRPr>
            </a:pPr>
            <a:r>
              <a:rPr lang="en-US" sz="1600" noProof="0" dirty="0"/>
              <a:t>O(N²) brute-force collision (no spatial hashing)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65BB3A0-0156-5847-598F-D4D4D553BF1E}"/>
              </a:ext>
            </a:extLst>
          </p:cNvPr>
          <p:cNvSpPr txBox="1"/>
          <p:nvPr/>
        </p:nvSpPr>
        <p:spPr>
          <a:xfrm>
            <a:off x="2439333" y="6503488"/>
            <a:ext cx="426533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noProof="0" dirty="0">
                <a:solidFill>
                  <a:srgbClr val="76B900"/>
                </a:solidFill>
              </a:rPr>
              <a:t>GPU Programming: Angry Santa - </a:t>
            </a:r>
            <a:r>
              <a:rPr lang="en-US" sz="1200" noProof="0" dirty="0" err="1">
                <a:solidFill>
                  <a:srgbClr val="76B900"/>
                </a:solidFill>
              </a:rPr>
              <a:t>Politecnico</a:t>
            </a:r>
            <a:r>
              <a:rPr lang="en-US" sz="1200" noProof="0" dirty="0">
                <a:solidFill>
                  <a:srgbClr val="76B900"/>
                </a:solidFill>
              </a:rPr>
              <a:t> di Torino 2025/2026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4761ED4-DD9F-AD7E-DBBF-156CAE0ADE15}"/>
              </a:ext>
            </a:extLst>
          </p:cNvPr>
          <p:cNvSpPr txBox="1"/>
          <p:nvPr/>
        </p:nvSpPr>
        <p:spPr>
          <a:xfrm>
            <a:off x="457200" y="1188720"/>
            <a:ext cx="8229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76B900"/>
                </a:solidFill>
              </a:defRPr>
            </a:pPr>
            <a:r>
              <a:rPr lang="en-US" noProof="0" dirty="0"/>
              <a:t>Flynn’s Taxonomy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26CCA51-41DD-78F0-9567-89E9F14692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CA29CB5-00D4-C6A9-87F7-582DDDB2F709}"/>
              </a:ext>
            </a:extLst>
          </p:cNvPr>
          <p:cNvSpPr txBox="1"/>
          <p:nvPr/>
        </p:nvSpPr>
        <p:spPr>
          <a:xfrm>
            <a:off x="457200" y="365760"/>
            <a:ext cx="82296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rPr lang="en-US" noProof="0" dirty="0"/>
              <a:t>CPU Implementations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2C8D54-AA81-6930-3C67-0E99D77308B0}"/>
              </a:ext>
            </a:extLst>
          </p:cNvPr>
          <p:cNvSpPr txBox="1"/>
          <p:nvPr/>
        </p:nvSpPr>
        <p:spPr>
          <a:xfrm>
            <a:off x="2439333" y="6503488"/>
            <a:ext cx="426533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noProof="0" dirty="0">
                <a:solidFill>
                  <a:srgbClr val="76B900"/>
                </a:solidFill>
              </a:rPr>
              <a:t>GPU Programming: Angry Santa - </a:t>
            </a:r>
            <a:r>
              <a:rPr lang="en-US" sz="1200" noProof="0" dirty="0" err="1">
                <a:solidFill>
                  <a:srgbClr val="76B900"/>
                </a:solidFill>
              </a:rPr>
              <a:t>Politecnico</a:t>
            </a:r>
            <a:r>
              <a:rPr lang="en-US" sz="1200" noProof="0" dirty="0">
                <a:solidFill>
                  <a:srgbClr val="76B900"/>
                </a:solidFill>
              </a:rPr>
              <a:t> di Torino 2025/2026</a:t>
            </a:r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4A457FB3-57DE-F240-81BE-BB30CDC4C8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1123" y="1134436"/>
            <a:ext cx="5273960" cy="1952859"/>
          </a:xfrm>
          <a:prstGeom prst="rect">
            <a:avLst/>
          </a:prstGeom>
        </p:spPr>
      </p:pic>
      <p:pic>
        <p:nvPicPr>
          <p:cNvPr id="9" name="Immagine 8">
            <a:extLst>
              <a:ext uri="{FF2B5EF4-FFF2-40B4-BE49-F238E27FC236}">
                <a16:creationId xmlns:a16="http://schemas.microsoft.com/office/drawing/2014/main" id="{F4B5546F-2E4B-7CC6-A138-B82F2ED911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1124" y="3197306"/>
            <a:ext cx="5277218" cy="3095236"/>
          </a:xfrm>
          <a:prstGeom prst="rect">
            <a:avLst/>
          </a:prstGeom>
        </p:spPr>
      </p:pic>
      <p:pic>
        <p:nvPicPr>
          <p:cNvPr id="11" name="Immagine 10">
            <a:extLst>
              <a:ext uri="{FF2B5EF4-FFF2-40B4-BE49-F238E27FC236}">
                <a16:creationId xmlns:a16="http://schemas.microsoft.com/office/drawing/2014/main" id="{B6227602-20F0-6070-CB4F-3FBB5CBEAC7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1800" y="1134436"/>
            <a:ext cx="2387722" cy="5158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49240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rPr lang="en-US" noProof="0" dirty="0"/>
              <a:t>GPU Optimizations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76B900"/>
                </a:solidFill>
              </a:defRPr>
            </a:pPr>
            <a:r>
              <a:rPr lang="en-US" noProof="0" dirty="0"/>
              <a:t>Memory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737360"/>
            <a:ext cx="8046720" cy="38933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  <a:defRPr sz="1600">
                <a:solidFill>
                  <a:srgbClr val="CCCCCC"/>
                </a:solidFill>
              </a:defRPr>
            </a:pPr>
            <a:r>
              <a:rPr lang="en-US" sz="1600" noProof="0" dirty="0" err="1"/>
              <a:t>SoA</a:t>
            </a:r>
            <a:r>
              <a:rPr lang="en-US" sz="1600" noProof="0" dirty="0"/>
              <a:t> Layout: 100% coalesced 128-byte transactions per warp</a:t>
            </a:r>
          </a:p>
          <a:p>
            <a:pPr lvl="1">
              <a:spcAft>
                <a:spcPts val="600"/>
              </a:spcAft>
              <a:defRPr sz="1400">
                <a:solidFill>
                  <a:srgbClr val="CCCCCC"/>
                </a:solidFill>
              </a:defRPr>
            </a:pPr>
            <a:r>
              <a:rPr lang="en-US" sz="1600" noProof="0" dirty="0" err="1"/>
              <a:t>AoS</a:t>
            </a:r>
            <a:r>
              <a:rPr lang="en-US" sz="1600" noProof="0" dirty="0"/>
              <a:t> would waste up to 90% of bus bandwidth</a:t>
            </a:r>
          </a:p>
          <a:p>
            <a:pPr lvl="1">
              <a:spcAft>
                <a:spcPts val="600"/>
              </a:spcAft>
              <a:defRPr sz="1400">
                <a:solidFill>
                  <a:srgbClr val="CCCCCC"/>
                </a:solidFill>
              </a:defRPr>
            </a:pPr>
            <a:endParaRPr lang="en-US" sz="1600" noProof="0" dirty="0"/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  <a:defRPr sz="1600">
                <a:solidFill>
                  <a:srgbClr val="CCCCCC"/>
                </a:solidFill>
              </a:defRPr>
            </a:pPr>
            <a:r>
              <a:rPr lang="en-US" sz="1600" noProof="0" dirty="0"/>
              <a:t>Constant Memory: </a:t>
            </a:r>
            <a:r>
              <a:rPr lang="en-US" sz="1600" noProof="0" dirty="0" err="1"/>
              <a:t>SimParams</a:t>
            </a:r>
            <a:r>
              <a:rPr lang="en-US" sz="1600" noProof="0" dirty="0"/>
              <a:t> (~152 B) broadcast to all warps in ~5 cycles</a:t>
            </a:r>
          </a:p>
          <a:p>
            <a:pPr>
              <a:spcAft>
                <a:spcPts val="600"/>
              </a:spcAft>
              <a:defRPr sz="1600">
                <a:solidFill>
                  <a:srgbClr val="CCCCCC"/>
                </a:solidFill>
              </a:defRPr>
            </a:pPr>
            <a:endParaRPr lang="en-US" sz="1600" noProof="0" dirty="0"/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  <a:defRPr sz="1600">
                <a:solidFill>
                  <a:srgbClr val="CCCCCC"/>
                </a:solidFill>
              </a:defRPr>
            </a:pPr>
            <a:r>
              <a:rPr lang="en-US" sz="1600" noProof="0" dirty="0"/>
              <a:t>__</a:t>
            </a:r>
            <a:r>
              <a:rPr lang="en-US" sz="1600" noProof="0" dirty="0" err="1"/>
              <a:t>ldg</a:t>
            </a:r>
            <a:r>
              <a:rPr lang="en-US" sz="1600" noProof="0" dirty="0"/>
              <a:t>() / __restrict__: routes loads through read-only texture cache</a:t>
            </a:r>
          </a:p>
          <a:p>
            <a:pPr lvl="1">
              <a:spcAft>
                <a:spcPts val="600"/>
              </a:spcAft>
              <a:defRPr sz="1400">
                <a:solidFill>
                  <a:srgbClr val="CCCCCC"/>
                </a:solidFill>
              </a:defRPr>
            </a:pPr>
            <a:r>
              <a:rPr lang="en-US" sz="1600" noProof="0" dirty="0"/>
              <a:t>Doubles effective cache bandwidth without conflicts</a:t>
            </a:r>
          </a:p>
          <a:p>
            <a:pPr>
              <a:spcAft>
                <a:spcPts val="600"/>
              </a:spcAft>
              <a:defRPr sz="1600">
                <a:solidFill>
                  <a:srgbClr val="CCCCCC"/>
                </a:solidFill>
              </a:defRPr>
            </a:pPr>
            <a:endParaRPr lang="en-US" sz="1600" noProof="0" dirty="0"/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  <a:defRPr sz="1600">
                <a:solidFill>
                  <a:srgbClr val="CCCCCC"/>
                </a:solidFill>
              </a:defRPr>
            </a:pPr>
            <a:r>
              <a:rPr lang="en-US" sz="1600" noProof="0" dirty="0"/>
              <a:t>Pinned Memory: eliminates 30–40 </a:t>
            </a:r>
            <a:r>
              <a:rPr lang="en-US" sz="1600" noProof="0" dirty="0" err="1"/>
              <a:t>ms</a:t>
            </a:r>
            <a:r>
              <a:rPr lang="en-US" sz="1600" noProof="0" dirty="0"/>
              <a:t> GPU stalls from pageable </a:t>
            </a:r>
            <a:r>
              <a:rPr lang="en-US" sz="1600" noProof="0" dirty="0" err="1"/>
              <a:t>memcpy</a:t>
            </a:r>
            <a:endParaRPr lang="en-US" sz="1600" noProof="0" dirty="0"/>
          </a:p>
          <a:p>
            <a:pPr lvl="1">
              <a:spcAft>
                <a:spcPts val="600"/>
              </a:spcAft>
              <a:defRPr sz="1400">
                <a:solidFill>
                  <a:srgbClr val="CCCCCC"/>
                </a:solidFill>
              </a:defRPr>
            </a:pPr>
            <a:r>
              <a:rPr lang="en-US" sz="1600" noProof="0" dirty="0"/>
              <a:t>Capture count + mass packed into single 8-byte buffer</a:t>
            </a:r>
          </a:p>
          <a:p>
            <a:pPr>
              <a:spcAft>
                <a:spcPts val="600"/>
              </a:spcAft>
              <a:defRPr sz="1600">
                <a:solidFill>
                  <a:srgbClr val="CCCCCC"/>
                </a:solidFill>
              </a:defRPr>
            </a:pPr>
            <a:endParaRPr lang="en-US" sz="1600" noProof="0" dirty="0"/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  <a:defRPr sz="1600">
                <a:solidFill>
                  <a:srgbClr val="CCCCCC"/>
                </a:solidFill>
              </a:defRPr>
            </a:pPr>
            <a:r>
              <a:rPr lang="en-US" sz="1600" noProof="0" dirty="0"/>
              <a:t>Unity Build (coding): single translation unit shares __constant__ across kernels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D0EB3E6-AB1F-E4F2-5384-3994F0CDBCB2}"/>
              </a:ext>
            </a:extLst>
          </p:cNvPr>
          <p:cNvSpPr txBox="1"/>
          <p:nvPr/>
        </p:nvSpPr>
        <p:spPr>
          <a:xfrm>
            <a:off x="2439333" y="6503488"/>
            <a:ext cx="426533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noProof="0" dirty="0">
                <a:solidFill>
                  <a:srgbClr val="76B900"/>
                </a:solidFill>
              </a:rPr>
              <a:t>GPU Programming: Angry Santa - </a:t>
            </a:r>
            <a:r>
              <a:rPr lang="en-US" sz="1200" noProof="0" dirty="0" err="1">
                <a:solidFill>
                  <a:srgbClr val="76B900"/>
                </a:solidFill>
              </a:rPr>
              <a:t>Politecnico</a:t>
            </a:r>
            <a:r>
              <a:rPr lang="en-US" sz="1200" noProof="0" dirty="0">
                <a:solidFill>
                  <a:srgbClr val="76B900"/>
                </a:solidFill>
              </a:rPr>
              <a:t> di Torino 2025/2026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rPr lang="en-US" noProof="0" dirty="0"/>
              <a:t>Memory Hierarchy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76B900"/>
                </a:solidFill>
              </a:defRPr>
            </a:pPr>
            <a:r>
              <a:rPr lang="en-US" noProof="0" dirty="0"/>
              <a:t>Every level of the hierarchy is explicitly exploited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76B900"/>
                </a:solidFill>
              </a:defRPr>
            </a:pPr>
            <a:r>
              <a:rPr lang="en-US" noProof="0" dirty="0"/>
              <a:t>Every level of the hierarchy is explicitly exploited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20738224"/>
              </p:ext>
            </p:extLst>
          </p:nvPr>
        </p:nvGraphicFramePr>
        <p:xfrm>
          <a:off x="365760" y="1828800"/>
          <a:ext cx="8412480" cy="26060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04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04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04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2291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lang="en-US" noProof="0" dirty="0"/>
                        <a:t>Level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lang="en-US" noProof="0" dirty="0"/>
                        <a:t>Usage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lang="en-US" noProof="0" dirty="0"/>
                        <a:t>Size/Capacity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2291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444444"/>
                          </a:solidFill>
                        </a:defRPr>
                      </a:pPr>
                      <a:r>
                        <a:rPr lang="en-US" noProof="0" dirty="0"/>
                        <a:t>Registers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444444"/>
                          </a:solidFill>
                        </a:defRPr>
                      </a:pPr>
                      <a:r>
                        <a:rPr lang="en-US" noProof="0" dirty="0"/>
                        <a:t>Local vars, force accumulators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444444"/>
                          </a:solidFill>
                        </a:defRPr>
                      </a:pPr>
                      <a:r>
                        <a:rPr lang="en-US" noProof="0" dirty="0"/>
                        <a:t>24–48 / thread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2291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444444"/>
                          </a:solidFill>
                        </a:defRPr>
                      </a:pPr>
                      <a:r>
                        <a:rPr lang="en-US" noProof="0" dirty="0"/>
                        <a:t>__constant__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444444"/>
                          </a:solidFill>
                        </a:defRPr>
                      </a:pPr>
                      <a:r>
                        <a:rPr lang="en-US" noProof="0" dirty="0" err="1"/>
                        <a:t>SimParams</a:t>
                      </a:r>
                      <a:r>
                        <a:rPr lang="en-US" noProof="0" dirty="0"/>
                        <a:t> (broadcast)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444444"/>
                          </a:solidFill>
                        </a:defRPr>
                      </a:pPr>
                      <a:r>
                        <a:rPr lang="en-US" noProof="0" dirty="0"/>
                        <a:t>~152 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2291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444444"/>
                          </a:solidFill>
                        </a:defRPr>
                      </a:pPr>
                      <a:r>
                        <a:rPr lang="en-US" noProof="0" dirty="0"/>
                        <a:t>Shared Memory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444444"/>
                          </a:solidFill>
                        </a:defRPr>
                      </a:pPr>
                      <a:r>
                        <a:rPr lang="en-US" noProof="0" dirty="0"/>
                        <a:t>Warp-cooperative tile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444444"/>
                          </a:solidFill>
                        </a:defRPr>
                      </a:pPr>
                      <a:r>
                        <a:rPr lang="en-US" noProof="0" dirty="0"/>
                        <a:t>12.4 KB/block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2291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444444"/>
                          </a:solidFill>
                        </a:defRPr>
                      </a:pPr>
                      <a:r>
                        <a:rPr lang="en-US" noProof="0" dirty="0"/>
                        <a:t>Read-only Cache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444444"/>
                          </a:solidFill>
                        </a:defRPr>
                      </a:pPr>
                      <a:r>
                        <a:rPr lang="en-US" noProof="0" dirty="0"/>
                        <a:t>__</a:t>
                      </a:r>
                      <a:r>
                        <a:rPr lang="en-US" noProof="0" dirty="0" err="1"/>
                        <a:t>ldg</a:t>
                      </a:r>
                      <a:r>
                        <a:rPr lang="en-US" noProof="0" dirty="0"/>
                        <a:t>() loads (immutable </a:t>
                      </a:r>
                      <a:r>
                        <a:rPr lang="en-US" noProof="0" dirty="0" err="1"/>
                        <a:t>SoA</a:t>
                      </a:r>
                      <a:r>
                        <a:rPr lang="en-US" noProof="0" dirty="0"/>
                        <a:t>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444444"/>
                          </a:solidFill>
                        </a:defRPr>
                      </a:pPr>
                      <a:r>
                        <a:rPr lang="en-US" noProof="0" dirty="0"/>
                        <a:t>HW-managed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2291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444444"/>
                          </a:solidFill>
                        </a:defRPr>
                      </a:pPr>
                      <a:r>
                        <a:rPr lang="en-US" noProof="0" dirty="0"/>
                        <a:t>L2 Cache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444444"/>
                          </a:solidFill>
                        </a:defRPr>
                      </a:pPr>
                      <a:r>
                        <a:rPr lang="en-US" noProof="0" dirty="0"/>
                        <a:t>Particle working set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444444"/>
                          </a:solidFill>
                        </a:defRPr>
                      </a:pPr>
                      <a:r>
                        <a:rPr lang="en-US" noProof="0" dirty="0"/>
                        <a:t>1 MB / 256 KB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2293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444444"/>
                          </a:solidFill>
                        </a:defRPr>
                      </a:pPr>
                      <a:r>
                        <a:rPr lang="en-US" noProof="0" dirty="0"/>
                        <a:t>Global (GDDR5)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444444"/>
                          </a:solidFill>
                        </a:defRPr>
                      </a:pPr>
                      <a:r>
                        <a:rPr lang="en-US" noProof="0" dirty="0" err="1"/>
                        <a:t>SoA</a:t>
                      </a:r>
                      <a:r>
                        <a:rPr lang="en-US" noProof="0" dirty="0"/>
                        <a:t> arrays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444444"/>
                          </a:solidFill>
                        </a:defRPr>
                      </a:pPr>
                      <a:r>
                        <a:rPr lang="en-US" noProof="0" dirty="0"/>
                        <a:t>16N × 4 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8ABDE8A3-ECDD-21F1-2ED3-F4AF217A7F2A}"/>
              </a:ext>
            </a:extLst>
          </p:cNvPr>
          <p:cNvSpPr txBox="1"/>
          <p:nvPr/>
        </p:nvSpPr>
        <p:spPr>
          <a:xfrm>
            <a:off x="2439333" y="6503488"/>
            <a:ext cx="426533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noProof="0" dirty="0">
                <a:solidFill>
                  <a:srgbClr val="76B900"/>
                </a:solidFill>
              </a:rPr>
              <a:t>GPU Programming: Angry Santa - </a:t>
            </a:r>
            <a:r>
              <a:rPr lang="en-US" sz="1200" noProof="0" dirty="0" err="1">
                <a:solidFill>
                  <a:srgbClr val="76B900"/>
                </a:solidFill>
              </a:rPr>
              <a:t>Politecnico</a:t>
            </a:r>
            <a:r>
              <a:rPr lang="en-US" sz="1200" noProof="0" dirty="0">
                <a:solidFill>
                  <a:srgbClr val="76B900"/>
                </a:solidFill>
              </a:rPr>
              <a:t> di Torino 2025/2026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rPr lang="en-US" noProof="0" dirty="0"/>
              <a:t>GPU Optimizations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76B900"/>
                </a:solidFill>
              </a:defRPr>
            </a:pPr>
            <a:r>
              <a:rPr lang="en-US" noProof="0" dirty="0"/>
              <a:t>Compute and ALU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737360"/>
            <a:ext cx="8046720" cy="38933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  <a:defRPr sz="1600">
                <a:solidFill>
                  <a:srgbClr val="CCCCCC"/>
                </a:solidFill>
              </a:defRPr>
            </a:pPr>
            <a:r>
              <a:rPr lang="en-US" sz="1600" noProof="0" dirty="0"/>
              <a:t>Warp-Cooperative Shared-Memory Tiling:</a:t>
            </a:r>
          </a:p>
          <a:p>
            <a:pPr lvl="1">
              <a:spcAft>
                <a:spcPts val="600"/>
              </a:spcAft>
              <a:defRPr sz="1400">
                <a:solidFill>
                  <a:srgbClr val="CCCCCC"/>
                </a:solidFill>
              </a:defRPr>
            </a:pPr>
            <a:r>
              <a:rPr lang="en-US" sz="1600" noProof="0" dirty="0"/>
              <a:t>Each warp loads 32-neighbor tile into shared memory</a:t>
            </a:r>
          </a:p>
          <a:p>
            <a:pPr lvl="1">
              <a:spcAft>
                <a:spcPts val="600"/>
              </a:spcAft>
              <a:defRPr sz="1400">
                <a:solidFill>
                  <a:srgbClr val="CCCCCC"/>
                </a:solidFill>
              </a:defRPr>
            </a:pPr>
            <a:r>
              <a:rPr lang="en-US" sz="1600" noProof="0" dirty="0"/>
              <a:t>[MAX_WARPS][WARP_SIZE+1] padding avoids bank conflicts</a:t>
            </a:r>
          </a:p>
          <a:p>
            <a:pPr lvl="1">
              <a:spcAft>
                <a:spcPts val="600"/>
              </a:spcAft>
              <a:defRPr sz="1400">
                <a:solidFill>
                  <a:srgbClr val="CCCCCC"/>
                </a:solidFill>
              </a:defRPr>
            </a:pPr>
            <a:r>
              <a:rPr lang="en-US" sz="1600" noProof="0" dirty="0"/>
              <a:t>__</a:t>
            </a:r>
            <a:r>
              <a:rPr lang="en-US" sz="1600" noProof="0" dirty="0" err="1"/>
              <a:t>syncwarp</a:t>
            </a:r>
            <a:r>
              <a:rPr lang="en-US" sz="1600" noProof="0" dirty="0"/>
              <a:t>() instead of __</a:t>
            </a:r>
            <a:r>
              <a:rPr lang="en-US" sz="1600" noProof="0" dirty="0" err="1"/>
              <a:t>syncthreads</a:t>
            </a:r>
            <a:r>
              <a:rPr lang="en-US" sz="1600" noProof="0" dirty="0"/>
              <a:t>() (avoids deadlock)</a:t>
            </a:r>
          </a:p>
          <a:p>
            <a:pPr lvl="1">
              <a:spcAft>
                <a:spcPts val="600"/>
              </a:spcAft>
              <a:defRPr sz="1400">
                <a:solidFill>
                  <a:srgbClr val="CCCCCC"/>
                </a:solidFill>
              </a:defRPr>
            </a:pPr>
            <a:endParaRPr lang="en-US" sz="1600" noProof="0" dirty="0"/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  <a:defRPr sz="1600">
                <a:solidFill>
                  <a:srgbClr val="CCCCCC"/>
                </a:solidFill>
              </a:defRPr>
            </a:pPr>
            <a:r>
              <a:rPr lang="en-US" sz="1600" noProof="0" dirty="0"/>
              <a:t>Non-symmetric collision: zero atomics, all forces in registers</a:t>
            </a:r>
          </a:p>
          <a:p>
            <a:pPr lvl="1">
              <a:spcAft>
                <a:spcPts val="600"/>
              </a:spcAft>
              <a:defRPr sz="1400">
                <a:solidFill>
                  <a:srgbClr val="CCCCCC"/>
                </a:solidFill>
              </a:defRPr>
            </a:pPr>
            <a:r>
              <a:rPr lang="en-US" sz="1600" noProof="0" dirty="0"/>
              <a:t>Trades 2× FLOPs for zero contention (net win on Maxwell)</a:t>
            </a:r>
          </a:p>
          <a:p>
            <a:pPr>
              <a:spcAft>
                <a:spcPts val="600"/>
              </a:spcAft>
              <a:defRPr sz="1600">
                <a:solidFill>
                  <a:srgbClr val="CCCCCC"/>
                </a:solidFill>
              </a:defRPr>
            </a:pPr>
            <a:endParaRPr lang="en-US" sz="1600" noProof="0" dirty="0"/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  <a:defRPr sz="1600">
                <a:solidFill>
                  <a:srgbClr val="CCCCCC"/>
                </a:solidFill>
              </a:defRPr>
            </a:pPr>
            <a:r>
              <a:rPr lang="en-US" sz="1600" noProof="0" dirty="0"/>
              <a:t>Single precision + --</a:t>
            </a:r>
            <a:r>
              <a:rPr lang="en-US" sz="1600" noProof="0" dirty="0" err="1"/>
              <a:t>use_fast_math</a:t>
            </a:r>
            <a:r>
              <a:rPr lang="en-US" sz="1600" noProof="0" dirty="0"/>
              <a:t> (FP64:FP32 = 1:32 on Maxwell)</a:t>
            </a:r>
          </a:p>
          <a:p>
            <a:pPr>
              <a:spcAft>
                <a:spcPts val="600"/>
              </a:spcAft>
              <a:defRPr sz="1600">
                <a:solidFill>
                  <a:srgbClr val="CCCCCC"/>
                </a:solidFill>
              </a:defRPr>
            </a:pPr>
            <a:endParaRPr lang="en-US" sz="1600" noProof="0" dirty="0"/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  <a:defRPr sz="1600">
                <a:solidFill>
                  <a:srgbClr val="CCCCCC"/>
                </a:solidFill>
              </a:defRPr>
            </a:pPr>
            <a:r>
              <a:rPr lang="en-US" sz="1600" noProof="0" dirty="0"/>
              <a:t>ALU tricks: </a:t>
            </a:r>
            <a:r>
              <a:rPr lang="en-US" sz="1600" noProof="0" dirty="0" err="1"/>
              <a:t>rsqrtf</a:t>
            </a:r>
            <a:r>
              <a:rPr lang="en-US" sz="1600" noProof="0" dirty="0"/>
              <a:t> pattern, branchless clamping (FMNMX),</a:t>
            </a:r>
          </a:p>
          <a:p>
            <a:pPr lvl="1">
              <a:spcAft>
                <a:spcPts val="600"/>
              </a:spcAft>
              <a:defRPr sz="1400">
                <a:solidFill>
                  <a:srgbClr val="CCCCCC"/>
                </a:solidFill>
              </a:defRPr>
            </a:pPr>
            <a:r>
              <a:rPr lang="en-US" sz="1600" noProof="0" dirty="0" err="1"/>
              <a:t>murmurhash</a:t>
            </a:r>
            <a:r>
              <a:rPr lang="en-US" sz="1600" noProof="0" dirty="0"/>
              <a:t> PRNG, quaternion Rodrigues (15 FMA vs 27 </a:t>
            </a:r>
            <a:r>
              <a:rPr lang="en-US" sz="1600" noProof="0" dirty="0" err="1"/>
              <a:t>matmul</a:t>
            </a:r>
            <a:r>
              <a:rPr lang="en-US" sz="1600" noProof="0" dirty="0"/>
              <a:t>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7F19D8B-CFEE-A987-3724-FCA999822B9E}"/>
              </a:ext>
            </a:extLst>
          </p:cNvPr>
          <p:cNvSpPr txBox="1"/>
          <p:nvPr/>
        </p:nvSpPr>
        <p:spPr>
          <a:xfrm>
            <a:off x="2439333" y="6503488"/>
            <a:ext cx="426533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noProof="0" dirty="0">
                <a:solidFill>
                  <a:srgbClr val="76B900"/>
                </a:solidFill>
              </a:rPr>
              <a:t>GPU Programming: Angry Santa - </a:t>
            </a:r>
            <a:r>
              <a:rPr lang="en-US" sz="1200" noProof="0" dirty="0" err="1">
                <a:solidFill>
                  <a:srgbClr val="76B900"/>
                </a:solidFill>
              </a:rPr>
              <a:t>Politecnico</a:t>
            </a:r>
            <a:r>
              <a:rPr lang="en-US" sz="1200" noProof="0" dirty="0">
                <a:solidFill>
                  <a:srgbClr val="76B900"/>
                </a:solidFill>
              </a:rPr>
              <a:t> di Torino 2025/2026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rPr lang="en-US" noProof="0" dirty="0"/>
              <a:t>GPU Optimizations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76B900"/>
                </a:solidFill>
              </a:defRPr>
            </a:pPr>
            <a:r>
              <a:rPr lang="en-US" noProof="0" dirty="0"/>
              <a:t>Spatial Hashing - Multi-Stream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737360"/>
            <a:ext cx="8046720" cy="40626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  <a:defRPr sz="1600">
                <a:solidFill>
                  <a:srgbClr val="CCCCCC"/>
                </a:solidFill>
              </a:defRPr>
            </a:pPr>
            <a:r>
              <a:rPr lang="en-US" sz="1600" noProof="0" dirty="0"/>
              <a:t>Spatial Hashing and Uniform Grid: O(N²) → O(</a:t>
            </a:r>
            <a:r>
              <a:rPr lang="en-US" sz="1600" noProof="0" dirty="0" err="1"/>
              <a:t>N·k</a:t>
            </a:r>
            <a:r>
              <a:rPr lang="en-US" sz="1600" noProof="0" dirty="0"/>
              <a:t>) collision detection</a:t>
            </a:r>
          </a:p>
          <a:p>
            <a:pPr lvl="1">
              <a:spcAft>
                <a:spcPts val="600"/>
              </a:spcAft>
              <a:defRPr sz="1400">
                <a:solidFill>
                  <a:srgbClr val="CCCCCC"/>
                </a:solidFill>
              </a:defRPr>
            </a:pPr>
            <a:r>
              <a:rPr lang="en-US" sz="1600" noProof="0" dirty="0"/>
              <a:t>Prime hash: (cx·73856093) ⊕ (cy·19349663) ⊕ (cz·83492791)</a:t>
            </a:r>
          </a:p>
          <a:p>
            <a:pPr lvl="1">
              <a:spcAft>
                <a:spcPts val="600"/>
              </a:spcAft>
              <a:defRPr sz="1400">
                <a:solidFill>
                  <a:srgbClr val="CCCCCC"/>
                </a:solidFill>
              </a:defRPr>
            </a:pPr>
            <a:r>
              <a:rPr lang="en-US" sz="1600" noProof="0" dirty="0"/>
              <a:t>Compact table: nextPowerOf2(N×8) → ~256 KB vs ~75 MB full domain</a:t>
            </a:r>
          </a:p>
          <a:p>
            <a:pPr lvl="1">
              <a:spcAft>
                <a:spcPts val="600"/>
              </a:spcAft>
              <a:defRPr sz="1400">
                <a:solidFill>
                  <a:srgbClr val="CCCCCC"/>
                </a:solidFill>
              </a:defRPr>
            </a:pPr>
            <a:r>
              <a:rPr lang="en-US" sz="1600" noProof="0" dirty="0"/>
              <a:t>CUB </a:t>
            </a:r>
            <a:r>
              <a:rPr lang="en-US" sz="1600" noProof="0" dirty="0" err="1"/>
              <a:t>DeviceRadixSort</a:t>
            </a:r>
            <a:r>
              <a:rPr lang="en-US" sz="1600" noProof="0" dirty="0"/>
              <a:t> with bit-count limiting</a:t>
            </a:r>
          </a:p>
          <a:p>
            <a:pPr lvl="1">
              <a:spcAft>
                <a:spcPts val="600"/>
              </a:spcAft>
              <a:defRPr sz="1400">
                <a:solidFill>
                  <a:srgbClr val="CCCCCC"/>
                </a:solidFill>
              </a:defRPr>
            </a:pPr>
            <a:r>
              <a:rPr lang="en-US" sz="1600" noProof="0" dirty="0"/>
              <a:t>Cell Boundaries: Index pointers store the start and end of each cell to quickly locate neighboring particles</a:t>
            </a:r>
          </a:p>
          <a:p>
            <a:pPr lvl="1">
              <a:spcAft>
                <a:spcPts val="600"/>
              </a:spcAft>
              <a:defRPr sz="1400">
                <a:solidFill>
                  <a:srgbClr val="CCCCCC"/>
                </a:solidFill>
              </a:defRPr>
            </a:pPr>
            <a:r>
              <a:rPr lang="en-US" sz="1600" noProof="0" dirty="0"/>
              <a:t>Interaction Kernel: One thread per particle evaluates physical contact forces within neighboring cells</a:t>
            </a:r>
          </a:p>
          <a:p>
            <a:pPr lvl="1">
              <a:spcAft>
                <a:spcPts val="600"/>
              </a:spcAft>
              <a:defRPr sz="1400">
                <a:solidFill>
                  <a:srgbClr val="CCCCCC"/>
                </a:solidFill>
              </a:defRPr>
            </a:pPr>
            <a:endParaRPr lang="en-US" sz="1600" noProof="0" dirty="0"/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  <a:defRPr sz="1600">
                <a:solidFill>
                  <a:srgbClr val="CCCCCC"/>
                </a:solidFill>
              </a:defRPr>
            </a:pPr>
            <a:r>
              <a:rPr lang="en-US" sz="1600" noProof="0" dirty="0"/>
              <a:t>Multi-Stream Pipeline:</a:t>
            </a:r>
          </a:p>
          <a:p>
            <a:pPr lvl="1">
              <a:spcAft>
                <a:spcPts val="600"/>
              </a:spcAft>
              <a:defRPr sz="1400">
                <a:solidFill>
                  <a:srgbClr val="CCCCCC"/>
                </a:solidFill>
              </a:defRPr>
            </a:pPr>
            <a:r>
              <a:rPr lang="en-US" sz="1600" noProof="0" dirty="0" err="1"/>
              <a:t>simStream</a:t>
            </a:r>
            <a:r>
              <a:rPr lang="en-US" sz="1600" noProof="0" dirty="0"/>
              <a:t> + </a:t>
            </a:r>
            <a:r>
              <a:rPr lang="en-US" sz="1600" noProof="0" dirty="0" err="1"/>
              <a:t>gridStream</a:t>
            </a:r>
            <a:r>
              <a:rPr lang="en-US" sz="1600" noProof="0" dirty="0"/>
              <a:t> + </a:t>
            </a:r>
            <a:r>
              <a:rPr lang="en-US" sz="1600" noProof="0" dirty="0" err="1"/>
              <a:t>traceStream</a:t>
            </a:r>
            <a:r>
              <a:rPr lang="en-US" sz="1600" noProof="0" dirty="0"/>
              <a:t> (async D2H)</a:t>
            </a:r>
          </a:p>
          <a:p>
            <a:pPr lvl="1">
              <a:spcAft>
                <a:spcPts val="600"/>
              </a:spcAft>
              <a:defRPr sz="1400">
                <a:solidFill>
                  <a:srgbClr val="CCCCCC"/>
                </a:solidFill>
              </a:defRPr>
            </a:pPr>
            <a:endParaRPr lang="en-US" sz="1600" noProof="0" dirty="0"/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  <a:defRPr sz="1600">
                <a:solidFill>
                  <a:srgbClr val="CCCCCC"/>
                </a:solidFill>
              </a:defRPr>
            </a:pPr>
            <a:r>
              <a:rPr lang="en-US" sz="1600" noProof="0" dirty="0"/>
              <a:t>Gated Event Recording: only every 64 frames (saves ~110–165 </a:t>
            </a:r>
            <a:r>
              <a:rPr lang="en-US" sz="1600" noProof="0" dirty="0" err="1"/>
              <a:t>μs</a:t>
            </a:r>
            <a:r>
              <a:rPr lang="en-US" sz="1600" noProof="0" dirty="0"/>
              <a:t>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2A90EB9-96A3-4EC2-4978-749D5F65AE76}"/>
              </a:ext>
            </a:extLst>
          </p:cNvPr>
          <p:cNvSpPr txBox="1"/>
          <p:nvPr/>
        </p:nvSpPr>
        <p:spPr>
          <a:xfrm>
            <a:off x="2439333" y="6503488"/>
            <a:ext cx="426533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noProof="0" dirty="0">
                <a:solidFill>
                  <a:srgbClr val="76B900"/>
                </a:solidFill>
              </a:rPr>
              <a:t>GPU Programming: Angry Santa - </a:t>
            </a:r>
            <a:r>
              <a:rPr lang="en-US" sz="1200" noProof="0" dirty="0" err="1">
                <a:solidFill>
                  <a:srgbClr val="76B900"/>
                </a:solidFill>
              </a:rPr>
              <a:t>Politecnico</a:t>
            </a:r>
            <a:r>
              <a:rPr lang="en-US" sz="1200" noProof="0" dirty="0">
                <a:solidFill>
                  <a:srgbClr val="76B900"/>
                </a:solidFill>
              </a:rPr>
              <a:t> di Torino 2025/2026</a:t>
            </a: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0E83DC1F-6937-B62C-0825-3F78C6A718CD}"/>
              </a:ext>
            </a:extLst>
          </p:cNvPr>
          <p:cNvSpPr txBox="1"/>
          <p:nvPr/>
        </p:nvSpPr>
        <p:spPr>
          <a:xfrm>
            <a:off x="4977055" y="251904"/>
            <a:ext cx="397769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i="1" noProof="0" dirty="0">
                <a:solidFill>
                  <a:schemeClr val="bg1"/>
                </a:solidFill>
              </a:rPr>
              <a:t>Simon Green (2010): Particle Simulation using CUDA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rPr lang="en-US" noProof="0" dirty="0"/>
              <a:t>GPU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76B900"/>
                </a:solidFill>
              </a:defRPr>
            </a:pPr>
            <a:r>
              <a:rPr lang="en-US" noProof="0" dirty="0"/>
              <a:t>Adaptive Dual-Path Execution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737360"/>
            <a:ext cx="8046720" cy="42165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  <a:defRPr sz="1600">
                <a:solidFill>
                  <a:srgbClr val="CCCCCC"/>
                </a:solidFill>
              </a:defRPr>
            </a:pPr>
            <a:r>
              <a:rPr lang="en-US" sz="1600" noProof="0" dirty="0"/>
              <a:t>Small-N path (N ≤ 2048): single mega-fused kernel</a:t>
            </a:r>
          </a:p>
          <a:p>
            <a:pPr lvl="1">
              <a:spcAft>
                <a:spcPts val="600"/>
              </a:spcAft>
              <a:defRPr sz="1400">
                <a:solidFill>
                  <a:srgbClr val="CCCCCC"/>
                </a:solidFill>
              </a:defRPr>
            </a:pPr>
            <a:r>
              <a:rPr lang="en-US" sz="1600" noProof="0" dirty="0"/>
              <a:t>Replaces stages 3–6 in one GPU launch</a:t>
            </a:r>
          </a:p>
          <a:p>
            <a:pPr lvl="1">
              <a:spcAft>
                <a:spcPts val="600"/>
              </a:spcAft>
              <a:defRPr sz="1400">
                <a:solidFill>
                  <a:srgbClr val="CCCCCC"/>
                </a:solidFill>
              </a:defRPr>
            </a:pPr>
            <a:r>
              <a:rPr lang="en-US" sz="1600" noProof="0" dirty="0"/>
              <a:t>Reduces GPU commands from ~10 to 1 per frame</a:t>
            </a:r>
          </a:p>
          <a:p>
            <a:pPr lvl="1">
              <a:spcAft>
                <a:spcPts val="600"/>
              </a:spcAft>
              <a:defRPr sz="1400">
                <a:solidFill>
                  <a:srgbClr val="CCCCCC"/>
                </a:solidFill>
              </a:defRPr>
            </a:pPr>
            <a:r>
              <a:rPr lang="en-US" sz="1600" noProof="0" dirty="0"/>
              <a:t>Forces never transit global memory — stay in registers</a:t>
            </a:r>
          </a:p>
          <a:p>
            <a:pPr>
              <a:spcAft>
                <a:spcPts val="600"/>
              </a:spcAft>
              <a:defRPr sz="1600">
                <a:solidFill>
                  <a:srgbClr val="CCCCCC"/>
                </a:solidFill>
              </a:defRPr>
            </a:pPr>
            <a:endParaRPr lang="en-US" sz="1600" noProof="0" dirty="0"/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  <a:defRPr sz="1600">
                <a:solidFill>
                  <a:srgbClr val="CCCCCC"/>
                </a:solidFill>
              </a:defRPr>
            </a:pPr>
            <a:r>
              <a:rPr lang="en-US" sz="1600" noProof="0" dirty="0"/>
              <a:t>Large-N path (N &gt; 2048): 7-stage multi-stream pipeline</a:t>
            </a:r>
          </a:p>
          <a:p>
            <a:pPr lvl="1">
              <a:spcAft>
                <a:spcPts val="600"/>
              </a:spcAft>
              <a:defRPr sz="1400">
                <a:solidFill>
                  <a:srgbClr val="CCCCCC"/>
                </a:solidFill>
              </a:defRPr>
            </a:pPr>
            <a:r>
              <a:rPr lang="en-US" sz="1600" noProof="0" dirty="0"/>
              <a:t>Capture → Core update → </a:t>
            </a:r>
            <a:r>
              <a:rPr lang="en-US" sz="1600" noProof="0" dirty="0" err="1"/>
              <a:t>Forces+Tether</a:t>
            </a:r>
            <a:r>
              <a:rPr lang="en-US" sz="1600" noProof="0" dirty="0"/>
              <a:t> → Grid build → Collision → Integrate → Core RB</a:t>
            </a:r>
          </a:p>
          <a:p>
            <a:pPr lvl="1">
              <a:spcAft>
                <a:spcPts val="600"/>
              </a:spcAft>
              <a:defRPr sz="1400">
                <a:solidFill>
                  <a:srgbClr val="CCCCCC"/>
                </a:solidFill>
              </a:defRPr>
            </a:pPr>
            <a:r>
              <a:rPr lang="en-US" sz="1600" noProof="0" dirty="0" err="1"/>
              <a:t>Forces+Tether</a:t>
            </a:r>
            <a:r>
              <a:rPr lang="en-US" sz="1600" noProof="0" dirty="0"/>
              <a:t> ∥ Grid build (concurrent on </a:t>
            </a:r>
            <a:r>
              <a:rPr lang="en-US" sz="1600" noProof="0" dirty="0" err="1"/>
              <a:t>simStream</a:t>
            </a:r>
            <a:r>
              <a:rPr lang="en-US" sz="1600" noProof="0" dirty="0"/>
              <a:t> / </a:t>
            </a:r>
            <a:r>
              <a:rPr lang="en-US" sz="1600" noProof="0" dirty="0" err="1"/>
              <a:t>gridStream</a:t>
            </a:r>
            <a:r>
              <a:rPr lang="en-US" sz="1600" noProof="0" dirty="0"/>
              <a:t>)</a:t>
            </a:r>
          </a:p>
          <a:p>
            <a:pPr lvl="1">
              <a:spcAft>
                <a:spcPts val="600"/>
              </a:spcAft>
              <a:defRPr sz="1400">
                <a:solidFill>
                  <a:srgbClr val="CCCCCC"/>
                </a:solidFill>
              </a:defRPr>
            </a:pPr>
            <a:r>
              <a:rPr lang="en-US" sz="1600" noProof="0" dirty="0"/>
              <a:t>Fork/join via </a:t>
            </a:r>
            <a:r>
              <a:rPr lang="en-US" sz="1600" noProof="0" dirty="0" err="1"/>
              <a:t>cudaEventDisableTiming</a:t>
            </a:r>
            <a:r>
              <a:rPr lang="en-US" sz="1600" noProof="0" dirty="0"/>
              <a:t> events</a:t>
            </a:r>
          </a:p>
          <a:p>
            <a:pPr lvl="1">
              <a:spcAft>
                <a:spcPts val="600"/>
              </a:spcAft>
              <a:defRPr sz="1400">
                <a:solidFill>
                  <a:srgbClr val="CCCCCC"/>
                </a:solidFill>
              </a:defRPr>
            </a:pPr>
            <a:endParaRPr lang="en-US" sz="1600" noProof="0" dirty="0"/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  <a:defRPr sz="1600">
                <a:solidFill>
                  <a:srgbClr val="CCCCCC"/>
                </a:solidFill>
              </a:defRPr>
            </a:pPr>
            <a:r>
              <a:rPr lang="en-US" sz="1600" noProof="0" dirty="0"/>
              <a:t>Threshold N=2048 chosen empirically:</a:t>
            </a:r>
          </a:p>
          <a:p>
            <a:pPr lvl="1">
              <a:spcAft>
                <a:spcPts val="600"/>
              </a:spcAft>
              <a:defRPr sz="1400">
                <a:solidFill>
                  <a:srgbClr val="CCCCCC"/>
                </a:solidFill>
              </a:defRPr>
            </a:pPr>
            <a:r>
              <a:rPr lang="en-US" sz="1600" noProof="0" dirty="0"/>
              <a:t>Below: launch overhead &gt; brute-force O(N²) cost</a:t>
            </a:r>
          </a:p>
          <a:p>
            <a:pPr lvl="1">
              <a:spcAft>
                <a:spcPts val="600"/>
              </a:spcAft>
              <a:defRPr sz="1400">
                <a:solidFill>
                  <a:srgbClr val="CCCCCC"/>
                </a:solidFill>
              </a:defRPr>
            </a:pPr>
            <a:r>
              <a:rPr lang="en-US" sz="1600" noProof="0" dirty="0"/>
              <a:t>Above: grid-based O(</a:t>
            </a:r>
            <a:r>
              <a:rPr lang="en-US" sz="1600" noProof="0" dirty="0" err="1"/>
              <a:t>N·k</a:t>
            </a:r>
            <a:r>
              <a:rPr lang="en-US" sz="1600" noProof="0" dirty="0"/>
              <a:t>) justifies build overhead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543AA3E-AB53-6646-84B6-ADF58E573DF9}"/>
              </a:ext>
            </a:extLst>
          </p:cNvPr>
          <p:cNvSpPr txBox="1"/>
          <p:nvPr/>
        </p:nvSpPr>
        <p:spPr>
          <a:xfrm>
            <a:off x="2439333" y="6503488"/>
            <a:ext cx="426533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noProof="0" dirty="0">
                <a:solidFill>
                  <a:srgbClr val="76B900"/>
                </a:solidFill>
              </a:rPr>
              <a:t>GPU Programming: Angry Santa - </a:t>
            </a:r>
            <a:r>
              <a:rPr lang="en-US" sz="1200" noProof="0" dirty="0" err="1">
                <a:solidFill>
                  <a:srgbClr val="76B900"/>
                </a:solidFill>
              </a:rPr>
              <a:t>Politecnico</a:t>
            </a:r>
            <a:r>
              <a:rPr lang="en-US" sz="1200" noProof="0" dirty="0">
                <a:solidFill>
                  <a:srgbClr val="76B900"/>
                </a:solidFill>
              </a:rPr>
              <a:t> di Torino 2025/2026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A499857-2AD7-617A-4619-3F88B0C76C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7DBB30E-052E-4B45-0A07-0931686FFFC6}"/>
              </a:ext>
            </a:extLst>
          </p:cNvPr>
          <p:cNvSpPr txBox="1"/>
          <p:nvPr/>
        </p:nvSpPr>
        <p:spPr>
          <a:xfrm>
            <a:off x="457200" y="11887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76B900"/>
                </a:solidFill>
              </a:defRPr>
            </a:pPr>
            <a:r>
              <a:rPr lang="en-US" noProof="0" dirty="0"/>
              <a:t>Multi-Stream Fork/Join Architecture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FBF6E17-2D9F-74CE-0E20-E24064721D47}"/>
              </a:ext>
            </a:extLst>
          </p:cNvPr>
          <p:cNvSpPr txBox="1"/>
          <p:nvPr/>
        </p:nvSpPr>
        <p:spPr>
          <a:xfrm>
            <a:off x="457200" y="365760"/>
            <a:ext cx="82296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rPr lang="en-US" noProof="0" dirty="0"/>
              <a:t>GPU Pipeline Large-N Stages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CDF30CE-4108-CF6D-AE93-CA67447EA82F}"/>
              </a:ext>
            </a:extLst>
          </p:cNvPr>
          <p:cNvSpPr txBox="1"/>
          <p:nvPr/>
        </p:nvSpPr>
        <p:spPr>
          <a:xfrm>
            <a:off x="457200" y="11887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76B900"/>
                </a:solidFill>
              </a:defRPr>
            </a:pPr>
            <a:r>
              <a:rPr lang="en-US" noProof="0" dirty="0"/>
              <a:t>Multi-Stream Fork/Join Architecture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81C1056-50F8-D18C-8C21-BEE90F6B6DE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31691853"/>
              </p:ext>
            </p:extLst>
          </p:nvPr>
        </p:nvGraphicFramePr>
        <p:xfrm>
          <a:off x="365760" y="1828800"/>
          <a:ext cx="8412480" cy="29260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58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57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3189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8249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8249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5759">
                <a:tc>
                  <a:txBody>
                    <a:bodyPr/>
                    <a:lstStyle/>
                    <a:p>
                      <a:pPr algn="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lang="en-US" noProof="0" dirty="0"/>
                        <a:t>#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lang="en-US" noProof="0" dirty="0"/>
                        <a:t>Stage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lang="en-US" noProof="0" dirty="0"/>
                        <a:t>Kernel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lang="en-US" noProof="0" dirty="0"/>
                        <a:t>Stream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lang="en-US" noProof="0" dirty="0"/>
                        <a:t>Block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59"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444444"/>
                          </a:solidFill>
                        </a:defRPr>
                      </a:pPr>
                      <a:r>
                        <a:rPr lang="en-US" noProof="0" dirty="0"/>
                        <a:t>1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444444"/>
                          </a:solidFill>
                        </a:defRPr>
                      </a:pPr>
                      <a:r>
                        <a:rPr lang="en-US" noProof="0" dirty="0"/>
                        <a:t>Particles Capture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444444"/>
                          </a:solidFill>
                        </a:defRPr>
                      </a:pPr>
                      <a:r>
                        <a:rPr lang="en-US" noProof="0" dirty="0" err="1"/>
                        <a:t>captureFromSnowpack</a:t>
                      </a:r>
                      <a:endParaRPr lang="en-US" noProof="0" dirty="0"/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444444"/>
                          </a:solidFill>
                        </a:defRPr>
                      </a:pPr>
                      <a:r>
                        <a:rPr lang="en-US" noProof="0" dirty="0"/>
                        <a:t>sim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444444"/>
                          </a:solidFill>
                        </a:defRPr>
                      </a:pPr>
                      <a:r>
                        <a:rPr lang="en-US" noProof="0" dirty="0"/>
                        <a:t>256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59"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444444"/>
                          </a:solidFill>
                        </a:defRPr>
                      </a:pPr>
                      <a:r>
                        <a:rPr lang="en-US" noProof="0" dirty="0"/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444444"/>
                          </a:solidFill>
                        </a:defRPr>
                      </a:pPr>
                      <a:r>
                        <a:rPr lang="en-US" noProof="0" dirty="0"/>
                        <a:t>Core update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444444"/>
                          </a:solidFill>
                        </a:defRPr>
                      </a:pPr>
                      <a:r>
                        <a:rPr lang="en-US" noProof="0" dirty="0"/>
                        <a:t>host code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444444"/>
                          </a:solidFill>
                        </a:defRPr>
                      </a:pPr>
                      <a:r>
                        <a:rPr lang="en-US" noProof="0" dirty="0"/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444444"/>
                          </a:solidFill>
                        </a:defRPr>
                      </a:pPr>
                      <a:r>
                        <a:rPr lang="en-US" noProof="0" dirty="0"/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59"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444444"/>
                          </a:solidFill>
                        </a:defRPr>
                      </a:pPr>
                      <a:r>
                        <a:rPr lang="en-US" noProof="0" dirty="0"/>
                        <a:t>3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444444"/>
                          </a:solidFill>
                        </a:defRPr>
                      </a:pPr>
                      <a:r>
                        <a:rPr lang="en-US" noProof="0" dirty="0"/>
                        <a:t>Forces + Tether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444444"/>
                          </a:solidFill>
                        </a:defRPr>
                      </a:pPr>
                      <a:r>
                        <a:rPr lang="en-US" noProof="0" dirty="0" err="1"/>
                        <a:t>forceTether</a:t>
                      </a:r>
                      <a:endParaRPr lang="en-US" noProof="0" dirty="0"/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444444"/>
                          </a:solidFill>
                        </a:defRPr>
                      </a:pPr>
                      <a:r>
                        <a:rPr lang="en-US" noProof="0" dirty="0"/>
                        <a:t>sim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444444"/>
                          </a:solidFill>
                        </a:defRPr>
                      </a:pPr>
                      <a:r>
                        <a:rPr lang="en-US" noProof="0" dirty="0"/>
                        <a:t>256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59"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444444"/>
                          </a:solidFill>
                        </a:defRPr>
                      </a:pPr>
                      <a:r>
                        <a:rPr lang="en-US" noProof="0" dirty="0"/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444444"/>
                          </a:solidFill>
                        </a:defRPr>
                      </a:pPr>
                      <a:r>
                        <a:rPr lang="en-US" noProof="0" dirty="0"/>
                        <a:t>Grid build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444444"/>
                          </a:solidFill>
                        </a:defRPr>
                      </a:pPr>
                      <a:r>
                        <a:rPr lang="en-US" noProof="0" dirty="0" err="1"/>
                        <a:t>hash→sort→ranges</a:t>
                      </a:r>
                      <a:endParaRPr lang="en-US" noProof="0" dirty="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444444"/>
                          </a:solidFill>
                        </a:defRPr>
                      </a:pPr>
                      <a:r>
                        <a:rPr lang="en-US" noProof="0" dirty="0"/>
                        <a:t>grid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444444"/>
                          </a:solidFill>
                        </a:defRPr>
                      </a:pPr>
                      <a:r>
                        <a:rPr lang="en-US" noProof="0" dirty="0"/>
                        <a:t>256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59"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444444"/>
                          </a:solidFill>
                        </a:defRPr>
                      </a:pPr>
                      <a:r>
                        <a:rPr lang="en-US" noProof="0" dirty="0"/>
                        <a:t>5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444444"/>
                          </a:solidFill>
                        </a:defRPr>
                      </a:pPr>
                      <a:r>
                        <a:rPr lang="en-US" noProof="0" dirty="0"/>
                        <a:t>Collision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444444"/>
                          </a:solidFill>
                        </a:defRPr>
                      </a:pPr>
                      <a:r>
                        <a:rPr lang="en-US" noProof="0" dirty="0" err="1"/>
                        <a:t>neighborCollision</a:t>
                      </a:r>
                      <a:endParaRPr lang="en-US" noProof="0" dirty="0"/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444444"/>
                          </a:solidFill>
                        </a:defRPr>
                      </a:pPr>
                      <a:r>
                        <a:rPr lang="en-US" noProof="0" dirty="0"/>
                        <a:t>sim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444444"/>
                          </a:solidFill>
                        </a:defRPr>
                      </a:pPr>
                      <a:r>
                        <a:rPr lang="en-US" noProof="0" dirty="0"/>
                        <a:t>512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59"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444444"/>
                          </a:solidFill>
                        </a:defRPr>
                      </a:pPr>
                      <a:r>
                        <a:rPr lang="en-US" noProof="0" dirty="0"/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444444"/>
                          </a:solidFill>
                        </a:defRPr>
                      </a:pPr>
                      <a:r>
                        <a:rPr lang="en-US" noProof="0" dirty="0"/>
                        <a:t>Integrate + Ground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444444"/>
                          </a:solidFill>
                        </a:defRPr>
                      </a:pPr>
                      <a:r>
                        <a:rPr lang="en-US" noProof="0" dirty="0" err="1"/>
                        <a:t>integrateGround</a:t>
                      </a:r>
                      <a:endParaRPr lang="en-US" noProof="0" dirty="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444444"/>
                          </a:solidFill>
                        </a:defRPr>
                      </a:pPr>
                      <a:r>
                        <a:rPr lang="en-US" noProof="0" dirty="0"/>
                        <a:t>sim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444444"/>
                          </a:solidFill>
                        </a:defRPr>
                      </a:pPr>
                      <a:r>
                        <a:rPr lang="en-US" noProof="0" dirty="0"/>
                        <a:t>256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6"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444444"/>
                          </a:solidFill>
                        </a:defRPr>
                      </a:pPr>
                      <a:r>
                        <a:rPr lang="en-US" noProof="0" dirty="0"/>
                        <a:t>7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444444"/>
                          </a:solidFill>
                        </a:defRPr>
                      </a:pPr>
                      <a:r>
                        <a:rPr lang="en-US" noProof="0" dirty="0"/>
                        <a:t>Core Rigid Body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444444"/>
                          </a:solidFill>
                        </a:defRPr>
                      </a:pPr>
                      <a:r>
                        <a:rPr lang="en-US" noProof="0" dirty="0"/>
                        <a:t>host code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444444"/>
                          </a:solidFill>
                        </a:defRPr>
                      </a:pPr>
                      <a:r>
                        <a:rPr lang="en-US" noProof="0" dirty="0"/>
                        <a:t>—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444444"/>
                          </a:solidFill>
                        </a:defRPr>
                      </a:pPr>
                      <a:r>
                        <a:rPr lang="en-US" noProof="0" dirty="0"/>
                        <a:t>—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0BA40697-8692-A772-E286-392C3D3DA13B}"/>
              </a:ext>
            </a:extLst>
          </p:cNvPr>
          <p:cNvSpPr txBox="1"/>
          <p:nvPr/>
        </p:nvSpPr>
        <p:spPr>
          <a:xfrm>
            <a:off x="2439333" y="6503488"/>
            <a:ext cx="426533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noProof="0" dirty="0">
                <a:solidFill>
                  <a:srgbClr val="76B900"/>
                </a:solidFill>
              </a:rPr>
              <a:t>GPU Programming: Angry Santa - </a:t>
            </a:r>
            <a:r>
              <a:rPr lang="en-US" sz="1200" noProof="0" dirty="0" err="1">
                <a:solidFill>
                  <a:srgbClr val="76B900"/>
                </a:solidFill>
              </a:rPr>
              <a:t>Politecnico</a:t>
            </a:r>
            <a:r>
              <a:rPr lang="en-US" sz="1200" noProof="0" dirty="0">
                <a:solidFill>
                  <a:srgbClr val="76B900"/>
                </a:solidFill>
              </a:rPr>
              <a:t> di Torino 2025/2026</a:t>
            </a:r>
          </a:p>
        </p:txBody>
      </p:sp>
    </p:spTree>
    <p:extLst>
      <p:ext uri="{BB962C8B-B14F-4D97-AF65-F5344CB8AC3E}">
        <p14:creationId xmlns:p14="http://schemas.microsoft.com/office/powerpoint/2010/main" val="277156254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57200" y="1188720"/>
            <a:ext cx="8229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76B900"/>
                </a:solidFill>
              </a:defRPr>
            </a:pPr>
            <a:r>
              <a:rPr lang="it-IT" dirty="0"/>
              <a:t>Kernel Fusion Architecture</a:t>
            </a:r>
            <a:endParaRPr lang="en-US" noProof="0" dirty="0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82296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rPr lang="en-US" noProof="0" dirty="0"/>
              <a:t>GPU Pipeline Small-N Stages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72DF38A-8702-BD04-3C34-08D0CD07A4F7}"/>
              </a:ext>
            </a:extLst>
          </p:cNvPr>
          <p:cNvSpPr txBox="1"/>
          <p:nvPr/>
        </p:nvSpPr>
        <p:spPr>
          <a:xfrm>
            <a:off x="2439333" y="6503488"/>
            <a:ext cx="426533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noProof="0" dirty="0">
                <a:solidFill>
                  <a:srgbClr val="76B900"/>
                </a:solidFill>
              </a:rPr>
              <a:t>GPU Programming: Angry Santa - </a:t>
            </a:r>
            <a:r>
              <a:rPr lang="en-US" sz="1200" noProof="0" dirty="0" err="1">
                <a:solidFill>
                  <a:srgbClr val="76B900"/>
                </a:solidFill>
              </a:rPr>
              <a:t>Politecnico</a:t>
            </a:r>
            <a:r>
              <a:rPr lang="en-US" sz="1200" noProof="0" dirty="0">
                <a:solidFill>
                  <a:srgbClr val="76B900"/>
                </a:solidFill>
              </a:rPr>
              <a:t> di Torino 2025/2026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75F680A3-16B5-7C2B-9B16-6DE249FABE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8196056"/>
              </p:ext>
            </p:extLst>
          </p:nvPr>
        </p:nvGraphicFramePr>
        <p:xfrm>
          <a:off x="365760" y="1828800"/>
          <a:ext cx="8412480" cy="18288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58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57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3189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8249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8249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5759">
                <a:tc>
                  <a:txBody>
                    <a:bodyPr/>
                    <a:lstStyle/>
                    <a:p>
                      <a:pPr algn="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lang="en-US" noProof="0" dirty="0"/>
                        <a:t>#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lang="en-US" noProof="0" dirty="0"/>
                        <a:t>Stage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lang="en-US" noProof="0" dirty="0"/>
                        <a:t>Kernel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lang="en-US" noProof="0" dirty="0"/>
                        <a:t>Stream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lang="en-US" noProof="0" dirty="0"/>
                        <a:t>Block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59"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444444"/>
                          </a:solidFill>
                        </a:defRPr>
                      </a:pPr>
                      <a:r>
                        <a:rPr lang="en-US" noProof="0" dirty="0"/>
                        <a:t>1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444444"/>
                          </a:solidFill>
                        </a:defRPr>
                      </a:pPr>
                      <a:r>
                        <a:rPr lang="en-US" noProof="0" dirty="0"/>
                        <a:t>Particles Capture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444444"/>
                          </a:solidFill>
                        </a:defRPr>
                      </a:pPr>
                      <a:r>
                        <a:rPr lang="en-US" noProof="0" dirty="0" err="1"/>
                        <a:t>captureFromSnowpack</a:t>
                      </a:r>
                      <a:endParaRPr lang="en-US" noProof="0" dirty="0"/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444444"/>
                          </a:solidFill>
                        </a:defRPr>
                      </a:pPr>
                      <a:r>
                        <a:rPr lang="en-US" noProof="0" dirty="0"/>
                        <a:t>sim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444444"/>
                          </a:solidFill>
                        </a:defRPr>
                      </a:pPr>
                      <a:r>
                        <a:rPr lang="en-US" noProof="0" dirty="0"/>
                        <a:t>256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59"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444444"/>
                          </a:solidFill>
                        </a:defRPr>
                      </a:pPr>
                      <a:r>
                        <a:rPr lang="en-US" noProof="0" dirty="0"/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444444"/>
                          </a:solidFill>
                        </a:defRPr>
                      </a:pPr>
                      <a:r>
                        <a:rPr lang="en-US" noProof="0" dirty="0"/>
                        <a:t>Core update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444444"/>
                          </a:solidFill>
                        </a:defRPr>
                      </a:pPr>
                      <a:r>
                        <a:rPr lang="en-US" noProof="0" dirty="0"/>
                        <a:t>host code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444444"/>
                          </a:solidFill>
                        </a:defRPr>
                      </a:pPr>
                      <a:r>
                        <a:rPr lang="en-US" noProof="0" dirty="0"/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444444"/>
                          </a:solidFill>
                        </a:defRPr>
                      </a:pPr>
                      <a:r>
                        <a:rPr lang="en-US" noProof="0" dirty="0"/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59"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444444"/>
                          </a:solidFill>
                        </a:defRPr>
                      </a:pPr>
                      <a:r>
                        <a:rPr lang="en-US" noProof="0" dirty="0"/>
                        <a:t>3 – 4 – 5 - 6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444444"/>
                          </a:solidFill>
                        </a:defRPr>
                      </a:pPr>
                      <a:r>
                        <a:rPr lang="en-US" noProof="0" dirty="0"/>
                        <a:t>Fusion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444444"/>
                          </a:solidFill>
                        </a:defRPr>
                      </a:pPr>
                      <a:r>
                        <a:rPr lang="en-US" noProof="0" dirty="0" err="1"/>
                        <a:t>shellPhysicsFused</a:t>
                      </a:r>
                      <a:endParaRPr lang="en-US" noProof="0" dirty="0"/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444444"/>
                          </a:solidFill>
                        </a:defRPr>
                      </a:pPr>
                      <a:r>
                        <a:rPr lang="en-US" noProof="0" dirty="0"/>
                        <a:t>sim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444444"/>
                          </a:solidFill>
                        </a:defRPr>
                      </a:pPr>
                      <a:r>
                        <a:rPr lang="en-US" noProof="0" dirty="0"/>
                        <a:t>256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6"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444444"/>
                          </a:solidFill>
                        </a:defRPr>
                      </a:pPr>
                      <a:r>
                        <a:rPr lang="en-US" noProof="0" dirty="0"/>
                        <a:t>7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444444"/>
                          </a:solidFill>
                        </a:defRPr>
                      </a:pPr>
                      <a:r>
                        <a:rPr lang="en-US" noProof="0" dirty="0"/>
                        <a:t>Core Rigid Body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444444"/>
                          </a:solidFill>
                        </a:defRPr>
                      </a:pPr>
                      <a:r>
                        <a:rPr lang="en-US" noProof="0" dirty="0"/>
                        <a:t>host code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444444"/>
                          </a:solidFill>
                        </a:defRPr>
                      </a:pPr>
                      <a:r>
                        <a:rPr lang="en-US" noProof="0" dirty="0"/>
                        <a:t>—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444444"/>
                          </a:solidFill>
                        </a:defRPr>
                      </a:pPr>
                      <a:r>
                        <a:rPr lang="en-US" noProof="0" dirty="0"/>
                        <a:t>—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rPr lang="en-US" noProof="0" dirty="0"/>
              <a:t>Experimental Setup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76B900"/>
                </a:solidFill>
              </a:defRPr>
            </a:pPr>
            <a:r>
              <a:rPr lang="en-US" noProof="0" dirty="0"/>
              <a:t>Two Maxwell-class test platforms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rPr lang="en-US" noProof="0" dirty="0"/>
              <a:t>Experimental Setup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76B900"/>
                </a:solidFill>
              </a:defRPr>
            </a:pPr>
            <a:r>
              <a:rPr lang="en-US" noProof="0" dirty="0"/>
              <a:t>Two Maxwell-class test platforms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24428793"/>
              </p:ext>
            </p:extLst>
          </p:nvPr>
        </p:nvGraphicFramePr>
        <p:xfrm>
          <a:off x="365760" y="1828800"/>
          <a:ext cx="8412480" cy="3246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04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04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04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068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lang="en-US" noProof="0" dirty="0"/>
                        <a:t>Spec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lang="en-US" noProof="0" dirty="0"/>
                        <a:t>Laptop (GTX 960M)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lang="en-US" noProof="0" dirty="0"/>
                        <a:t>Jetson Nano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68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444444"/>
                          </a:solidFill>
                        </a:defRPr>
                      </a:pPr>
                      <a:r>
                        <a:rPr lang="en-US" noProof="0" dirty="0"/>
                        <a:t>CPU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444444"/>
                          </a:solidFill>
                        </a:defRPr>
                      </a:pPr>
                      <a:r>
                        <a:rPr lang="en-US" noProof="0" dirty="0"/>
                        <a:t>Intel i7-6700HQ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444444"/>
                          </a:solidFill>
                        </a:defRPr>
                      </a:pPr>
                      <a:r>
                        <a:rPr lang="en-US" noProof="0" dirty="0"/>
                        <a:t>ARM Cortex-A57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68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444444"/>
                          </a:solidFill>
                        </a:defRPr>
                      </a:pPr>
                      <a:r>
                        <a:rPr lang="en-US" noProof="0" dirty="0"/>
                        <a:t>CPU Cores/Threads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444444"/>
                          </a:solidFill>
                        </a:defRPr>
                      </a:pPr>
                      <a:r>
                        <a:rPr lang="en-US" noProof="0" dirty="0"/>
                        <a:t>4 / 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444444"/>
                          </a:solidFill>
                        </a:defRPr>
                      </a:pPr>
                      <a:r>
                        <a:rPr lang="en-US" noProof="0" dirty="0"/>
                        <a:t>4 / 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68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444444"/>
                          </a:solidFill>
                        </a:defRPr>
                      </a:pPr>
                      <a:r>
                        <a:rPr lang="en-US" noProof="0" dirty="0"/>
                        <a:t>GPU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444444"/>
                          </a:solidFill>
                        </a:defRPr>
                      </a:pPr>
                      <a:r>
                        <a:rPr lang="en-US" noProof="0" dirty="0"/>
                        <a:t>GeForce GTX 960M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444444"/>
                          </a:solidFill>
                        </a:defRPr>
                      </a:pPr>
                      <a:r>
                        <a:rPr lang="en-US" noProof="0" dirty="0"/>
                        <a:t>Tegra X1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068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444444"/>
                          </a:solidFill>
                        </a:defRPr>
                      </a:pPr>
                      <a:r>
                        <a:rPr lang="en-US" noProof="0" dirty="0"/>
                        <a:t>Compute Capability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444444"/>
                          </a:solidFill>
                        </a:defRPr>
                      </a:pPr>
                      <a:r>
                        <a:rPr lang="en-US" noProof="0" dirty="0"/>
                        <a:t>SM 5.0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444444"/>
                          </a:solidFill>
                        </a:defRPr>
                      </a:pPr>
                      <a:r>
                        <a:rPr lang="en-US" noProof="0" dirty="0"/>
                        <a:t>SM 5.3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068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444444"/>
                          </a:solidFill>
                        </a:defRPr>
                      </a:pPr>
                      <a:r>
                        <a:rPr lang="en-US" noProof="0" dirty="0"/>
                        <a:t>SMs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444444"/>
                          </a:solidFill>
                        </a:defRPr>
                      </a:pPr>
                      <a:r>
                        <a:rPr lang="en-US" noProof="0" dirty="0"/>
                        <a:t>5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444444"/>
                          </a:solidFill>
                        </a:defRPr>
                      </a:pPr>
                      <a:r>
                        <a:rPr lang="en-US" noProof="0" dirty="0"/>
                        <a:t>1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068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444444"/>
                          </a:solidFill>
                        </a:defRPr>
                      </a:pPr>
                      <a:r>
                        <a:rPr lang="en-US" noProof="0" dirty="0"/>
                        <a:t>CUDA Cores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444444"/>
                          </a:solidFill>
                        </a:defRPr>
                      </a:pPr>
                      <a:r>
                        <a:rPr lang="en-US" noProof="0" dirty="0"/>
                        <a:t>640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444444"/>
                          </a:solidFill>
                        </a:defRPr>
                      </a:pPr>
                      <a:r>
                        <a:rPr lang="en-US" noProof="0" dirty="0"/>
                        <a:t>128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068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444444"/>
                          </a:solidFill>
                        </a:defRPr>
                      </a:pPr>
                      <a:r>
                        <a:rPr lang="en-US" noProof="0" dirty="0"/>
                        <a:t>L2 Cache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444444"/>
                          </a:solidFill>
                        </a:defRPr>
                      </a:pPr>
                      <a:r>
                        <a:rPr lang="en-US" noProof="0" dirty="0"/>
                        <a:t>1 MB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444444"/>
                          </a:solidFill>
                        </a:defRPr>
                      </a:pPr>
                      <a:r>
                        <a:rPr lang="en-US" noProof="0" dirty="0"/>
                        <a:t>256 KB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068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444444"/>
                          </a:solidFill>
                        </a:defRPr>
                      </a:pPr>
                      <a:r>
                        <a:rPr lang="en-US" noProof="0" dirty="0"/>
                        <a:t>Memory BW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444444"/>
                          </a:solidFill>
                        </a:defRPr>
                      </a:pPr>
                      <a:r>
                        <a:rPr lang="en-US" noProof="0" dirty="0"/>
                        <a:t>~30 GB/s (GDDR5)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444444"/>
                          </a:solidFill>
                        </a:defRPr>
                      </a:pPr>
                      <a:r>
                        <a:rPr lang="en-US" noProof="0" dirty="0"/>
                        <a:t>~25.6 GB/s (LPDDR4)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CFE8F875-7EA4-FA19-E9B5-FC726EECA32F}"/>
              </a:ext>
            </a:extLst>
          </p:cNvPr>
          <p:cNvSpPr txBox="1"/>
          <p:nvPr/>
        </p:nvSpPr>
        <p:spPr>
          <a:xfrm>
            <a:off x="2439333" y="6503488"/>
            <a:ext cx="426533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noProof="0" dirty="0">
                <a:solidFill>
                  <a:srgbClr val="76B900"/>
                </a:solidFill>
              </a:rPr>
              <a:t>GPU Programming: Angry Santa - </a:t>
            </a:r>
            <a:r>
              <a:rPr lang="en-US" sz="1200" noProof="0" dirty="0" err="1">
                <a:solidFill>
                  <a:srgbClr val="76B900"/>
                </a:solidFill>
              </a:rPr>
              <a:t>Politecnico</a:t>
            </a:r>
            <a:r>
              <a:rPr lang="en-US" sz="1200" noProof="0" dirty="0">
                <a:solidFill>
                  <a:srgbClr val="76B900"/>
                </a:solidFill>
              </a:rPr>
              <a:t> di Torino 2025/2026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rPr lang="en-US" noProof="0" dirty="0"/>
              <a:t>Results - GTX 960M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76B900"/>
                </a:solidFill>
              </a:defRPr>
            </a:pPr>
            <a:r>
              <a:rPr lang="en-US" noProof="0" dirty="0"/>
              <a:t>Per-Kernel Timing at N = 100K (Fused Regime)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727835"/>
            <a:ext cx="8046720" cy="4539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  <a:defRPr sz="1600">
                <a:solidFill>
                  <a:srgbClr val="CCCCCC"/>
                </a:solidFill>
              </a:defRPr>
            </a:pPr>
            <a:r>
              <a:rPr lang="en-US" sz="1600" noProof="0" dirty="0"/>
              <a:t>At N=10⁵, GPU consistently yields lower FPS than CPU baselines</a:t>
            </a:r>
          </a:p>
          <a:p>
            <a:pPr>
              <a:spcAft>
                <a:spcPts val="600"/>
              </a:spcAft>
              <a:defRPr sz="1600">
                <a:solidFill>
                  <a:srgbClr val="CCCCCC"/>
                </a:solidFill>
              </a:defRPr>
            </a:pPr>
            <a:endParaRPr lang="en-US" sz="1600" noProof="0" dirty="0"/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  <a:defRPr sz="1600">
                <a:solidFill>
                  <a:srgbClr val="CCCCCC"/>
                </a:solidFill>
              </a:defRPr>
            </a:pPr>
            <a:r>
              <a:rPr lang="en-US" sz="1600" noProof="0" dirty="0"/>
              <a:t>Shell never exceeds ~2,048 particles → single thread-block</a:t>
            </a:r>
          </a:p>
          <a:p>
            <a:pPr lvl="1">
              <a:spcAft>
                <a:spcPts val="600"/>
              </a:spcAft>
              <a:defRPr sz="1400">
                <a:solidFill>
                  <a:srgbClr val="CCCCCC"/>
                </a:solidFill>
              </a:defRPr>
            </a:pPr>
            <a:r>
              <a:rPr lang="en-US" sz="1600" noProof="0" dirty="0"/>
              <a:t>Only 1 of 5 SMs utilized → 80% of GPU idle</a:t>
            </a:r>
          </a:p>
          <a:p>
            <a:pPr lvl="1">
              <a:spcAft>
                <a:spcPts val="600"/>
              </a:spcAft>
              <a:defRPr sz="1400">
                <a:solidFill>
                  <a:srgbClr val="CCCCCC"/>
                </a:solidFill>
              </a:defRPr>
            </a:pPr>
            <a:r>
              <a:rPr lang="en-US" sz="1600" noProof="0" dirty="0"/>
              <a:t>Fixed costs (launch, sync, PCIe) = 35–50% of frame time</a:t>
            </a:r>
          </a:p>
          <a:p>
            <a:pPr>
              <a:spcAft>
                <a:spcPts val="600"/>
              </a:spcAft>
              <a:defRPr sz="1600">
                <a:solidFill>
                  <a:srgbClr val="CCCCCC"/>
                </a:solidFill>
              </a:defRPr>
            </a:pPr>
            <a:endParaRPr lang="en-US" sz="1600" noProof="0" dirty="0"/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  <a:defRPr sz="1600">
                <a:solidFill>
                  <a:srgbClr val="CCCCCC"/>
                </a:solidFill>
              </a:defRPr>
            </a:pPr>
            <a:r>
              <a:rPr lang="en-US" sz="1600" noProof="0" dirty="0"/>
              <a:t>CPU advantage: deep </a:t>
            </a:r>
            <a:r>
              <a:rPr lang="en-US" sz="1600" noProof="0" dirty="0" err="1"/>
              <a:t>OoO</a:t>
            </a:r>
            <a:r>
              <a:rPr lang="en-US" sz="1600" noProof="0" dirty="0"/>
              <a:t> pipeline, large L3 cache keeps all data in cache</a:t>
            </a:r>
          </a:p>
          <a:p>
            <a:pPr>
              <a:spcAft>
                <a:spcPts val="600"/>
              </a:spcAft>
              <a:defRPr sz="1600">
                <a:solidFill>
                  <a:srgbClr val="CCCCCC"/>
                </a:solidFill>
              </a:defRPr>
            </a:pPr>
            <a:endParaRPr lang="en-US" sz="1600" noProof="0" dirty="0"/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  <a:defRPr sz="1600">
                <a:solidFill>
                  <a:srgbClr val="CCCCCC"/>
                </a:solidFill>
              </a:defRPr>
            </a:pPr>
            <a:r>
              <a:rPr lang="en-US" sz="1600" noProof="0" dirty="0"/>
              <a:t>SIMD: 4-wide AVX vectorization → peak 11,174 FPS</a:t>
            </a:r>
          </a:p>
          <a:p>
            <a:pPr>
              <a:spcAft>
                <a:spcPts val="600"/>
              </a:spcAft>
              <a:defRPr sz="1600">
                <a:solidFill>
                  <a:srgbClr val="CCCCCC"/>
                </a:solidFill>
              </a:defRPr>
            </a:pPr>
            <a:endParaRPr lang="en-US" sz="1600" noProof="0" dirty="0"/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  <a:defRPr sz="1600">
                <a:solidFill>
                  <a:srgbClr val="CCCCCC"/>
                </a:solidFill>
              </a:defRPr>
            </a:pPr>
            <a:r>
              <a:rPr lang="en-US" sz="1600" noProof="0" dirty="0"/>
              <a:t>Key insight: GPU parallelism only pays off once workload amortizes launch and transfer overheads and if is sufficient «big»</a:t>
            </a:r>
          </a:p>
          <a:p>
            <a:pPr>
              <a:spcAft>
                <a:spcPts val="600"/>
              </a:spcAft>
              <a:defRPr sz="1600">
                <a:solidFill>
                  <a:srgbClr val="CCCCCC"/>
                </a:solidFill>
              </a:defRPr>
            </a:pPr>
            <a:endParaRPr lang="en-US" sz="1600" noProof="0" dirty="0"/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  <a:defRPr sz="1600">
                <a:solidFill>
                  <a:srgbClr val="CCCCCC"/>
                </a:solidFill>
              </a:defRPr>
            </a:pPr>
            <a:r>
              <a:rPr lang="en-US" sz="1600" noProof="0" dirty="0"/>
              <a:t>Crossover: between N=100K and N=500K on this platform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EDAB2A1-2D23-96BD-D552-F049B00C56B7}"/>
              </a:ext>
            </a:extLst>
          </p:cNvPr>
          <p:cNvSpPr txBox="1"/>
          <p:nvPr/>
        </p:nvSpPr>
        <p:spPr>
          <a:xfrm>
            <a:off x="2439333" y="6503488"/>
            <a:ext cx="426533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noProof="0" dirty="0">
                <a:solidFill>
                  <a:srgbClr val="76B900"/>
                </a:solidFill>
              </a:rPr>
              <a:t>GPU Programming: Angry Santa - </a:t>
            </a:r>
            <a:r>
              <a:rPr lang="en-US" sz="1200" noProof="0" dirty="0" err="1">
                <a:solidFill>
                  <a:srgbClr val="76B900"/>
                </a:solidFill>
              </a:rPr>
              <a:t>Politecnico</a:t>
            </a:r>
            <a:r>
              <a:rPr lang="en-US" sz="1200" noProof="0" dirty="0">
                <a:solidFill>
                  <a:srgbClr val="76B900"/>
                </a:solidFill>
              </a:rPr>
              <a:t> di Torino 2025/2026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rPr lang="en-US" noProof="0" dirty="0"/>
              <a:t>Results - GTX 960M Scenarios </a:t>
            </a:r>
            <a:r>
              <a:rPr lang="en-US" sz="3200" noProof="0" dirty="0"/>
              <a:t>N=10⁵</a:t>
            </a:r>
            <a:endParaRPr lang="en-US" noProof="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AEC17F2-DF8E-C140-7F68-D3F61DF512F7}"/>
              </a:ext>
            </a:extLst>
          </p:cNvPr>
          <p:cNvSpPr txBox="1"/>
          <p:nvPr/>
        </p:nvSpPr>
        <p:spPr>
          <a:xfrm>
            <a:off x="2439333" y="6503488"/>
            <a:ext cx="426533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noProof="0" dirty="0">
                <a:solidFill>
                  <a:srgbClr val="76B900"/>
                </a:solidFill>
              </a:rPr>
              <a:t>GPU Programming: Angry Santa - </a:t>
            </a:r>
            <a:r>
              <a:rPr lang="en-US" sz="1200" noProof="0" dirty="0" err="1">
                <a:solidFill>
                  <a:srgbClr val="76B900"/>
                </a:solidFill>
              </a:rPr>
              <a:t>Politecnico</a:t>
            </a:r>
            <a:r>
              <a:rPr lang="en-US" sz="1200" noProof="0" dirty="0">
                <a:solidFill>
                  <a:srgbClr val="76B900"/>
                </a:solidFill>
              </a:rPr>
              <a:t> di Torino 2025/2026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7489D17-F017-96F8-B15B-1B642A74139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512464" y="1960750"/>
            <a:ext cx="8117186" cy="4032995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D70F6A02-B353-79C0-DA88-17E0EC2EA6D7}"/>
              </a:ext>
            </a:extLst>
          </p:cNvPr>
          <p:cNvSpPr txBox="1"/>
          <p:nvPr/>
        </p:nvSpPr>
        <p:spPr>
          <a:xfrm>
            <a:off x="457200" y="1188720"/>
            <a:ext cx="82296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76B900"/>
                </a:solidFill>
              </a:defRPr>
            </a:pPr>
            <a:r>
              <a:rPr lang="en-US" noProof="0" dirty="0"/>
              <a:t>GPU parallelism only pays off once workload amortizes launch and transfer overheads and if is sufficient “big”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rPr lang="en-US" noProof="0" dirty="0"/>
              <a:t>Results - GTX 960M Scaling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76B900"/>
                </a:solidFill>
              </a:defRPr>
            </a:pPr>
            <a:r>
              <a:rPr lang="en-US" noProof="0" dirty="0"/>
              <a:t>GPU vs SIMD CPU - Speedup grows with particle count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56340138"/>
              </p:ext>
            </p:extLst>
          </p:nvPr>
        </p:nvGraphicFramePr>
        <p:xfrm>
          <a:off x="365760" y="1614487"/>
          <a:ext cx="8412480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02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02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02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02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02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020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93192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lang="en-US" noProof="0" dirty="0"/>
                        <a:t>N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lang="en-US" noProof="0" dirty="0"/>
                        <a:t>SIMD (FPS)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lang="en-US" noProof="0" dirty="0"/>
                        <a:t>GPU (FPS)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lang="en-US" noProof="0" dirty="0"/>
                        <a:t>SIMD (</a:t>
                      </a:r>
                      <a:r>
                        <a:rPr lang="en-US" noProof="0" dirty="0" err="1"/>
                        <a:t>ms</a:t>
                      </a:r>
                      <a:r>
                        <a:rPr lang="en-US" noProof="0" dirty="0"/>
                        <a:t>/f)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lang="en-US" noProof="0" dirty="0"/>
                        <a:t>GPU (</a:t>
                      </a:r>
                      <a:r>
                        <a:rPr lang="en-US" noProof="0" dirty="0" err="1"/>
                        <a:t>ms</a:t>
                      </a:r>
                      <a:r>
                        <a:rPr lang="en-US" noProof="0" dirty="0"/>
                        <a:t>/f)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lang="en-US" noProof="0" dirty="0"/>
                        <a:t>Speedup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444444"/>
                          </a:solidFill>
                        </a:defRPr>
                      </a:pPr>
                      <a:r>
                        <a:rPr lang="en-US" noProof="0" dirty="0"/>
                        <a:t>500K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444444"/>
                          </a:solidFill>
                        </a:defRPr>
                      </a:pPr>
                      <a:r>
                        <a:rPr lang="en-US" noProof="0" dirty="0"/>
                        <a:t>1,706.6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444444"/>
                          </a:solidFill>
                        </a:defRPr>
                      </a:pPr>
                      <a:r>
                        <a:rPr lang="en-US" noProof="0" dirty="0"/>
                        <a:t>3,097.8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444444"/>
                          </a:solidFill>
                        </a:defRPr>
                      </a:pPr>
                      <a:r>
                        <a:rPr lang="en-US" noProof="0" dirty="0"/>
                        <a:t>0.586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444444"/>
                          </a:solidFill>
                        </a:defRPr>
                      </a:pPr>
                      <a:r>
                        <a:rPr lang="en-US" noProof="0" dirty="0"/>
                        <a:t>0.323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444444"/>
                          </a:solidFill>
                        </a:defRPr>
                      </a:pPr>
                      <a:r>
                        <a:rPr lang="en-US" noProof="0" dirty="0"/>
                        <a:t>1.8×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444444"/>
                          </a:solidFill>
                        </a:defRPr>
                      </a:pPr>
                      <a:r>
                        <a:rPr lang="en-US" noProof="0" dirty="0"/>
                        <a:t>1M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444444"/>
                          </a:solidFill>
                        </a:defRPr>
                      </a:pPr>
                      <a:r>
                        <a:rPr lang="en-US" noProof="0" dirty="0"/>
                        <a:t>555.8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444444"/>
                          </a:solidFill>
                        </a:defRPr>
                      </a:pPr>
                      <a:r>
                        <a:rPr lang="en-US" noProof="0" dirty="0"/>
                        <a:t>2,404.5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444444"/>
                          </a:solidFill>
                        </a:defRPr>
                      </a:pPr>
                      <a:r>
                        <a:rPr lang="en-US" noProof="0" dirty="0"/>
                        <a:t>1.799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444444"/>
                          </a:solidFill>
                        </a:defRPr>
                      </a:pPr>
                      <a:r>
                        <a:rPr lang="en-US" noProof="0" dirty="0"/>
                        <a:t>0.416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444444"/>
                          </a:solidFill>
                        </a:defRPr>
                      </a:pPr>
                      <a:r>
                        <a:rPr lang="en-US" noProof="0" dirty="0"/>
                        <a:t>4.3×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444444"/>
                          </a:solidFill>
                        </a:defRPr>
                      </a:pPr>
                      <a:r>
                        <a:rPr lang="en-US" noProof="0" dirty="0"/>
                        <a:t>5M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444444"/>
                          </a:solidFill>
                        </a:defRPr>
                      </a:pPr>
                      <a:r>
                        <a:rPr lang="en-US" noProof="0" dirty="0"/>
                        <a:t>62.1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444444"/>
                          </a:solidFill>
                        </a:defRPr>
                      </a:pPr>
                      <a:r>
                        <a:rPr lang="en-US" noProof="0" dirty="0"/>
                        <a:t>664.7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444444"/>
                          </a:solidFill>
                        </a:defRPr>
                      </a:pPr>
                      <a:r>
                        <a:rPr lang="en-US" noProof="0" dirty="0"/>
                        <a:t>16.10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444444"/>
                          </a:solidFill>
                        </a:defRPr>
                      </a:pPr>
                      <a:r>
                        <a:rPr lang="en-US" noProof="0" dirty="0"/>
                        <a:t>1.505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444444"/>
                          </a:solidFill>
                        </a:defRPr>
                      </a:pPr>
                      <a:r>
                        <a:rPr lang="en-US" noProof="0" dirty="0"/>
                        <a:t>10.7×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444444"/>
                          </a:solidFill>
                        </a:defRPr>
                      </a:pPr>
                      <a:r>
                        <a:rPr lang="en-US" noProof="0" dirty="0"/>
                        <a:t>10M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444444"/>
                          </a:solidFill>
                        </a:defRPr>
                      </a:pPr>
                      <a:r>
                        <a:rPr lang="en-US" noProof="0" dirty="0"/>
                        <a:t>23.5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444444"/>
                          </a:solidFill>
                        </a:defRPr>
                      </a:pPr>
                      <a:r>
                        <a:rPr lang="en-US" noProof="0" dirty="0"/>
                        <a:t>291.1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444444"/>
                          </a:solidFill>
                        </a:defRPr>
                      </a:pPr>
                      <a:r>
                        <a:rPr lang="en-US" noProof="0" dirty="0"/>
                        <a:t>42.55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444444"/>
                          </a:solidFill>
                        </a:defRPr>
                      </a:pPr>
                      <a:r>
                        <a:rPr lang="en-US" noProof="0" dirty="0"/>
                        <a:t>3.435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444444"/>
                          </a:solidFill>
                        </a:defRPr>
                      </a:pPr>
                      <a:r>
                        <a:rPr lang="en-US" noProof="0" dirty="0"/>
                        <a:t>12.4×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5953125"/>
            <a:ext cx="82296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76B900"/>
                </a:solidFill>
              </a:defRPr>
            </a:pPr>
            <a:r>
              <a:rPr lang="en-US" noProof="0" dirty="0"/>
              <a:t>→ 12.4× speedup at N=10M: GPU's O(</a:t>
            </a:r>
            <a:r>
              <a:rPr lang="en-US" noProof="0" dirty="0" err="1"/>
              <a:t>N·k</a:t>
            </a:r>
            <a:r>
              <a:rPr lang="en-US" noProof="0" dirty="0"/>
              <a:t>) grid-based collision scales far better than CPU's O(N²)</a:t>
            </a:r>
          </a:p>
          <a:p>
            <a:pPr algn="l">
              <a:defRPr sz="1400">
                <a:solidFill>
                  <a:srgbClr val="76B900"/>
                </a:solidFill>
              </a:defRPr>
            </a:pPr>
            <a:r>
              <a:rPr lang="en-US" noProof="0" dirty="0"/>
              <a:t>→ Overhead never exceeds 3% of frame time at large scale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B151D5E-D4A0-94C9-61C4-365E01ADF89E}"/>
              </a:ext>
            </a:extLst>
          </p:cNvPr>
          <p:cNvSpPr txBox="1"/>
          <p:nvPr/>
        </p:nvSpPr>
        <p:spPr>
          <a:xfrm>
            <a:off x="2439333" y="6503488"/>
            <a:ext cx="426533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noProof="0" dirty="0">
                <a:solidFill>
                  <a:srgbClr val="76B900"/>
                </a:solidFill>
              </a:rPr>
              <a:t>GPU Programming: Angry Santa - </a:t>
            </a:r>
            <a:r>
              <a:rPr lang="en-US" sz="1200" noProof="0" dirty="0" err="1">
                <a:solidFill>
                  <a:srgbClr val="76B900"/>
                </a:solidFill>
              </a:rPr>
              <a:t>Politecnico</a:t>
            </a:r>
            <a:r>
              <a:rPr lang="en-US" sz="1200" noProof="0" dirty="0">
                <a:solidFill>
                  <a:srgbClr val="76B900"/>
                </a:solidFill>
              </a:rPr>
              <a:t> di Torino 2025/2026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D4C2081-B0AF-F18E-3FE4-DBF306F2AFF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365760" y="3660088"/>
            <a:ext cx="4101466" cy="225928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343706D-574D-C319-FFA7-18590462A3D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676775" y="3657358"/>
            <a:ext cx="4101465" cy="2257765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rPr lang="en-US" noProof="0" dirty="0"/>
              <a:t>Results - Jetson Nano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76B900"/>
                </a:solidFill>
              </a:defRPr>
            </a:pPr>
            <a:r>
              <a:rPr lang="en-US" noProof="0" dirty="0"/>
              <a:t>Unified Memory: GPU Wins at Small 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99285"/>
            <a:ext cx="8046720" cy="2600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  <a:defRPr sz="1600">
                <a:solidFill>
                  <a:srgbClr val="CCCCCC"/>
                </a:solidFill>
              </a:defRPr>
            </a:pPr>
            <a:r>
              <a:rPr lang="en-US" sz="1600" noProof="0" dirty="0"/>
              <a:t>At N=10⁵: GPU slightly outperforms CPU in all scenarios (vs GTX result)</a:t>
            </a:r>
          </a:p>
          <a:p>
            <a:pPr lvl="1">
              <a:spcAft>
                <a:spcPts val="600"/>
              </a:spcAft>
              <a:defRPr sz="1400">
                <a:solidFill>
                  <a:srgbClr val="CCCCCC"/>
                </a:solidFill>
              </a:defRPr>
            </a:pPr>
            <a:r>
              <a:rPr lang="en-US" sz="1600" noProof="0" dirty="0"/>
              <a:t>Unified memory eliminates PCIe transfer overhead entirely</a:t>
            </a:r>
          </a:p>
          <a:p>
            <a:pPr lvl="1">
              <a:spcAft>
                <a:spcPts val="600"/>
              </a:spcAft>
              <a:defRPr sz="1400">
                <a:solidFill>
                  <a:srgbClr val="CCCCCC"/>
                </a:solidFill>
              </a:defRPr>
            </a:pPr>
            <a:r>
              <a:rPr lang="en-US" sz="1600" noProof="0" dirty="0"/>
              <a:t>Kernel launch overhead: only 11–18% of frame time (vs 35–50% on GTX)</a:t>
            </a:r>
          </a:p>
          <a:p>
            <a:pPr lvl="1">
              <a:spcAft>
                <a:spcPts val="600"/>
              </a:spcAft>
              <a:defRPr sz="1400">
                <a:solidFill>
                  <a:srgbClr val="CCCCCC"/>
                </a:solidFill>
              </a:defRPr>
            </a:pPr>
            <a:endParaRPr lang="en-US" sz="1600" noProof="0" dirty="0"/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  <a:defRPr sz="1600">
                <a:solidFill>
                  <a:srgbClr val="CCCCCC"/>
                </a:solidFill>
              </a:defRPr>
            </a:pPr>
            <a:r>
              <a:rPr lang="en-US" sz="1600" noProof="0" dirty="0"/>
              <a:t>Scaling bottleneck at large N:</a:t>
            </a:r>
          </a:p>
          <a:p>
            <a:pPr lvl="1">
              <a:spcAft>
                <a:spcPts val="600"/>
              </a:spcAft>
              <a:defRPr sz="1400">
                <a:solidFill>
                  <a:srgbClr val="CCCCCC"/>
                </a:solidFill>
              </a:defRPr>
            </a:pPr>
            <a:r>
              <a:rPr lang="en-US" sz="1600" noProof="0" dirty="0"/>
              <a:t>Single SM (128 cores, max 2048 threads) → serializes collision</a:t>
            </a:r>
          </a:p>
          <a:p>
            <a:pPr lvl="1">
              <a:spcAft>
                <a:spcPts val="600"/>
              </a:spcAft>
              <a:defRPr sz="1400">
                <a:solidFill>
                  <a:srgbClr val="CCCCCC"/>
                </a:solidFill>
              </a:defRPr>
            </a:pPr>
            <a:r>
              <a:rPr lang="en-US" sz="1600" noProof="0" dirty="0"/>
              <a:t>N=5M: collision kernel 174.9 </a:t>
            </a:r>
            <a:r>
              <a:rPr lang="en-US" sz="1600" noProof="0" dirty="0" err="1"/>
              <a:t>ms</a:t>
            </a:r>
            <a:r>
              <a:rPr lang="en-US" sz="1600" noProof="0" dirty="0"/>
              <a:t> (GPU) vs 37.0 </a:t>
            </a:r>
            <a:r>
              <a:rPr lang="en-US" sz="1600" noProof="0" dirty="0" err="1"/>
              <a:t>ms</a:t>
            </a:r>
            <a:r>
              <a:rPr lang="en-US" sz="1600" noProof="0" dirty="0"/>
              <a:t> (4-core SIMD CPU)</a:t>
            </a:r>
          </a:p>
          <a:p>
            <a:pPr lvl="1">
              <a:spcAft>
                <a:spcPts val="600"/>
              </a:spcAft>
              <a:defRPr sz="1400">
                <a:solidFill>
                  <a:srgbClr val="CCCCCC"/>
                </a:solidFill>
              </a:defRPr>
            </a:pPr>
            <a:r>
              <a:rPr lang="en-US" sz="1600" noProof="0" dirty="0"/>
              <a:t>GPU speedup inverts: 0.3× at N=5M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B3EA575-5164-5BFD-78BF-6001D27D5174}"/>
              </a:ext>
            </a:extLst>
          </p:cNvPr>
          <p:cNvSpPr txBox="1"/>
          <p:nvPr/>
        </p:nvSpPr>
        <p:spPr>
          <a:xfrm>
            <a:off x="2439333" y="6503488"/>
            <a:ext cx="426533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noProof="0" dirty="0">
                <a:solidFill>
                  <a:srgbClr val="76B900"/>
                </a:solidFill>
              </a:rPr>
              <a:t>GPU Programming: Angry Santa - </a:t>
            </a:r>
            <a:r>
              <a:rPr lang="en-US" sz="1200" noProof="0" dirty="0" err="1">
                <a:solidFill>
                  <a:srgbClr val="76B900"/>
                </a:solidFill>
              </a:rPr>
              <a:t>Politecnico</a:t>
            </a:r>
            <a:r>
              <a:rPr lang="en-US" sz="1200" noProof="0" dirty="0">
                <a:solidFill>
                  <a:srgbClr val="76B900"/>
                </a:solidFill>
              </a:rPr>
              <a:t> di Torino 2025/2026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FCF2272-05F9-0B9D-BCAD-36D1674AAD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76DE4A4-BE0E-794C-3312-E66A7041BB50}"/>
              </a:ext>
            </a:extLst>
          </p:cNvPr>
          <p:cNvSpPr txBox="1"/>
          <p:nvPr/>
        </p:nvSpPr>
        <p:spPr>
          <a:xfrm>
            <a:off x="457200" y="365760"/>
            <a:ext cx="82296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rPr lang="en-US" noProof="0" dirty="0"/>
              <a:t>Results - Jetson Nano Scenarios </a:t>
            </a:r>
            <a:r>
              <a:rPr lang="en-US" sz="3200" noProof="0" dirty="0"/>
              <a:t>N=10⁵</a:t>
            </a:r>
            <a:endParaRPr lang="en-US" noProof="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DBF3EF2-9287-8E86-525A-60C5173FB986}"/>
              </a:ext>
            </a:extLst>
          </p:cNvPr>
          <p:cNvSpPr txBox="1"/>
          <p:nvPr/>
        </p:nvSpPr>
        <p:spPr>
          <a:xfrm>
            <a:off x="2439333" y="6503488"/>
            <a:ext cx="426533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noProof="0" dirty="0">
                <a:solidFill>
                  <a:srgbClr val="76B900"/>
                </a:solidFill>
              </a:rPr>
              <a:t>GPU Programming: Angry Santa - </a:t>
            </a:r>
            <a:r>
              <a:rPr lang="en-US" sz="1200" noProof="0" dirty="0" err="1">
                <a:solidFill>
                  <a:srgbClr val="76B900"/>
                </a:solidFill>
              </a:rPr>
              <a:t>Politecnico</a:t>
            </a:r>
            <a:r>
              <a:rPr lang="en-US" sz="1200" noProof="0" dirty="0">
                <a:solidFill>
                  <a:srgbClr val="76B900"/>
                </a:solidFill>
              </a:rPr>
              <a:t> di Torino 2025/2026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03D58DA-CD88-0FFE-4AA5-65C8CCAE0C4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323849" y="1836583"/>
            <a:ext cx="8486775" cy="4197636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C8674E68-90C1-8F32-525D-4C306EC37E0B}"/>
              </a:ext>
            </a:extLst>
          </p:cNvPr>
          <p:cNvSpPr txBox="1"/>
          <p:nvPr/>
        </p:nvSpPr>
        <p:spPr>
          <a:xfrm>
            <a:off x="457200" y="1188720"/>
            <a:ext cx="8229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76B900"/>
                </a:solidFill>
              </a:defRPr>
            </a:pPr>
            <a:r>
              <a:rPr lang="en-US" noProof="0" dirty="0"/>
              <a:t>Unified Memory: GPU Wins at Small N</a:t>
            </a:r>
          </a:p>
        </p:txBody>
      </p:sp>
    </p:spTree>
    <p:extLst>
      <p:ext uri="{BB962C8B-B14F-4D97-AF65-F5344CB8AC3E}">
        <p14:creationId xmlns:p14="http://schemas.microsoft.com/office/powerpoint/2010/main" val="189368974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A43C28D-D954-56A6-AE80-0C70E45B05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8C3089E-83E6-D7CD-AE16-AF66A940B467}"/>
              </a:ext>
            </a:extLst>
          </p:cNvPr>
          <p:cNvSpPr txBox="1"/>
          <p:nvPr/>
        </p:nvSpPr>
        <p:spPr>
          <a:xfrm>
            <a:off x="457200" y="365760"/>
            <a:ext cx="82296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rPr lang="en-US" noProof="0" dirty="0"/>
              <a:t>Results - Jetson Nano Scaling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DD8A76-4428-BD6E-850D-17C446E8FDBC}"/>
              </a:ext>
            </a:extLst>
          </p:cNvPr>
          <p:cNvSpPr txBox="1"/>
          <p:nvPr/>
        </p:nvSpPr>
        <p:spPr>
          <a:xfrm>
            <a:off x="457200" y="11887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76B900"/>
                </a:solidFill>
              </a:defRPr>
            </a:pPr>
            <a:r>
              <a:rPr lang="en-US" noProof="0" dirty="0"/>
              <a:t>Single SM bottleneck at large 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5F161D1-D825-D985-43E1-117724952732}"/>
              </a:ext>
            </a:extLst>
          </p:cNvPr>
          <p:cNvSpPr txBox="1"/>
          <p:nvPr/>
        </p:nvSpPr>
        <p:spPr>
          <a:xfrm>
            <a:off x="457200" y="11887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76B900"/>
                </a:solidFill>
              </a:defRPr>
            </a:pPr>
            <a:r>
              <a:rPr lang="en-US" noProof="0" dirty="0"/>
              <a:t>Single SM bottleneck at large N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CC713FD6-0C62-0A83-A3A3-D79700C5104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00657616"/>
              </p:ext>
            </p:extLst>
          </p:nvPr>
        </p:nvGraphicFramePr>
        <p:xfrm>
          <a:off x="365760" y="1659255"/>
          <a:ext cx="8412480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02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02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02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02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02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020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93192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lang="en-US" noProof="0" dirty="0"/>
                        <a:t>N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lang="en-US" noProof="0" dirty="0"/>
                        <a:t>SIMD (FPS)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lang="en-US" noProof="0" dirty="0"/>
                        <a:t>GPU (FPS)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lang="en-US" noProof="0" dirty="0"/>
                        <a:t>SIMD (</a:t>
                      </a:r>
                      <a:r>
                        <a:rPr lang="en-US" noProof="0" dirty="0" err="1"/>
                        <a:t>ms</a:t>
                      </a:r>
                      <a:r>
                        <a:rPr lang="en-US" noProof="0" dirty="0"/>
                        <a:t>/f)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lang="en-US" noProof="0" dirty="0"/>
                        <a:t>GPU (</a:t>
                      </a:r>
                      <a:r>
                        <a:rPr lang="en-US" noProof="0" dirty="0" err="1"/>
                        <a:t>ms</a:t>
                      </a:r>
                      <a:r>
                        <a:rPr lang="en-US" noProof="0" dirty="0"/>
                        <a:t>/f)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lang="en-US" noProof="0" dirty="0"/>
                        <a:t>Speedup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444444"/>
                          </a:solidFill>
                        </a:defRPr>
                      </a:pPr>
                      <a:r>
                        <a:rPr lang="en-US" noProof="0" dirty="0"/>
                        <a:t>500K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444444"/>
                          </a:solidFill>
                        </a:defRPr>
                      </a:pPr>
                      <a:r>
                        <a:rPr lang="en-US" noProof="0" dirty="0"/>
                        <a:t>382.0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444444"/>
                          </a:solidFill>
                        </a:defRPr>
                      </a:pPr>
                      <a:r>
                        <a:rPr lang="en-US" noProof="0" dirty="0"/>
                        <a:t>635.4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444444"/>
                          </a:solidFill>
                        </a:defRPr>
                      </a:pPr>
                      <a:r>
                        <a:rPr lang="en-US" noProof="0" dirty="0"/>
                        <a:t>2.618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444444"/>
                          </a:solidFill>
                        </a:defRPr>
                      </a:pPr>
                      <a:r>
                        <a:rPr lang="en-US" noProof="0" dirty="0"/>
                        <a:t>1.574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444444"/>
                          </a:solidFill>
                        </a:defRPr>
                      </a:pPr>
                      <a:r>
                        <a:rPr lang="en-US" noProof="0" dirty="0"/>
                        <a:t>1.7×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444444"/>
                          </a:solidFill>
                        </a:defRPr>
                      </a:pPr>
                      <a:r>
                        <a:rPr lang="en-US" noProof="0" dirty="0"/>
                        <a:t>1M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444444"/>
                          </a:solidFill>
                        </a:defRPr>
                      </a:pPr>
                      <a:r>
                        <a:rPr lang="en-US" noProof="0" dirty="0"/>
                        <a:t>156.9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444444"/>
                          </a:solidFill>
                        </a:defRPr>
                      </a:pPr>
                      <a:r>
                        <a:rPr lang="en-US" noProof="0" dirty="0"/>
                        <a:t>162.8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444444"/>
                          </a:solidFill>
                        </a:defRPr>
                      </a:pPr>
                      <a:r>
                        <a:rPr lang="en-US" noProof="0" dirty="0"/>
                        <a:t>6.372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444444"/>
                          </a:solidFill>
                        </a:defRPr>
                      </a:pPr>
                      <a:r>
                        <a:rPr lang="en-US" noProof="0" dirty="0"/>
                        <a:t>6.144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444444"/>
                          </a:solidFill>
                        </a:defRPr>
                      </a:pPr>
                      <a:r>
                        <a:rPr lang="en-US" noProof="0" dirty="0"/>
                        <a:t>1.0×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444444"/>
                          </a:solidFill>
                        </a:defRPr>
                      </a:pPr>
                      <a:r>
                        <a:rPr lang="en-US" noProof="0" dirty="0"/>
                        <a:t>5M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444444"/>
                          </a:solidFill>
                        </a:defRPr>
                      </a:pPr>
                      <a:r>
                        <a:rPr lang="en-US" noProof="0" dirty="0"/>
                        <a:t>17.4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444444"/>
                          </a:solidFill>
                        </a:defRPr>
                      </a:pPr>
                      <a:r>
                        <a:rPr lang="en-US" noProof="0" dirty="0"/>
                        <a:t>5.6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444444"/>
                          </a:solidFill>
                        </a:defRPr>
                      </a:pPr>
                      <a:r>
                        <a:rPr lang="en-US" noProof="0" dirty="0"/>
                        <a:t>57.31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444444"/>
                          </a:solidFill>
                        </a:defRPr>
                      </a:pPr>
                      <a:r>
                        <a:rPr lang="en-US" noProof="0" dirty="0"/>
                        <a:t>177.95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444444"/>
                          </a:solidFill>
                        </a:defRPr>
                      </a:pPr>
                      <a:r>
                        <a:rPr lang="en-US" noProof="0" dirty="0"/>
                        <a:t>0.3×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444444"/>
                          </a:solidFill>
                        </a:defRPr>
                      </a:pPr>
                      <a:r>
                        <a:rPr lang="en-US" noProof="0" dirty="0"/>
                        <a:t>10M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444444"/>
                          </a:solidFill>
                        </a:defRPr>
                      </a:pPr>
                      <a:r>
                        <a:rPr lang="en-US" noProof="0" dirty="0"/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444444"/>
                          </a:solidFill>
                        </a:defRPr>
                      </a:pPr>
                      <a:r>
                        <a:rPr lang="en-US" noProof="0" dirty="0"/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444444"/>
                          </a:solidFill>
                        </a:defRPr>
                      </a:pPr>
                      <a:r>
                        <a:rPr lang="en-US" noProof="0" dirty="0"/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444444"/>
                          </a:solidFill>
                        </a:defRPr>
                      </a:pPr>
                      <a:r>
                        <a:rPr lang="en-US" noProof="0" dirty="0"/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444444"/>
                          </a:solidFill>
                        </a:defRPr>
                      </a:pPr>
                      <a:r>
                        <a:rPr lang="en-US" noProof="0" dirty="0"/>
                        <a:t>OOM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1E8921EE-1FF5-9FC4-CB92-FCADB1CFEF91}"/>
              </a:ext>
            </a:extLst>
          </p:cNvPr>
          <p:cNvSpPr txBox="1"/>
          <p:nvPr/>
        </p:nvSpPr>
        <p:spPr>
          <a:xfrm>
            <a:off x="2439333" y="6503488"/>
            <a:ext cx="426533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noProof="0" dirty="0">
                <a:solidFill>
                  <a:srgbClr val="76B900"/>
                </a:solidFill>
              </a:rPr>
              <a:t>GPU Programming: Angry Santa - </a:t>
            </a:r>
            <a:r>
              <a:rPr lang="en-US" sz="1200" noProof="0" dirty="0" err="1">
                <a:solidFill>
                  <a:srgbClr val="76B900"/>
                </a:solidFill>
              </a:rPr>
              <a:t>Politecnico</a:t>
            </a:r>
            <a:r>
              <a:rPr lang="en-US" sz="1200" noProof="0" dirty="0">
                <a:solidFill>
                  <a:srgbClr val="76B900"/>
                </a:solidFill>
              </a:rPr>
              <a:t> di Torino 2025/2026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457E509-75BB-C67F-5824-AC43781B77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3831538"/>
            <a:ext cx="4147144" cy="225928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390459C5-B5BD-5443-08AC-35DB9280BD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1095" y="3828808"/>
            <a:ext cx="4147144" cy="2257765"/>
          </a:xfrm>
          <a:prstGeom prst="rect">
            <a:avLst/>
          </a:prstGeom>
        </p:spPr>
      </p:pic>
      <p:sp>
        <p:nvSpPr>
          <p:cNvPr id="7" name="TextBox 3">
            <a:extLst>
              <a:ext uri="{FF2B5EF4-FFF2-40B4-BE49-F238E27FC236}">
                <a16:creationId xmlns:a16="http://schemas.microsoft.com/office/drawing/2014/main" id="{5B8ADEAA-57E8-E788-E6DA-213CA429834A}"/>
              </a:ext>
            </a:extLst>
          </p:cNvPr>
          <p:cNvSpPr txBox="1"/>
          <p:nvPr/>
        </p:nvSpPr>
        <p:spPr>
          <a:xfrm>
            <a:off x="548640" y="6128385"/>
            <a:ext cx="80467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CCCCCC"/>
                </a:solidFill>
              </a:defRPr>
            </a:pPr>
            <a:r>
              <a:rPr lang="en-US" sz="1600" noProof="0" dirty="0">
                <a:solidFill>
                  <a:srgbClr val="76B900"/>
                </a:solidFill>
              </a:rPr>
              <a:t>Key insight: multi-SM GPUs (GTX 960M with 5 SMs) mitigate single-SM saturation at large N</a:t>
            </a:r>
          </a:p>
        </p:txBody>
      </p:sp>
    </p:spTree>
    <p:extLst>
      <p:ext uri="{BB962C8B-B14F-4D97-AF65-F5344CB8AC3E}">
        <p14:creationId xmlns:p14="http://schemas.microsoft.com/office/powerpoint/2010/main" val="186441198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rPr lang="en-US" noProof="0" dirty="0"/>
              <a:t>Final Key Findings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76B900"/>
                </a:solidFill>
              </a:defRPr>
            </a:pPr>
            <a:r>
              <a:rPr lang="en-US" noProof="0" dirty="0"/>
              <a:t>Performance Analysis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784985"/>
            <a:ext cx="8046720" cy="42165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  <a:defRPr sz="1600">
                <a:solidFill>
                  <a:srgbClr val="CCCCCC"/>
                </a:solidFill>
              </a:defRPr>
            </a:pPr>
            <a:r>
              <a:rPr lang="en-US" sz="1600" noProof="0" dirty="0"/>
              <a:t>GTX 960M (5 SMs):</a:t>
            </a:r>
          </a:p>
          <a:p>
            <a:pPr lvl="1">
              <a:spcAft>
                <a:spcPts val="600"/>
              </a:spcAft>
              <a:defRPr sz="1400">
                <a:solidFill>
                  <a:srgbClr val="CCCCCC"/>
                </a:solidFill>
              </a:defRPr>
            </a:pPr>
            <a:r>
              <a:rPr lang="en-US" sz="1600" noProof="0" dirty="0"/>
              <a:t>CPU wins at N ≤ 100K (launch overhead dominates)</a:t>
            </a:r>
          </a:p>
          <a:p>
            <a:pPr lvl="1">
              <a:spcAft>
                <a:spcPts val="600"/>
              </a:spcAft>
              <a:defRPr sz="1400">
                <a:solidFill>
                  <a:srgbClr val="CCCCCC"/>
                </a:solidFill>
              </a:defRPr>
            </a:pPr>
            <a:r>
              <a:rPr lang="en-US" sz="1600" noProof="0" dirty="0"/>
              <a:t>GPU crossover at N ~ 500K → reaches 12.4× at N=10M</a:t>
            </a:r>
          </a:p>
          <a:p>
            <a:pPr lvl="1">
              <a:spcAft>
                <a:spcPts val="600"/>
              </a:spcAft>
              <a:defRPr sz="1400">
                <a:solidFill>
                  <a:srgbClr val="CCCCCC"/>
                </a:solidFill>
              </a:defRPr>
            </a:pPr>
            <a:r>
              <a:rPr lang="en-US" sz="1600" noProof="0" dirty="0"/>
              <a:t>Grid-based O(</a:t>
            </a:r>
            <a:r>
              <a:rPr lang="en-US" sz="1600" noProof="0" dirty="0" err="1"/>
              <a:t>N·k</a:t>
            </a:r>
            <a:r>
              <a:rPr lang="en-US" sz="1600" noProof="0" dirty="0"/>
              <a:t>) collision is the key scalability enabler</a:t>
            </a:r>
          </a:p>
          <a:p>
            <a:pPr lvl="1">
              <a:spcAft>
                <a:spcPts val="600"/>
              </a:spcAft>
              <a:defRPr sz="1400">
                <a:solidFill>
                  <a:srgbClr val="CCCCCC"/>
                </a:solidFill>
              </a:defRPr>
            </a:pPr>
            <a:endParaRPr lang="en-US" sz="1600" noProof="0" dirty="0"/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  <a:defRPr sz="1600">
                <a:solidFill>
                  <a:srgbClr val="CCCCCC"/>
                </a:solidFill>
              </a:defRPr>
            </a:pPr>
            <a:r>
              <a:rPr lang="en-US" sz="1600" noProof="0" dirty="0"/>
              <a:t>Jetson Nano (1 SM):</a:t>
            </a:r>
          </a:p>
          <a:p>
            <a:pPr lvl="1">
              <a:spcAft>
                <a:spcPts val="600"/>
              </a:spcAft>
              <a:defRPr sz="1400">
                <a:solidFill>
                  <a:srgbClr val="CCCCCC"/>
                </a:solidFill>
              </a:defRPr>
            </a:pPr>
            <a:r>
              <a:rPr lang="en-US" sz="1600" noProof="0" dirty="0"/>
              <a:t>GPU wins at small N (no PCIe overhead)</a:t>
            </a:r>
          </a:p>
          <a:p>
            <a:pPr lvl="1">
              <a:spcAft>
                <a:spcPts val="600"/>
              </a:spcAft>
              <a:defRPr sz="1400">
                <a:solidFill>
                  <a:srgbClr val="CCCCCC"/>
                </a:solidFill>
              </a:defRPr>
            </a:pPr>
            <a:r>
              <a:rPr lang="en-US" sz="1600" noProof="0" dirty="0"/>
              <a:t>Single SM saturates at N ≥ 1M → CPU catches up and overtakes</a:t>
            </a:r>
          </a:p>
          <a:p>
            <a:pPr lvl="1">
              <a:spcAft>
                <a:spcPts val="600"/>
              </a:spcAft>
              <a:defRPr sz="1400">
                <a:solidFill>
                  <a:srgbClr val="CCCCCC"/>
                </a:solidFill>
              </a:defRPr>
            </a:pPr>
            <a:endParaRPr lang="en-US" sz="1600" noProof="0" dirty="0"/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  <a:defRPr sz="1600">
                <a:solidFill>
                  <a:srgbClr val="CCCCCC"/>
                </a:solidFill>
              </a:defRPr>
            </a:pPr>
            <a:r>
              <a:rPr lang="en-US" sz="1600" noProof="0" dirty="0"/>
              <a:t>Both platforms:</a:t>
            </a:r>
          </a:p>
          <a:p>
            <a:pPr lvl="1">
              <a:spcAft>
                <a:spcPts val="600"/>
              </a:spcAft>
              <a:defRPr sz="1400">
                <a:solidFill>
                  <a:srgbClr val="CCCCCC"/>
                </a:solidFill>
              </a:defRPr>
            </a:pPr>
            <a:r>
              <a:rPr lang="en-US" sz="1600" noProof="0" dirty="0"/>
              <a:t>Overhead (launch, sync, transfers) &lt; 3% at scale</a:t>
            </a:r>
          </a:p>
          <a:p>
            <a:pPr lvl="1">
              <a:spcAft>
                <a:spcPts val="600"/>
              </a:spcAft>
              <a:defRPr sz="1400">
                <a:solidFill>
                  <a:srgbClr val="CCCCCC"/>
                </a:solidFill>
              </a:defRPr>
            </a:pPr>
            <a:r>
              <a:rPr lang="en-US" sz="1600" noProof="0" dirty="0"/>
              <a:t>Mega-fused kernel essential for small-N performance</a:t>
            </a:r>
          </a:p>
          <a:p>
            <a:pPr lvl="1">
              <a:spcAft>
                <a:spcPts val="600"/>
              </a:spcAft>
              <a:defRPr sz="1400">
                <a:solidFill>
                  <a:srgbClr val="CCCCCC"/>
                </a:solidFill>
              </a:defRPr>
            </a:pPr>
            <a:r>
              <a:rPr lang="en-US" sz="1600" noProof="0" dirty="0"/>
              <a:t>Architecture-aware tuning &gt;&gt; generic optimization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8EBE190-072D-0224-C997-DA0616009A2E}"/>
              </a:ext>
            </a:extLst>
          </p:cNvPr>
          <p:cNvSpPr txBox="1"/>
          <p:nvPr/>
        </p:nvSpPr>
        <p:spPr>
          <a:xfrm>
            <a:off x="2439333" y="6503488"/>
            <a:ext cx="426533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noProof="0" dirty="0">
                <a:solidFill>
                  <a:srgbClr val="76B900"/>
                </a:solidFill>
              </a:rPr>
              <a:t>GPU Programming: Angry Santa - </a:t>
            </a:r>
            <a:r>
              <a:rPr lang="en-US" sz="1200" noProof="0" dirty="0" err="1">
                <a:solidFill>
                  <a:srgbClr val="76B900"/>
                </a:solidFill>
              </a:rPr>
              <a:t>Politecnico</a:t>
            </a:r>
            <a:r>
              <a:rPr lang="en-US" sz="1200" noProof="0" dirty="0">
                <a:solidFill>
                  <a:srgbClr val="76B900"/>
                </a:solidFill>
              </a:rPr>
              <a:t> di Torino 2025/2026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rPr lang="en-US" noProof="0" dirty="0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76B900"/>
                </a:solidFill>
              </a:defRPr>
            </a:pPr>
            <a:r>
              <a:rPr lang="en-US" noProof="0" dirty="0"/>
              <a:t>Key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80235"/>
            <a:ext cx="8046720" cy="38933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  <a:defRPr sz="1600">
                <a:solidFill>
                  <a:srgbClr val="CCCCCC"/>
                </a:solidFill>
              </a:defRPr>
            </a:pPr>
            <a:r>
              <a:rPr lang="en-US" sz="1600" noProof="0" dirty="0"/>
              <a:t>Architecture-aware optimization matters</a:t>
            </a:r>
          </a:p>
          <a:p>
            <a:pPr lvl="1">
              <a:spcAft>
                <a:spcPts val="600"/>
              </a:spcAft>
              <a:defRPr sz="1400">
                <a:solidFill>
                  <a:srgbClr val="CCCCCC"/>
                </a:solidFill>
              </a:defRPr>
            </a:pPr>
            <a:r>
              <a:rPr lang="en-US" sz="1600" noProof="0" dirty="0"/>
              <a:t>Every register, KB of shared memory, and kernel launch is measurable</a:t>
            </a:r>
          </a:p>
          <a:p>
            <a:pPr lvl="1">
              <a:spcAft>
                <a:spcPts val="600"/>
              </a:spcAft>
              <a:defRPr sz="1400">
                <a:solidFill>
                  <a:srgbClr val="CCCCCC"/>
                </a:solidFill>
              </a:defRPr>
            </a:pPr>
            <a:r>
              <a:rPr lang="en-US" sz="1600" noProof="0" dirty="0"/>
              <a:t>Warp-cooperative tiling, zero-spill allocation, gated events</a:t>
            </a:r>
          </a:p>
          <a:p>
            <a:pPr lvl="1">
              <a:spcAft>
                <a:spcPts val="600"/>
              </a:spcAft>
              <a:defRPr sz="1400">
                <a:solidFill>
                  <a:srgbClr val="CCCCCC"/>
                </a:solidFill>
              </a:defRPr>
            </a:pPr>
            <a:r>
              <a:rPr lang="en-US" sz="1600" noProof="0" dirty="0"/>
              <a:t>→ all responses to specific Maxwell bottlenecks</a:t>
            </a:r>
          </a:p>
          <a:p>
            <a:pPr lvl="1">
              <a:spcAft>
                <a:spcPts val="600"/>
              </a:spcAft>
              <a:defRPr sz="1400">
                <a:solidFill>
                  <a:srgbClr val="CCCCCC"/>
                </a:solidFill>
              </a:defRPr>
            </a:pPr>
            <a:endParaRPr lang="en-US" sz="1600" noProof="0" dirty="0"/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  <a:defRPr sz="1600">
                <a:solidFill>
                  <a:srgbClr val="CCCCCC"/>
                </a:solidFill>
              </a:defRPr>
            </a:pPr>
            <a:r>
              <a:rPr lang="en-US" sz="1600" noProof="0" dirty="0"/>
              <a:t>Adaptive fusion pays off</a:t>
            </a:r>
          </a:p>
          <a:p>
            <a:pPr lvl="1">
              <a:spcAft>
                <a:spcPts val="600"/>
              </a:spcAft>
              <a:defRPr sz="1400">
                <a:solidFill>
                  <a:srgbClr val="CCCCCC"/>
                </a:solidFill>
              </a:defRPr>
            </a:pPr>
            <a:r>
              <a:rPr lang="en-US" sz="1600" noProof="0" dirty="0"/>
              <a:t>Mega-fused (N≤2048) → seamless transition to grid-based (N&gt;2048)</a:t>
            </a:r>
          </a:p>
          <a:p>
            <a:pPr lvl="1">
              <a:spcAft>
                <a:spcPts val="600"/>
              </a:spcAft>
              <a:defRPr sz="1400">
                <a:solidFill>
                  <a:srgbClr val="CCCCCC"/>
                </a:solidFill>
              </a:defRPr>
            </a:pPr>
            <a:r>
              <a:rPr lang="en-US" sz="1600" noProof="0" dirty="0"/>
              <a:t>Eliminates launch overhead during initial growth phase</a:t>
            </a:r>
          </a:p>
          <a:p>
            <a:pPr>
              <a:spcAft>
                <a:spcPts val="600"/>
              </a:spcAft>
              <a:defRPr sz="1600">
                <a:solidFill>
                  <a:srgbClr val="CCCCCC"/>
                </a:solidFill>
              </a:defRPr>
            </a:pPr>
            <a:endParaRPr lang="en-US" sz="1600" noProof="0" dirty="0"/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  <a:defRPr sz="1600">
                <a:solidFill>
                  <a:srgbClr val="CCCCCC"/>
                </a:solidFill>
              </a:defRPr>
            </a:pPr>
            <a:r>
              <a:rPr lang="en-US" sz="1600" noProof="0" dirty="0"/>
              <a:t>Zero spill &gt; 100% occupancy</a:t>
            </a:r>
          </a:p>
          <a:p>
            <a:pPr lvl="1">
              <a:spcAft>
                <a:spcPts val="600"/>
              </a:spcAft>
              <a:defRPr sz="1400">
                <a:solidFill>
                  <a:srgbClr val="CCCCCC"/>
                </a:solidFill>
              </a:defRPr>
            </a:pPr>
            <a:r>
              <a:rPr lang="en-US" sz="1600" noProof="0" dirty="0"/>
              <a:t>62.5–75% occupancy acceptable to avoid DRAM spill (~300 cycles)</a:t>
            </a:r>
          </a:p>
          <a:p>
            <a:pPr lvl="1">
              <a:spcAft>
                <a:spcPts val="600"/>
              </a:spcAft>
              <a:defRPr sz="1400">
                <a:solidFill>
                  <a:srgbClr val="CCCCCC"/>
                </a:solidFill>
              </a:defRPr>
            </a:pPr>
            <a:r>
              <a:rPr lang="en-US" sz="1600" noProof="0" dirty="0"/>
              <a:t>Better real-world performance than forcing higher occupancy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975B881-AF72-5873-6787-96170EB7BF31}"/>
              </a:ext>
            </a:extLst>
          </p:cNvPr>
          <p:cNvSpPr txBox="1"/>
          <p:nvPr/>
        </p:nvSpPr>
        <p:spPr>
          <a:xfrm>
            <a:off x="2439333" y="6503488"/>
            <a:ext cx="426533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noProof="0" dirty="0">
                <a:solidFill>
                  <a:srgbClr val="76B900"/>
                </a:solidFill>
              </a:rPr>
              <a:t>GPU Programming: Angry Santa - </a:t>
            </a:r>
            <a:r>
              <a:rPr lang="en-US" sz="1200" noProof="0" dirty="0" err="1">
                <a:solidFill>
                  <a:srgbClr val="76B900"/>
                </a:solidFill>
              </a:rPr>
              <a:t>Politecnico</a:t>
            </a:r>
            <a:r>
              <a:rPr lang="en-US" sz="1200" noProof="0" dirty="0">
                <a:solidFill>
                  <a:srgbClr val="76B900"/>
                </a:solidFill>
              </a:rPr>
              <a:t> di Torino 2025/2026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rPr lang="en-US" noProof="0" dirty="0"/>
              <a:t>Future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76B900"/>
                </a:solidFill>
              </a:defRPr>
            </a:pPr>
            <a:r>
              <a:rPr lang="en-US" noProof="0" dirty="0"/>
              <a:t>Extensions and Improvements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94485"/>
            <a:ext cx="8046720" cy="4539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  <a:defRPr sz="1600">
                <a:solidFill>
                  <a:srgbClr val="CCCCCC"/>
                </a:solidFill>
              </a:defRPr>
            </a:pPr>
            <a:r>
              <a:rPr lang="en-US" sz="1600" noProof="0" dirty="0"/>
              <a:t>Multi-GPU / Domain Decomposition</a:t>
            </a:r>
          </a:p>
          <a:p>
            <a:pPr lvl="1">
              <a:spcAft>
                <a:spcPts val="600"/>
              </a:spcAft>
              <a:defRPr sz="1400">
                <a:solidFill>
                  <a:srgbClr val="CCCCCC"/>
                </a:solidFill>
              </a:defRPr>
            </a:pPr>
            <a:r>
              <a:rPr lang="en-US" sz="1600" noProof="0" dirty="0"/>
              <a:t>Partition spatial grid across GPUs via halo exchange</a:t>
            </a:r>
          </a:p>
          <a:p>
            <a:pPr lvl="1">
              <a:spcAft>
                <a:spcPts val="600"/>
              </a:spcAft>
              <a:defRPr sz="1400">
                <a:solidFill>
                  <a:srgbClr val="CCCCCC"/>
                </a:solidFill>
              </a:defRPr>
            </a:pPr>
            <a:r>
              <a:rPr lang="en-US" sz="1600" noProof="0" dirty="0"/>
              <a:t>Theoretical analysis discussed in the paper attachment</a:t>
            </a:r>
          </a:p>
          <a:p>
            <a:pPr lvl="1">
              <a:spcAft>
                <a:spcPts val="600"/>
              </a:spcAft>
              <a:defRPr sz="1400">
                <a:solidFill>
                  <a:srgbClr val="CCCCCC"/>
                </a:solidFill>
              </a:defRPr>
            </a:pPr>
            <a:endParaRPr lang="en-US" sz="1600" noProof="0" dirty="0"/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  <a:defRPr sz="1600">
                <a:solidFill>
                  <a:srgbClr val="CCCCCC"/>
                </a:solidFill>
              </a:defRPr>
            </a:pPr>
            <a:r>
              <a:rPr lang="en-US" sz="1600" noProof="0" dirty="0"/>
              <a:t>Persistent-Contact DEM</a:t>
            </a:r>
          </a:p>
          <a:p>
            <a:pPr lvl="1">
              <a:spcAft>
                <a:spcPts val="600"/>
              </a:spcAft>
              <a:defRPr sz="1400">
                <a:solidFill>
                  <a:srgbClr val="CCCCCC"/>
                </a:solidFill>
              </a:defRPr>
            </a:pPr>
            <a:r>
              <a:rPr lang="en-US" sz="1600" noProof="0" dirty="0"/>
              <a:t>Track tangential spring history across frames</a:t>
            </a:r>
          </a:p>
          <a:p>
            <a:pPr lvl="1">
              <a:spcAft>
                <a:spcPts val="600"/>
              </a:spcAft>
              <a:defRPr sz="1400">
                <a:solidFill>
                  <a:srgbClr val="CCCCCC"/>
                </a:solidFill>
              </a:defRPr>
            </a:pPr>
            <a:r>
              <a:rPr lang="en-US" sz="1600" noProof="0" dirty="0"/>
              <a:t>More accurate friction modelling (additional per-pair state)</a:t>
            </a:r>
          </a:p>
          <a:p>
            <a:pPr>
              <a:spcAft>
                <a:spcPts val="600"/>
              </a:spcAft>
              <a:defRPr sz="1600">
                <a:solidFill>
                  <a:srgbClr val="CCCCCC"/>
                </a:solidFill>
              </a:defRPr>
            </a:pPr>
            <a:endParaRPr lang="en-US" sz="1600" noProof="0" dirty="0"/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  <a:defRPr sz="1600">
                <a:solidFill>
                  <a:srgbClr val="CCCCCC"/>
                </a:solidFill>
              </a:defRPr>
            </a:pPr>
            <a:r>
              <a:rPr lang="en-US" sz="1600" noProof="0" dirty="0"/>
              <a:t>3D Terrain</a:t>
            </a:r>
          </a:p>
          <a:p>
            <a:pPr lvl="1">
              <a:spcAft>
                <a:spcPts val="600"/>
              </a:spcAft>
              <a:defRPr sz="1400">
                <a:solidFill>
                  <a:srgbClr val="CCCCCC"/>
                </a:solidFill>
              </a:defRPr>
            </a:pPr>
            <a:r>
              <a:rPr lang="en-US" sz="1600" noProof="0" dirty="0"/>
              <a:t>Height-map or mesh-based terrain for realistic mountain geometry</a:t>
            </a:r>
          </a:p>
          <a:p>
            <a:pPr>
              <a:spcAft>
                <a:spcPts val="600"/>
              </a:spcAft>
              <a:defRPr sz="1600">
                <a:solidFill>
                  <a:srgbClr val="CCCCCC"/>
                </a:solidFill>
              </a:defRPr>
            </a:pPr>
            <a:endParaRPr lang="en-US" sz="1600" noProof="0" dirty="0"/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  <a:defRPr sz="1600">
                <a:solidFill>
                  <a:srgbClr val="CCCCCC"/>
                </a:solidFill>
              </a:defRPr>
            </a:pPr>
            <a:r>
              <a:rPr lang="en-US" sz="1600" noProof="0" dirty="0"/>
              <a:t>Volta+ Optimizations (SM 7.0+)</a:t>
            </a:r>
          </a:p>
          <a:p>
            <a:pPr lvl="1">
              <a:spcAft>
                <a:spcPts val="600"/>
              </a:spcAft>
              <a:defRPr sz="1400">
                <a:solidFill>
                  <a:srgbClr val="CCCCCC"/>
                </a:solidFill>
              </a:defRPr>
            </a:pPr>
            <a:r>
              <a:rPr lang="en-US" sz="1600" noProof="0" dirty="0"/>
              <a:t>Hardware </a:t>
            </a:r>
            <a:r>
              <a:rPr lang="en-US" sz="1600" noProof="0" dirty="0" err="1"/>
              <a:t>atomicAdd</a:t>
            </a:r>
            <a:r>
              <a:rPr lang="en-US" sz="1600" noProof="0" dirty="0"/>
              <a:t>(float) → symmetric collision viable again</a:t>
            </a:r>
          </a:p>
          <a:p>
            <a:pPr lvl="1">
              <a:spcAft>
                <a:spcPts val="600"/>
              </a:spcAft>
              <a:defRPr sz="1400">
                <a:solidFill>
                  <a:srgbClr val="CCCCCC"/>
                </a:solidFill>
              </a:defRPr>
            </a:pPr>
            <a:r>
              <a:rPr lang="en-US" sz="1600" noProof="0" dirty="0"/>
              <a:t>Cooperative groups replace warp-level synchronization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AEF2DEA-40C2-8E19-C22F-B93EFF5E7CC2}"/>
              </a:ext>
            </a:extLst>
          </p:cNvPr>
          <p:cNvSpPr txBox="1"/>
          <p:nvPr/>
        </p:nvSpPr>
        <p:spPr>
          <a:xfrm>
            <a:off x="2439333" y="6503488"/>
            <a:ext cx="426533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noProof="0" dirty="0">
                <a:solidFill>
                  <a:srgbClr val="76B900"/>
                </a:solidFill>
              </a:rPr>
              <a:t>GPU Programming: Angry Santa - </a:t>
            </a:r>
            <a:r>
              <a:rPr lang="en-US" sz="1200" noProof="0" dirty="0" err="1">
                <a:solidFill>
                  <a:srgbClr val="76B900"/>
                </a:solidFill>
              </a:rPr>
              <a:t>Politecnico</a:t>
            </a:r>
            <a:r>
              <a:rPr lang="en-US" sz="1200" noProof="0" dirty="0">
                <a:solidFill>
                  <a:srgbClr val="76B900"/>
                </a:solidFill>
              </a:rPr>
              <a:t> di Torino 2025/2026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07E08AD-05EE-8034-16DB-F04602B06A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2171455-5BD0-9740-0989-BD986FE61769}"/>
              </a:ext>
            </a:extLst>
          </p:cNvPr>
          <p:cNvSpPr txBox="1"/>
          <p:nvPr/>
        </p:nvSpPr>
        <p:spPr>
          <a:xfrm>
            <a:off x="2439333" y="6503488"/>
            <a:ext cx="426533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noProof="0" dirty="0">
                <a:solidFill>
                  <a:srgbClr val="76B900"/>
                </a:solidFill>
              </a:rPr>
              <a:t>GPU Programming: Angry Santa - </a:t>
            </a:r>
            <a:r>
              <a:rPr lang="en-US" sz="1200" noProof="0" dirty="0" err="1">
                <a:solidFill>
                  <a:srgbClr val="76B900"/>
                </a:solidFill>
              </a:rPr>
              <a:t>Politecnico</a:t>
            </a:r>
            <a:r>
              <a:rPr lang="en-US" sz="1200" noProof="0" dirty="0">
                <a:solidFill>
                  <a:srgbClr val="76B900"/>
                </a:solidFill>
              </a:rPr>
              <a:t> di Torino 2025/2026</a:t>
            </a:r>
          </a:p>
        </p:txBody>
      </p:sp>
      <p:pic>
        <p:nvPicPr>
          <p:cNvPr id="7" name="Angry Santa">
            <a:hlinkClick r:id="" action="ppaction://media"/>
            <a:extLst>
              <a:ext uri="{FF2B5EF4-FFF2-40B4-BE49-F238E27FC236}">
                <a16:creationId xmlns:a16="http://schemas.microsoft.com/office/drawing/2014/main" id="{7EBB8C23-EF6D-980B-74CF-10AC3787D215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942251"/>
            <a:ext cx="9144000" cy="5121275"/>
          </a:xfrm>
          <a:prstGeom prst="rect">
            <a:avLst/>
          </a:prstGeom>
        </p:spPr>
      </p:pic>
      <p:sp>
        <p:nvSpPr>
          <p:cNvPr id="9" name="TextBox 1">
            <a:extLst>
              <a:ext uri="{FF2B5EF4-FFF2-40B4-BE49-F238E27FC236}">
                <a16:creationId xmlns:a16="http://schemas.microsoft.com/office/drawing/2014/main" id="{08AE7861-D00B-467D-1050-01BE02D34E6D}"/>
              </a:ext>
            </a:extLst>
          </p:cNvPr>
          <p:cNvSpPr txBox="1"/>
          <p:nvPr/>
        </p:nvSpPr>
        <p:spPr>
          <a:xfrm>
            <a:off x="457200" y="365760"/>
            <a:ext cx="82296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rPr lang="en-US" noProof="0" dirty="0"/>
              <a:t>Video</a:t>
            </a:r>
          </a:p>
        </p:txBody>
      </p:sp>
    </p:spTree>
    <p:extLst>
      <p:ext uri="{BB962C8B-B14F-4D97-AF65-F5344CB8AC3E}">
        <p14:creationId xmlns:p14="http://schemas.microsoft.com/office/powerpoint/2010/main" val="11927134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7758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43185"/>
            <a:ext cx="7315200" cy="15183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rPr lang="en-US" noProof="0" dirty="0"/>
              <a:t>Thank You</a:t>
            </a:r>
          </a:p>
          <a:p>
            <a:pPr algn="ctr">
              <a:spcBef>
                <a:spcPts val="2000"/>
              </a:spcBef>
              <a:defRPr sz="3200">
                <a:solidFill>
                  <a:srgbClr val="76B900"/>
                </a:solidFill>
              </a:defRPr>
            </a:pPr>
            <a:r>
              <a:rPr lang="en-US" noProof="0" dirty="0"/>
              <a:t>Questions?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5447493"/>
            <a:ext cx="73152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009BD5"/>
                </a:solidFill>
              </a:defRPr>
            </a:pPr>
            <a:r>
              <a:rPr lang="en-US" noProof="0" dirty="0"/>
              <a:t>Code: github.com/politos336145/GPU-Programming-2025-2026</a:t>
            </a:r>
          </a:p>
          <a:p>
            <a:pPr algn="ctr">
              <a:defRPr sz="1400">
                <a:solidFill>
                  <a:srgbClr val="CCCCCC"/>
                </a:solidFill>
              </a:defRPr>
            </a:pPr>
            <a:r>
              <a:rPr lang="en-US" noProof="0" dirty="0"/>
              <a:t>Contact: s336145@studenti.polito.it</a:t>
            </a:r>
          </a:p>
        </p:txBody>
      </p:sp>
      <p:pic>
        <p:nvPicPr>
          <p:cNvPr id="6" name="Picture 5" descr="People raising hands">
            <a:extLst>
              <a:ext uri="{FF2B5EF4-FFF2-40B4-BE49-F238E27FC236}">
                <a16:creationId xmlns:a16="http://schemas.microsoft.com/office/drawing/2014/main" id="{74812754-6C6C-4F23-127F-40FEACC32A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2605" y="1956070"/>
            <a:ext cx="4418790" cy="294586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792BD49-2560-A062-0105-BF5A3482C0AF}"/>
              </a:ext>
            </a:extLst>
          </p:cNvPr>
          <p:cNvSpPr txBox="1"/>
          <p:nvPr/>
        </p:nvSpPr>
        <p:spPr>
          <a:xfrm>
            <a:off x="2439333" y="6503488"/>
            <a:ext cx="426533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noProof="0" dirty="0">
                <a:solidFill>
                  <a:srgbClr val="76B900"/>
                </a:solidFill>
              </a:rPr>
              <a:t>GPU Programming: Angry Santa - </a:t>
            </a:r>
            <a:r>
              <a:rPr lang="en-US" sz="1200" noProof="0" dirty="0" err="1">
                <a:solidFill>
                  <a:srgbClr val="76B900"/>
                </a:solidFill>
              </a:rPr>
              <a:t>Politecnico</a:t>
            </a:r>
            <a:r>
              <a:rPr lang="en-US" sz="1200" noProof="0" dirty="0">
                <a:solidFill>
                  <a:srgbClr val="76B900"/>
                </a:solidFill>
              </a:rPr>
              <a:t> di Torino 2025/2026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359</TotalTime>
  <Words>3220</Words>
  <Application>Microsoft Office PowerPoint</Application>
  <PresentationFormat>Presentazione su schermo (4:3)</PresentationFormat>
  <Paragraphs>477</Paragraphs>
  <Slides>29</Slides>
  <Notes>3</Notes>
  <HiddenSlides>0</HiddenSlides>
  <MMClips>1</MMClips>
  <ScaleCrop>false</ScaleCrop>
  <HeadingPairs>
    <vt:vector size="6" baseType="variant">
      <vt:variant>
        <vt:lpstr>Caratteri utilizzati</vt:lpstr>
      </vt:variant>
      <vt:variant>
        <vt:i4>6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29</vt:i4>
      </vt:variant>
    </vt:vector>
  </HeadingPairs>
  <TitlesOfParts>
    <vt:vector size="36" baseType="lpstr">
      <vt:lpstr>-apple-system</vt:lpstr>
      <vt:lpstr>Aptos</vt:lpstr>
      <vt:lpstr>Arial</vt:lpstr>
      <vt:lpstr>Calibri</vt:lpstr>
      <vt:lpstr>Consolas</vt:lpstr>
      <vt:lpstr>ui-monospace</vt:lpstr>
      <vt:lpstr>Office Theme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maurizio</cp:lastModifiedBy>
  <cp:revision>53</cp:revision>
  <dcterms:created xsi:type="dcterms:W3CDTF">2013-01-27T09:14:16Z</dcterms:created>
  <dcterms:modified xsi:type="dcterms:W3CDTF">2026-06-18T16:44:03Z</dcterms:modified>
  <cp:category/>
</cp:coreProperties>
</file>