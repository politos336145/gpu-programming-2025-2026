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10" autoAdjust="0"/>
  </p:normalViewPr>
  <p:slideViewPr>
    <p:cSldViewPr snapToGrid="0" snapToObjects="1">
      <p:cViewPr varScale="1">
        <p:scale>
          <a:sx n="79" d="100"/>
          <a:sy n="79" d="100"/>
        </p:scale>
        <p:origin x="157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artoon of a santa claus in a snowy landscape&#10;&#10;AI-generated content may be incorrect.">
            <a:extLst>
              <a:ext uri="{FF2B5EF4-FFF2-40B4-BE49-F238E27FC236}">
                <a16:creationId xmlns:a16="http://schemas.microsoft.com/office/drawing/2014/main" id="{9827863F-DE38-5188-86C4-1F9E0EBE11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30" r="29619" b="-1"/>
          <a:stretch>
            <a:fillRect/>
          </a:stretch>
        </p:blipFill>
        <p:spPr>
          <a:xfrm>
            <a:off x="20" y="1515657"/>
            <a:ext cx="3286114" cy="5342343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0" y="1600412"/>
            <a:ext cx="6093713" cy="462661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Focus: physically simulate a snowball rolling downhill, growing in mass by collecting snow particles from terrain (stochastic process)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Key Components: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	- Pseudo-realistic downhill motion (gravity, friction…)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	- Large-scale snowfield with thousands of particles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	- Parallel snow accumulation and terrain interaction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	- Real-time rendering (OpenGL)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Core simulation is dominated by highly parallel particle processing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D52631-581C-5632-06D1-FE974DF1CCA5}"/>
              </a:ext>
            </a:extLst>
          </p:cNvPr>
          <p:cNvSpPr/>
          <p:nvPr/>
        </p:nvSpPr>
        <p:spPr>
          <a:xfrm>
            <a:off x="0" y="-6640"/>
            <a:ext cx="9141714" cy="152111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155" y="157049"/>
            <a:ext cx="7945193" cy="123441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4100" dirty="0">
                <a:solidFill>
                  <a:schemeClr val="bg1"/>
                </a:solidFill>
              </a:rPr>
              <a:t>Angry Santa</a:t>
            </a:r>
            <a:br>
              <a:rPr lang="it-IT" sz="4100" dirty="0">
                <a:solidFill>
                  <a:schemeClr val="bg1"/>
                </a:solidFill>
              </a:rPr>
            </a:br>
            <a:r>
              <a:rPr lang="it-IT" sz="4100" dirty="0">
                <a:solidFill>
                  <a:schemeClr val="bg1"/>
                </a:solidFill>
              </a:rPr>
              <a:t>GPU </a:t>
            </a:r>
            <a:r>
              <a:rPr lang="it-IT" sz="4100" dirty="0" err="1">
                <a:solidFill>
                  <a:schemeClr val="bg1"/>
                </a:solidFill>
              </a:rPr>
              <a:t>Snowball</a:t>
            </a:r>
            <a:r>
              <a:rPr lang="it-IT" sz="4100" dirty="0">
                <a:solidFill>
                  <a:schemeClr val="bg1"/>
                </a:solidFill>
              </a:rPr>
              <a:t> </a:t>
            </a:r>
            <a:r>
              <a:rPr lang="it-IT" sz="4100" dirty="0" err="1">
                <a:solidFill>
                  <a:schemeClr val="bg1"/>
                </a:solidFill>
              </a:rPr>
              <a:t>Simulation</a:t>
            </a:r>
            <a:endParaRPr lang="it-IT" sz="41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20F01-05F8-7D4F-6E2F-037D64DDC416}"/>
              </a:ext>
            </a:extLst>
          </p:cNvPr>
          <p:cNvSpPr/>
          <p:nvPr/>
        </p:nvSpPr>
        <p:spPr>
          <a:xfrm>
            <a:off x="2286" y="6242164"/>
            <a:ext cx="9141714" cy="62048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3F0393C-D442-F972-5FD3-955994310F3C}"/>
              </a:ext>
            </a:extLst>
          </p:cNvPr>
          <p:cNvSpPr txBox="1">
            <a:spLocks/>
          </p:cNvSpPr>
          <p:nvPr/>
        </p:nvSpPr>
        <p:spPr>
          <a:xfrm>
            <a:off x="88457" y="6294862"/>
            <a:ext cx="4220896" cy="548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0000"/>
              </a:lnSpc>
            </a:pPr>
            <a:r>
              <a:rPr lang="it-IT" sz="2000" dirty="0">
                <a:solidFill>
                  <a:schemeClr val="bg1"/>
                </a:solidFill>
              </a:rPr>
              <a:t>GPU Programming 2025-26 - POLITO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C9620F-D234-ADB0-4FE3-3D46B7B3F5C2}"/>
              </a:ext>
            </a:extLst>
          </p:cNvPr>
          <p:cNvSpPr txBox="1">
            <a:spLocks/>
          </p:cNvSpPr>
          <p:nvPr/>
        </p:nvSpPr>
        <p:spPr>
          <a:xfrm>
            <a:off x="5759914" y="6294858"/>
            <a:ext cx="3286114" cy="548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90000"/>
              </a:lnSpc>
            </a:pPr>
            <a:r>
              <a:rPr lang="it-IT" sz="2000" dirty="0">
                <a:solidFill>
                  <a:schemeClr val="bg1"/>
                </a:solidFill>
              </a:rPr>
              <a:t>Grisotto Maurizio</a:t>
            </a:r>
            <a:br>
              <a:rPr lang="it-IT" sz="2000" dirty="0">
                <a:solidFill>
                  <a:schemeClr val="bg1"/>
                </a:solidFill>
              </a:rPr>
            </a:br>
            <a:r>
              <a:rPr lang="it-IT" sz="2000" dirty="0">
                <a:solidFill>
                  <a:schemeClr val="bg1"/>
                </a:solidFill>
              </a:rPr>
              <a:t>S336145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6C3E71-F12B-24EE-1031-3CD2E9BB5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364" y="2511646"/>
            <a:ext cx="2115954" cy="12416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50" name="Picture 2" descr="inclined plane problem figure 8">
            <a:extLst>
              <a:ext uri="{FF2B5EF4-FFF2-40B4-BE49-F238E27FC236}">
                <a16:creationId xmlns:a16="http://schemas.microsoft.com/office/drawing/2014/main" id="{EAF81470-1CD2-59AB-DD46-5208742848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5" t="36701" r="5792"/>
          <a:stretch>
            <a:fillRect/>
          </a:stretch>
        </p:blipFill>
        <p:spPr bwMode="auto">
          <a:xfrm>
            <a:off x="5548994" y="2533162"/>
            <a:ext cx="1491148" cy="124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Memory Clean - Free Up Memory 6.6">
            <a:extLst>
              <a:ext uri="{FF2B5EF4-FFF2-40B4-BE49-F238E27FC236}">
                <a16:creationId xmlns:a16="http://schemas.microsoft.com/office/drawing/2014/main" id="{5B6DA8F0-DF0F-D029-6A3C-49BA64DED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446" y="4498218"/>
            <a:ext cx="1068108" cy="1068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's the Difference Between a CPU and a GPU? | Cloud4U">
            <a:extLst>
              <a:ext uri="{FF2B5EF4-FFF2-40B4-BE49-F238E27FC236}">
                <a16:creationId xmlns:a16="http://schemas.microsoft.com/office/drawing/2014/main" id="{EC9C6794-FF9A-0B9B-96C1-C48557995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998" y="2698264"/>
            <a:ext cx="1594621" cy="926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D8022A7-C715-67A4-7CFC-D95C93E975C4}"/>
              </a:ext>
            </a:extLst>
          </p:cNvPr>
          <p:cNvSpPr/>
          <p:nvPr/>
        </p:nvSpPr>
        <p:spPr>
          <a:xfrm>
            <a:off x="0" y="-6639"/>
            <a:ext cx="9141714" cy="92659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6461"/>
            <a:ext cx="8229600" cy="651585"/>
          </a:xfrm>
        </p:spPr>
        <p:txBody>
          <a:bodyPr>
            <a:normAutofit fontScale="90000"/>
          </a:bodyPr>
          <a:lstStyle/>
          <a:p>
            <a:r>
              <a:rPr lang="it-IT" dirty="0">
                <a:solidFill>
                  <a:schemeClr val="bg1"/>
                </a:solidFill>
              </a:rPr>
              <a:t>GPU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lang="it-IT" dirty="0">
                <a:solidFill>
                  <a:schemeClr val="bg1"/>
                </a:solidFill>
              </a:rPr>
              <a:t>Leverage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46" y="1062942"/>
            <a:ext cx="6734534" cy="51594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dirty="0"/>
              <a:t>1. Particle accumulation is massively parallel:</a:t>
            </a:r>
          </a:p>
          <a:p>
            <a:pPr marL="0" indent="0">
              <a:buNone/>
            </a:pPr>
            <a:r>
              <a:rPr lang="it-IT" sz="1800" dirty="0"/>
              <a:t>	</a:t>
            </a:r>
            <a:r>
              <a:rPr sz="1800" dirty="0"/>
              <a:t>- Each particle </a:t>
            </a:r>
            <a:r>
              <a:rPr sz="1800" b="1" dirty="0"/>
              <a:t>independently</a:t>
            </a:r>
            <a:r>
              <a:rPr sz="1800" dirty="0"/>
              <a:t> checks if it is absorbed by the </a:t>
            </a:r>
            <a:r>
              <a:rPr lang="it-IT" sz="1800" dirty="0" err="1"/>
              <a:t>ball</a:t>
            </a:r>
            <a:endParaRPr sz="1800" dirty="0"/>
          </a:p>
          <a:p>
            <a:endParaRPr sz="800" dirty="0"/>
          </a:p>
          <a:p>
            <a:pPr marL="0" indent="0">
              <a:buNone/>
            </a:pPr>
            <a:r>
              <a:rPr sz="1800" dirty="0"/>
              <a:t>2. Real-time physics updates:</a:t>
            </a:r>
          </a:p>
          <a:p>
            <a:pPr marL="0" indent="0">
              <a:buNone/>
            </a:pPr>
            <a:r>
              <a:rPr lang="it-IT" sz="1800" dirty="0"/>
              <a:t>	</a:t>
            </a:r>
            <a:r>
              <a:rPr sz="1800" dirty="0"/>
              <a:t>- Requires parallel reductions and </a:t>
            </a:r>
            <a:r>
              <a:rPr sz="1800" b="1" dirty="0"/>
              <a:t>atomic</a:t>
            </a:r>
            <a:r>
              <a:rPr sz="1800" dirty="0"/>
              <a:t> operations</a:t>
            </a:r>
          </a:p>
          <a:p>
            <a:endParaRPr sz="800" dirty="0"/>
          </a:p>
          <a:p>
            <a:pPr marL="0" indent="0">
              <a:buNone/>
            </a:pPr>
            <a:r>
              <a:rPr sz="1800" dirty="0"/>
              <a:t>3. Strong CPU vs GPU </a:t>
            </a:r>
            <a:r>
              <a:rPr sz="1800" b="1" dirty="0"/>
              <a:t>performance difference</a:t>
            </a:r>
            <a:r>
              <a:rPr sz="1800" dirty="0"/>
              <a:t>:</a:t>
            </a:r>
          </a:p>
          <a:p>
            <a:pPr marL="0" indent="0">
              <a:buNone/>
            </a:pPr>
            <a:r>
              <a:rPr lang="it-IT" sz="1800" dirty="0"/>
              <a:t>	</a:t>
            </a:r>
            <a:r>
              <a:rPr sz="1800" dirty="0"/>
              <a:t>- CPU: sequential → O(</a:t>
            </a:r>
            <a:r>
              <a:rPr lang="it-IT" sz="1800" dirty="0"/>
              <a:t>n</a:t>
            </a:r>
            <a:r>
              <a:rPr sz="1800" dirty="0"/>
              <a:t>) per timestep</a:t>
            </a:r>
          </a:p>
          <a:p>
            <a:pPr marL="0" indent="0">
              <a:buNone/>
            </a:pPr>
            <a:r>
              <a:rPr lang="it-IT" sz="1800" dirty="0"/>
              <a:t>	-</a:t>
            </a:r>
            <a:r>
              <a:rPr sz="1800" dirty="0"/>
              <a:t> GPU: thousands of threads → huge speedup</a:t>
            </a:r>
          </a:p>
          <a:p>
            <a:endParaRPr sz="800" dirty="0"/>
          </a:p>
          <a:p>
            <a:pPr marL="0" indent="0">
              <a:buNone/>
            </a:pPr>
            <a:r>
              <a:rPr sz="1800" dirty="0"/>
              <a:t>4. CUDA Streams &amp; Events:</a:t>
            </a:r>
          </a:p>
          <a:p>
            <a:pPr marL="0" indent="0">
              <a:buNone/>
            </a:pPr>
            <a:r>
              <a:rPr lang="it-IT" sz="1800" dirty="0"/>
              <a:t>	</a:t>
            </a:r>
            <a:r>
              <a:rPr sz="1800" dirty="0"/>
              <a:t>- Enables optimized </a:t>
            </a:r>
            <a:r>
              <a:rPr sz="1800" b="1" dirty="0"/>
              <a:t>multi-kernel pipeline</a:t>
            </a:r>
            <a:endParaRPr sz="1800" dirty="0"/>
          </a:p>
          <a:p>
            <a:endParaRPr sz="800" dirty="0"/>
          </a:p>
          <a:p>
            <a:pPr marL="0" indent="0">
              <a:buNone/>
            </a:pPr>
            <a:r>
              <a:rPr sz="1800" dirty="0"/>
              <a:t>5. </a:t>
            </a:r>
            <a:r>
              <a:rPr lang="it-IT" sz="1800" dirty="0"/>
              <a:t>Memory</a:t>
            </a:r>
            <a:r>
              <a:rPr lang="it-IT" sz="1800" b="1" dirty="0"/>
              <a:t> </a:t>
            </a:r>
            <a:r>
              <a:rPr lang="it-IT" sz="1800" b="1" dirty="0" err="1"/>
              <a:t>Optimization</a:t>
            </a:r>
            <a:r>
              <a:rPr lang="it-IT" sz="1800" dirty="0"/>
              <a:t>:</a:t>
            </a:r>
          </a:p>
          <a:p>
            <a:pPr marL="0" indent="0">
              <a:buNone/>
            </a:pPr>
            <a:r>
              <a:rPr lang="it-IT" sz="1800" dirty="0"/>
              <a:t>	- </a:t>
            </a:r>
            <a:r>
              <a:rPr lang="it-IT" sz="1800" dirty="0" err="1"/>
              <a:t>Shared</a:t>
            </a:r>
            <a:r>
              <a:rPr lang="it-IT" sz="1800" dirty="0"/>
              <a:t> and </a:t>
            </a:r>
            <a:r>
              <a:rPr lang="it-IT" sz="1800" dirty="0" err="1"/>
              <a:t>Coalescing</a:t>
            </a:r>
            <a:r>
              <a:rPr lang="it-IT" sz="1800" dirty="0"/>
              <a:t> Memory, </a:t>
            </a:r>
            <a:r>
              <a:rPr lang="it-IT" sz="1800" dirty="0" err="1"/>
              <a:t>Occupancy</a:t>
            </a:r>
            <a:r>
              <a:rPr lang="it-IT" sz="1800" dirty="0"/>
              <a:t>, </a:t>
            </a:r>
            <a:r>
              <a:rPr lang="it-IT" sz="1800" dirty="0" err="1"/>
              <a:t>Reductions</a:t>
            </a:r>
            <a:endParaRPr lang="it-IT" sz="1800" dirty="0"/>
          </a:p>
          <a:p>
            <a:pPr marL="0" indent="0">
              <a:buNone/>
            </a:pPr>
            <a:r>
              <a:rPr lang="it-IT" sz="800" dirty="0"/>
              <a:t>	</a:t>
            </a:r>
          </a:p>
          <a:p>
            <a:pPr marL="0" indent="0">
              <a:buNone/>
            </a:pPr>
            <a:r>
              <a:rPr lang="it-IT" sz="1800" dirty="0"/>
              <a:t>6. Multi-GPU </a:t>
            </a:r>
            <a:r>
              <a:rPr lang="it-IT" sz="1800" dirty="0" err="1"/>
              <a:t>scalability</a:t>
            </a:r>
            <a:r>
              <a:rPr sz="1800" dirty="0"/>
              <a:t>:</a:t>
            </a:r>
          </a:p>
          <a:p>
            <a:pPr marL="0" indent="0">
              <a:buNone/>
            </a:pPr>
            <a:r>
              <a:rPr lang="it-IT" sz="1800" dirty="0"/>
              <a:t>	</a:t>
            </a:r>
            <a:r>
              <a:rPr sz="1800" dirty="0"/>
              <a:t>- </a:t>
            </a:r>
            <a:r>
              <a:rPr lang="en-US" sz="1800" dirty="0"/>
              <a:t>Allows </a:t>
            </a:r>
            <a:r>
              <a:rPr lang="en-US" sz="1800" b="1" dirty="0"/>
              <a:t>near-linear scaling </a:t>
            </a:r>
            <a:r>
              <a:rPr lang="en-US" sz="1800" dirty="0"/>
              <a:t>for very large particle counts</a:t>
            </a:r>
            <a:endParaRPr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90356D-E3DC-0401-CDA1-89A34207E681}"/>
              </a:ext>
            </a:extLst>
          </p:cNvPr>
          <p:cNvSpPr/>
          <p:nvPr/>
        </p:nvSpPr>
        <p:spPr>
          <a:xfrm>
            <a:off x="2286" y="6242164"/>
            <a:ext cx="9141714" cy="62048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6AD074-2F68-2C66-1B22-F69FCB0645F9}"/>
              </a:ext>
            </a:extLst>
          </p:cNvPr>
          <p:cNvSpPr txBox="1">
            <a:spLocks/>
          </p:cNvSpPr>
          <p:nvPr/>
        </p:nvSpPr>
        <p:spPr>
          <a:xfrm>
            <a:off x="88457" y="6294862"/>
            <a:ext cx="4065254" cy="548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0000"/>
              </a:lnSpc>
            </a:pPr>
            <a:r>
              <a:rPr lang="it-IT" sz="2000" dirty="0">
                <a:solidFill>
                  <a:schemeClr val="bg1"/>
                </a:solidFill>
              </a:rPr>
              <a:t>GPU Programming 2025-26 - POLITO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73C179E-F47F-A0C4-7482-6C4AE41FAC33}"/>
              </a:ext>
            </a:extLst>
          </p:cNvPr>
          <p:cNvSpPr txBox="1">
            <a:spLocks/>
          </p:cNvSpPr>
          <p:nvPr/>
        </p:nvSpPr>
        <p:spPr>
          <a:xfrm>
            <a:off x="5759914" y="6294858"/>
            <a:ext cx="3286114" cy="548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90000"/>
              </a:lnSpc>
            </a:pPr>
            <a:r>
              <a:rPr lang="it-IT" sz="2000" dirty="0">
                <a:solidFill>
                  <a:schemeClr val="bg1"/>
                </a:solidFill>
              </a:rPr>
              <a:t>Grisotto Maurizio</a:t>
            </a:r>
            <a:br>
              <a:rPr lang="it-IT" sz="2000" dirty="0">
                <a:solidFill>
                  <a:schemeClr val="bg1"/>
                </a:solidFill>
              </a:rPr>
            </a:br>
            <a:r>
              <a:rPr lang="it-IT" sz="2000" dirty="0">
                <a:solidFill>
                  <a:schemeClr val="bg1"/>
                </a:solidFill>
              </a:rPr>
              <a:t>S336145</a:t>
            </a:r>
          </a:p>
        </p:txBody>
      </p:sp>
      <p:pic>
        <p:nvPicPr>
          <p:cNvPr id="1026" name="Picture 2" descr="2D grid based movement's icon">
            <a:extLst>
              <a:ext uri="{FF2B5EF4-FFF2-40B4-BE49-F238E27FC236}">
                <a16:creationId xmlns:a16="http://schemas.microsoft.com/office/drawing/2014/main" id="{EC1B47AE-EF56-4CB7-4253-F31D19187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2936" y="1174538"/>
            <a:ext cx="576151" cy="57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ables Add Icon 64x64">
            <a:extLst>
              <a:ext uri="{FF2B5EF4-FFF2-40B4-BE49-F238E27FC236}">
                <a16:creationId xmlns:a16="http://schemas.microsoft.com/office/drawing/2014/main" id="{C6189D51-15B5-0E91-9EB5-DF3BF566D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3948" y="1919024"/>
            <a:ext cx="674129" cy="674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093D1B-44E6-8DB9-C5C2-46402840FA7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0718"/>
          <a:stretch>
            <a:fillRect/>
          </a:stretch>
        </p:blipFill>
        <p:spPr>
          <a:xfrm>
            <a:off x="6261694" y="3722367"/>
            <a:ext cx="2697482" cy="750298"/>
          </a:xfrm>
          <a:prstGeom prst="rect">
            <a:avLst/>
          </a:prstGeom>
        </p:spPr>
      </p:pic>
      <p:pic>
        <p:nvPicPr>
          <p:cNvPr id="8" name="Picture 2" descr="Brown cpu icon - Free brown computer hardware icons">
            <a:extLst>
              <a:ext uri="{FF2B5EF4-FFF2-40B4-BE49-F238E27FC236}">
                <a16:creationId xmlns:a16="http://schemas.microsoft.com/office/drawing/2014/main" id="{985E4E12-2E31-D300-B879-F1A8D4186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5025" y="5573282"/>
            <a:ext cx="576711" cy="57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Brown cpu icon - Free brown computer hardware icons">
            <a:extLst>
              <a:ext uri="{FF2B5EF4-FFF2-40B4-BE49-F238E27FC236}">
                <a16:creationId xmlns:a16="http://schemas.microsoft.com/office/drawing/2014/main" id="{45BAAF73-84F3-E254-026E-A72C486E8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480" y="5573282"/>
            <a:ext cx="576711" cy="57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Brown cpu icon - Free brown computer hardware icons">
            <a:extLst>
              <a:ext uri="{FF2B5EF4-FFF2-40B4-BE49-F238E27FC236}">
                <a16:creationId xmlns:a16="http://schemas.microsoft.com/office/drawing/2014/main" id="{AF92B758-EA50-DD0F-219A-BD2F763E2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289" y="5573282"/>
            <a:ext cx="576711" cy="57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Brown cpu icon - Free brown computer hardware icons">
            <a:extLst>
              <a:ext uri="{FF2B5EF4-FFF2-40B4-BE49-F238E27FC236}">
                <a16:creationId xmlns:a16="http://schemas.microsoft.com/office/drawing/2014/main" id="{33103B7D-203A-14E4-A535-6E1664D22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8856" y="5573282"/>
            <a:ext cx="576711" cy="57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3FA0EEE5-6D90-1965-4326-8F765FACF0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493" y="4652868"/>
            <a:ext cx="750298" cy="7502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203</Words>
  <Application>Microsoft Office PowerPoint</Application>
  <PresentationFormat>Presentazione su schermo (4:3)</PresentationFormat>
  <Paragraphs>35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Angry Santa GPU Snowball Simulation</vt:lpstr>
      <vt:lpstr>GPU Leverage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maurizio</cp:lastModifiedBy>
  <cp:revision>24</cp:revision>
  <dcterms:created xsi:type="dcterms:W3CDTF">2013-01-27T09:14:16Z</dcterms:created>
  <dcterms:modified xsi:type="dcterms:W3CDTF">2025-11-23T18:18:02Z</dcterms:modified>
  <cp:category/>
</cp:coreProperties>
</file>